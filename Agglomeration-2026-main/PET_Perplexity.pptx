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imo Bold" charset="1" panose="020B0704020202020204"/>
      <p:regular r:id="rId21"/>
    </p:embeddedFont>
    <p:embeddedFont>
      <p:font typeface="Arimo" charset="1" panose="020B0604020202020204"/>
      <p:regular r:id="rId22"/>
    </p:embeddedFont>
    <p:embeddedFont>
      <p:font typeface="Cabin" charset="1" panose="00000500000000000000"/>
      <p:regular r:id="rId23"/>
    </p:embeddedFont>
    <p:embeddedFont>
      <p:font typeface="Consolas" charset="1" panose="020B0609020204030204"/>
      <p:regular r:id="rId24"/>
    </p:embeddedFont>
    <p:embeddedFont>
      <p:font typeface="Cabin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gamma.app/?utm_source=made-with-gamma" TargetMode="External" Type="http://schemas.openxmlformats.org/officeDocument/2006/relationships/hyperlink"/><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https://gamma.app/?utm_source=made-with-gamma"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https://gamma.app/?utm_source=made-with-gamma" TargetMode="External" Type="http://schemas.openxmlformats.org/officeDocument/2006/relationships/hyperlink"/><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png" Type="http://schemas.openxmlformats.org/officeDocument/2006/relationships/image"/><Relationship Id="rId9"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12" Target="../media/image32.png" Type="http://schemas.openxmlformats.org/officeDocument/2006/relationships/image"/><Relationship Id="rId13" Target="../media/image33.png" Type="http://schemas.openxmlformats.org/officeDocument/2006/relationships/image"/><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svg" Type="http://schemas.openxmlformats.org/officeDocument/2006/relationships/image"/><Relationship Id="rId11" Target="../media/image42.png" Type="http://schemas.openxmlformats.org/officeDocument/2006/relationships/image"/><Relationship Id="rId12" Target="../media/image43.svg" Type="http://schemas.openxmlformats.org/officeDocument/2006/relationships/image"/><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 Id="rId8" Target="../media/image39.svg" Type="http://schemas.openxmlformats.org/officeDocument/2006/relationships/image"/><Relationship Id="rId9" Target="../media/image4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descr="preencoded.png">
            <a:hlinkClick r:id="rId4"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3"/>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sp>
        <p:nvSpPr>
          <p:cNvPr name="TextBox 7" id="7"/>
          <p:cNvSpPr txBox="true"/>
          <p:nvPr/>
        </p:nvSpPr>
        <p:spPr>
          <a:xfrm rot="0">
            <a:off x="9052617" y="2135686"/>
            <a:ext cx="7040613" cy="937174"/>
          </a:xfrm>
          <a:prstGeom prst="rect">
            <a:avLst/>
          </a:prstGeom>
        </p:spPr>
        <p:txBody>
          <a:bodyPr anchor="t" rtlCol="false" tIns="0" lIns="0" bIns="0" rIns="0">
            <a:spAutoFit/>
          </a:bodyPr>
          <a:lstStyle/>
          <a:p>
            <a:pPr algn="ctr">
              <a:lnSpc>
                <a:spcPts val="6875"/>
              </a:lnSpc>
            </a:pPr>
            <a:r>
              <a:rPr lang="en-US" b="true" sz="5500" u="sng">
                <a:solidFill>
                  <a:srgbClr val="FFFFFF"/>
                </a:solidFill>
                <a:latin typeface="Arimo Bold"/>
                <a:ea typeface="Arimo Bold"/>
                <a:cs typeface="Arimo Bold"/>
                <a:sym typeface="Arimo Bold"/>
              </a:rPr>
              <a:t>AG 43</a:t>
            </a:r>
          </a:p>
        </p:txBody>
      </p:sp>
      <p:sp>
        <p:nvSpPr>
          <p:cNvPr name="TextBox 8" id="8"/>
          <p:cNvSpPr txBox="true"/>
          <p:nvPr/>
        </p:nvSpPr>
        <p:spPr>
          <a:xfrm rot="0">
            <a:off x="7905159" y="4391920"/>
            <a:ext cx="9335691" cy="1817189"/>
          </a:xfrm>
          <a:prstGeom prst="rect">
            <a:avLst/>
          </a:prstGeom>
        </p:spPr>
        <p:txBody>
          <a:bodyPr anchor="t" rtlCol="false" tIns="0" lIns="0" bIns="0" rIns="0">
            <a:spAutoFit/>
          </a:bodyPr>
          <a:lstStyle/>
          <a:p>
            <a:pPr algn="l">
              <a:lnSpc>
                <a:spcPts val="6875"/>
              </a:lnSpc>
            </a:pPr>
            <a:r>
              <a:rPr lang="en-US" sz="5500">
                <a:solidFill>
                  <a:srgbClr val="FFFFFF"/>
                </a:solidFill>
                <a:latin typeface="Arimo"/>
                <a:ea typeface="Arimo"/>
                <a:cs typeface="Arimo"/>
                <a:sym typeface="Arimo"/>
              </a:rPr>
              <a:t>PET Bottle Analysis System</a:t>
            </a:r>
          </a:p>
        </p:txBody>
      </p:sp>
      <p:sp>
        <p:nvSpPr>
          <p:cNvPr name="TextBox 9" id="9"/>
          <p:cNvSpPr txBox="true"/>
          <p:nvPr/>
        </p:nvSpPr>
        <p:spPr>
          <a:xfrm rot="0">
            <a:off x="7905159" y="6562573"/>
            <a:ext cx="9335691" cy="1531591"/>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An intelligent end-to-end solution combining computer vision, API orchestration, and interactive analytics to detect, classify, and analyze PET bottles in images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descr="preencoded.png">
            <a:hlinkClick r:id="rId4"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3"/>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1047159" y="2420245"/>
            <a:ext cx="3233738" cy="562270"/>
            <a:chOff x="0" y="0"/>
            <a:chExt cx="4311650" cy="749694"/>
          </a:xfrm>
        </p:grpSpPr>
        <p:sp>
          <p:nvSpPr>
            <p:cNvPr name="Freeform 7" id="7"/>
            <p:cNvSpPr/>
            <p:nvPr/>
          </p:nvSpPr>
          <p:spPr>
            <a:xfrm flipH="false" flipV="false" rot="0">
              <a:off x="0" y="0"/>
              <a:ext cx="4311650" cy="749681"/>
            </a:xfrm>
            <a:custGeom>
              <a:avLst/>
              <a:gdLst/>
              <a:ahLst/>
              <a:cxnLst/>
              <a:rect r="r" b="b" t="t" l="l"/>
              <a:pathLst>
                <a:path h="749681" w="4311650">
                  <a:moveTo>
                    <a:pt x="0" y="47879"/>
                  </a:moveTo>
                  <a:cubicBezTo>
                    <a:pt x="0" y="21463"/>
                    <a:pt x="21463" y="0"/>
                    <a:pt x="47879" y="0"/>
                  </a:cubicBezTo>
                  <a:lnTo>
                    <a:pt x="4263771" y="0"/>
                  </a:lnTo>
                  <a:cubicBezTo>
                    <a:pt x="4290187" y="0"/>
                    <a:pt x="4311650" y="21463"/>
                    <a:pt x="4311650" y="47879"/>
                  </a:cubicBezTo>
                  <a:lnTo>
                    <a:pt x="4311650" y="701802"/>
                  </a:lnTo>
                  <a:cubicBezTo>
                    <a:pt x="4311650" y="728218"/>
                    <a:pt x="4290187" y="749681"/>
                    <a:pt x="4263771" y="749681"/>
                  </a:cubicBezTo>
                  <a:lnTo>
                    <a:pt x="47879" y="749681"/>
                  </a:lnTo>
                  <a:cubicBezTo>
                    <a:pt x="21463" y="749681"/>
                    <a:pt x="0" y="728218"/>
                    <a:pt x="0" y="701802"/>
                  </a:cubicBezTo>
                  <a:close/>
                </a:path>
              </a:pathLst>
            </a:custGeom>
            <a:solidFill>
              <a:srgbClr val="054842"/>
            </a:solidFill>
            <a:ln w="12700">
              <a:solidFill>
                <a:srgbClr val="000000"/>
              </a:solidFill>
            </a:ln>
          </p:spPr>
        </p:sp>
      </p:grpSp>
      <p:sp>
        <p:nvSpPr>
          <p:cNvPr name="TextBox 8" id="8"/>
          <p:cNvSpPr txBox="true"/>
          <p:nvPr/>
        </p:nvSpPr>
        <p:spPr>
          <a:xfrm rot="0">
            <a:off x="1226639" y="2433790"/>
            <a:ext cx="2874759" cy="458991"/>
          </a:xfrm>
          <a:prstGeom prst="rect">
            <a:avLst/>
          </a:prstGeom>
        </p:spPr>
        <p:txBody>
          <a:bodyPr anchor="t" rtlCol="false" tIns="0" lIns="0" bIns="0" rIns="0">
            <a:spAutoFit/>
          </a:bodyPr>
          <a:lstStyle/>
          <a:p>
            <a:pPr algn="l">
              <a:lnSpc>
                <a:spcPts val="3000"/>
              </a:lnSpc>
            </a:pPr>
            <a:r>
              <a:rPr lang="en-US" sz="1874">
                <a:solidFill>
                  <a:srgbClr val="CAD6DE"/>
                </a:solidFill>
                <a:latin typeface="Cabin"/>
                <a:ea typeface="Cabin"/>
                <a:cs typeface="Cabin"/>
                <a:sym typeface="Cabin"/>
              </a:rPr>
              <a:t>ARCHITECTURE OVERVIEW</a:t>
            </a:r>
          </a:p>
        </p:txBody>
      </p:sp>
      <p:sp>
        <p:nvSpPr>
          <p:cNvPr name="TextBox 9" id="9"/>
          <p:cNvSpPr txBox="true"/>
          <p:nvPr/>
        </p:nvSpPr>
        <p:spPr>
          <a:xfrm rot="0">
            <a:off x="1047159" y="3054553"/>
            <a:ext cx="10413502" cy="751732"/>
          </a:xfrm>
          <a:prstGeom prst="rect">
            <a:avLst/>
          </a:prstGeom>
        </p:spPr>
        <p:txBody>
          <a:bodyPr anchor="t" rtlCol="false" tIns="0" lIns="0" bIns="0" rIns="0">
            <a:spAutoFit/>
          </a:bodyPr>
          <a:lstStyle/>
          <a:p>
            <a:pPr algn="l">
              <a:lnSpc>
                <a:spcPts val="5500"/>
              </a:lnSpc>
            </a:pPr>
            <a:r>
              <a:rPr lang="en-US" sz="4375">
                <a:solidFill>
                  <a:srgbClr val="FFFFFF"/>
                </a:solidFill>
                <a:latin typeface="Arimo"/>
                <a:ea typeface="Arimo"/>
                <a:cs typeface="Arimo"/>
                <a:sym typeface="Arimo"/>
              </a:rPr>
              <a:t>Three-Tier System Architecture</a:t>
            </a:r>
          </a:p>
        </p:txBody>
      </p:sp>
      <p:grpSp>
        <p:nvGrpSpPr>
          <p:cNvPr name="Group 10" id="10"/>
          <p:cNvGrpSpPr/>
          <p:nvPr/>
        </p:nvGrpSpPr>
        <p:grpSpPr>
          <a:xfrm rot="0">
            <a:off x="1047159" y="4254998"/>
            <a:ext cx="5198421" cy="3611613"/>
            <a:chOff x="0" y="0"/>
            <a:chExt cx="6931228" cy="4815484"/>
          </a:xfrm>
        </p:grpSpPr>
        <p:sp>
          <p:nvSpPr>
            <p:cNvPr name="Freeform 11" id="11"/>
            <p:cNvSpPr/>
            <p:nvPr/>
          </p:nvSpPr>
          <p:spPr>
            <a:xfrm flipH="false" flipV="false" rot="0">
              <a:off x="0" y="0"/>
              <a:ext cx="6931152" cy="4815459"/>
            </a:xfrm>
            <a:custGeom>
              <a:avLst/>
              <a:gdLst/>
              <a:ahLst/>
              <a:cxnLst/>
              <a:rect r="r" b="b" t="t" l="l"/>
              <a:pathLst>
                <a:path h="4815459" w="6931152">
                  <a:moveTo>
                    <a:pt x="0" y="59817"/>
                  </a:moveTo>
                  <a:cubicBezTo>
                    <a:pt x="0" y="26797"/>
                    <a:pt x="26797" y="0"/>
                    <a:pt x="59817" y="0"/>
                  </a:cubicBezTo>
                  <a:lnTo>
                    <a:pt x="6871335" y="0"/>
                  </a:lnTo>
                  <a:cubicBezTo>
                    <a:pt x="6904355" y="0"/>
                    <a:pt x="6931152" y="26797"/>
                    <a:pt x="6931152" y="59817"/>
                  </a:cubicBezTo>
                  <a:lnTo>
                    <a:pt x="6931152" y="4755642"/>
                  </a:lnTo>
                  <a:cubicBezTo>
                    <a:pt x="6931152" y="4788662"/>
                    <a:pt x="6904355" y="4815459"/>
                    <a:pt x="6871335" y="4815459"/>
                  </a:cubicBezTo>
                  <a:lnTo>
                    <a:pt x="59817" y="4815459"/>
                  </a:lnTo>
                  <a:cubicBezTo>
                    <a:pt x="26797" y="4815459"/>
                    <a:pt x="0" y="4788662"/>
                    <a:pt x="0" y="4755642"/>
                  </a:cubicBezTo>
                  <a:close/>
                </a:path>
              </a:pathLst>
            </a:custGeom>
            <a:solidFill>
              <a:srgbClr val="304755"/>
            </a:solidFill>
            <a:ln w="12700">
              <a:solidFill>
                <a:srgbClr val="000000"/>
              </a:solidFill>
            </a:ln>
          </p:spPr>
        </p:sp>
      </p:grpSp>
      <p:sp>
        <p:nvSpPr>
          <p:cNvPr name="TextBox 12" id="12"/>
          <p:cNvSpPr txBox="true"/>
          <p:nvPr/>
        </p:nvSpPr>
        <p:spPr>
          <a:xfrm rot="0">
            <a:off x="1346302" y="4516041"/>
            <a:ext cx="3641084"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API Service Layer</a:t>
            </a:r>
          </a:p>
        </p:txBody>
      </p:sp>
      <p:sp>
        <p:nvSpPr>
          <p:cNvPr name="TextBox 13" id="13"/>
          <p:cNvSpPr txBox="true"/>
          <p:nvPr/>
        </p:nvSpPr>
        <p:spPr>
          <a:xfrm rot="0">
            <a:off x="1346302" y="5078311"/>
            <a:ext cx="4600127" cy="2489149"/>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Node.js Express server handling image uploads, orchestrating ML calls, and computing analytics with Multer middleware for multipart processing</a:t>
            </a:r>
          </a:p>
        </p:txBody>
      </p:sp>
      <p:grpSp>
        <p:nvGrpSpPr>
          <p:cNvPr name="Group 14" id="14"/>
          <p:cNvGrpSpPr/>
          <p:nvPr/>
        </p:nvGrpSpPr>
        <p:grpSpPr>
          <a:xfrm rot="0">
            <a:off x="6544713" y="4254998"/>
            <a:ext cx="5198421" cy="3611613"/>
            <a:chOff x="0" y="0"/>
            <a:chExt cx="6931228" cy="4815484"/>
          </a:xfrm>
        </p:grpSpPr>
        <p:sp>
          <p:nvSpPr>
            <p:cNvPr name="Freeform 15" id="15"/>
            <p:cNvSpPr/>
            <p:nvPr/>
          </p:nvSpPr>
          <p:spPr>
            <a:xfrm flipH="false" flipV="false" rot="0">
              <a:off x="0" y="0"/>
              <a:ext cx="6931152" cy="4815459"/>
            </a:xfrm>
            <a:custGeom>
              <a:avLst/>
              <a:gdLst/>
              <a:ahLst/>
              <a:cxnLst/>
              <a:rect r="r" b="b" t="t" l="l"/>
              <a:pathLst>
                <a:path h="4815459" w="6931152">
                  <a:moveTo>
                    <a:pt x="0" y="59817"/>
                  </a:moveTo>
                  <a:cubicBezTo>
                    <a:pt x="0" y="26797"/>
                    <a:pt x="26797" y="0"/>
                    <a:pt x="59817" y="0"/>
                  </a:cubicBezTo>
                  <a:lnTo>
                    <a:pt x="6871335" y="0"/>
                  </a:lnTo>
                  <a:cubicBezTo>
                    <a:pt x="6904355" y="0"/>
                    <a:pt x="6931152" y="26797"/>
                    <a:pt x="6931152" y="59817"/>
                  </a:cubicBezTo>
                  <a:lnTo>
                    <a:pt x="6931152" y="4755642"/>
                  </a:lnTo>
                  <a:cubicBezTo>
                    <a:pt x="6931152" y="4788662"/>
                    <a:pt x="6904355" y="4815459"/>
                    <a:pt x="6871335" y="4815459"/>
                  </a:cubicBezTo>
                  <a:lnTo>
                    <a:pt x="59817" y="4815459"/>
                  </a:lnTo>
                  <a:cubicBezTo>
                    <a:pt x="26797" y="4815459"/>
                    <a:pt x="0" y="4788662"/>
                    <a:pt x="0" y="4755642"/>
                  </a:cubicBezTo>
                  <a:close/>
                </a:path>
              </a:pathLst>
            </a:custGeom>
            <a:solidFill>
              <a:srgbClr val="304755"/>
            </a:solidFill>
            <a:ln w="12700">
              <a:solidFill>
                <a:srgbClr val="000000"/>
              </a:solidFill>
            </a:ln>
          </p:spPr>
        </p:sp>
      </p:grpSp>
      <p:sp>
        <p:nvSpPr>
          <p:cNvPr name="TextBox 16" id="16"/>
          <p:cNvSpPr txBox="true"/>
          <p:nvPr/>
        </p:nvSpPr>
        <p:spPr>
          <a:xfrm rot="0">
            <a:off x="6843865" y="4516041"/>
            <a:ext cx="3606251"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ML Service Layer</a:t>
            </a:r>
          </a:p>
        </p:txBody>
      </p:sp>
      <p:sp>
        <p:nvSpPr>
          <p:cNvPr name="TextBox 17" id="17"/>
          <p:cNvSpPr txBox="true"/>
          <p:nvPr/>
        </p:nvSpPr>
        <p:spPr>
          <a:xfrm rot="0">
            <a:off x="6843865" y="5078311"/>
            <a:ext cx="4600127" cy="2489149"/>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FastAPI service powered by Ultralytics YOLOv8 for object detection, with specialized endpoints for classification and estimation</a:t>
            </a:r>
          </a:p>
        </p:txBody>
      </p:sp>
      <p:grpSp>
        <p:nvGrpSpPr>
          <p:cNvPr name="Group 18" id="18"/>
          <p:cNvGrpSpPr/>
          <p:nvPr/>
        </p:nvGrpSpPr>
        <p:grpSpPr>
          <a:xfrm rot="0">
            <a:off x="12042277" y="4254998"/>
            <a:ext cx="5198564" cy="3611613"/>
            <a:chOff x="0" y="0"/>
            <a:chExt cx="6931419" cy="4815484"/>
          </a:xfrm>
        </p:grpSpPr>
        <p:sp>
          <p:nvSpPr>
            <p:cNvPr name="Freeform 19" id="19"/>
            <p:cNvSpPr/>
            <p:nvPr/>
          </p:nvSpPr>
          <p:spPr>
            <a:xfrm flipH="false" flipV="false" rot="0">
              <a:off x="0" y="0"/>
              <a:ext cx="6931406" cy="4815459"/>
            </a:xfrm>
            <a:custGeom>
              <a:avLst/>
              <a:gdLst/>
              <a:ahLst/>
              <a:cxnLst/>
              <a:rect r="r" b="b" t="t" l="l"/>
              <a:pathLst>
                <a:path h="4815459" w="6931406">
                  <a:moveTo>
                    <a:pt x="0" y="59817"/>
                  </a:moveTo>
                  <a:cubicBezTo>
                    <a:pt x="0" y="26797"/>
                    <a:pt x="26797" y="0"/>
                    <a:pt x="59817" y="0"/>
                  </a:cubicBezTo>
                  <a:lnTo>
                    <a:pt x="6871589" y="0"/>
                  </a:lnTo>
                  <a:cubicBezTo>
                    <a:pt x="6904609" y="0"/>
                    <a:pt x="6931406" y="26797"/>
                    <a:pt x="6931406" y="59817"/>
                  </a:cubicBezTo>
                  <a:lnTo>
                    <a:pt x="6931406" y="4755642"/>
                  </a:lnTo>
                  <a:cubicBezTo>
                    <a:pt x="6931406" y="4788662"/>
                    <a:pt x="6904609" y="4815459"/>
                    <a:pt x="6871589" y="4815459"/>
                  </a:cubicBezTo>
                  <a:lnTo>
                    <a:pt x="59817" y="4815459"/>
                  </a:lnTo>
                  <a:cubicBezTo>
                    <a:pt x="26797" y="4815459"/>
                    <a:pt x="0" y="4788662"/>
                    <a:pt x="0" y="4755642"/>
                  </a:cubicBezTo>
                  <a:close/>
                </a:path>
              </a:pathLst>
            </a:custGeom>
            <a:solidFill>
              <a:srgbClr val="304755"/>
            </a:solidFill>
            <a:ln w="12700">
              <a:solidFill>
                <a:srgbClr val="000000"/>
              </a:solidFill>
            </a:ln>
          </p:spPr>
        </p:sp>
      </p:grpSp>
      <p:sp>
        <p:nvSpPr>
          <p:cNvPr name="TextBox 20" id="20"/>
          <p:cNvSpPr txBox="true"/>
          <p:nvPr/>
        </p:nvSpPr>
        <p:spPr>
          <a:xfrm rot="0">
            <a:off x="12341428" y="4516041"/>
            <a:ext cx="3520230"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Frontend Layer</a:t>
            </a:r>
          </a:p>
        </p:txBody>
      </p:sp>
      <p:sp>
        <p:nvSpPr>
          <p:cNvPr name="TextBox 21" id="21"/>
          <p:cNvSpPr txBox="true"/>
          <p:nvPr/>
        </p:nvSpPr>
        <p:spPr>
          <a:xfrm rot="0">
            <a:off x="12341428" y="5078311"/>
            <a:ext cx="4600280" cy="2010366"/>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React 19 + Vite application with TailwindCSS providing an intuitive upload interface and comprehensive analytics dashboard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descr="preencoded.png">
            <a:hlinkClick r:id="rId4"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3"/>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1388269" y="1206103"/>
            <a:ext cx="1757658" cy="517922"/>
            <a:chOff x="0" y="0"/>
            <a:chExt cx="2343544" cy="690562"/>
          </a:xfrm>
        </p:grpSpPr>
        <p:sp>
          <p:nvSpPr>
            <p:cNvPr name="Freeform 7" id="7"/>
            <p:cNvSpPr/>
            <p:nvPr/>
          </p:nvSpPr>
          <p:spPr>
            <a:xfrm flipH="false" flipV="false" rot="0">
              <a:off x="0" y="0"/>
              <a:ext cx="2343531" cy="690500"/>
            </a:xfrm>
            <a:custGeom>
              <a:avLst/>
              <a:gdLst/>
              <a:ahLst/>
              <a:cxnLst/>
              <a:rect r="r" b="b" t="t" l="l"/>
              <a:pathLst>
                <a:path h="690500" w="2343531">
                  <a:moveTo>
                    <a:pt x="0" y="48006"/>
                  </a:moveTo>
                  <a:cubicBezTo>
                    <a:pt x="0" y="21463"/>
                    <a:pt x="21844" y="0"/>
                    <a:pt x="48514" y="0"/>
                  </a:cubicBezTo>
                  <a:lnTo>
                    <a:pt x="2295017" y="0"/>
                  </a:lnTo>
                  <a:lnTo>
                    <a:pt x="2295017" y="6350"/>
                  </a:lnTo>
                  <a:lnTo>
                    <a:pt x="2295017" y="0"/>
                  </a:lnTo>
                  <a:cubicBezTo>
                    <a:pt x="2321814" y="0"/>
                    <a:pt x="2343531" y="21463"/>
                    <a:pt x="2343531" y="48006"/>
                  </a:cubicBezTo>
                  <a:lnTo>
                    <a:pt x="2337181" y="48006"/>
                  </a:lnTo>
                  <a:lnTo>
                    <a:pt x="2343531" y="48006"/>
                  </a:lnTo>
                  <a:lnTo>
                    <a:pt x="2343531" y="642493"/>
                  </a:lnTo>
                  <a:lnTo>
                    <a:pt x="2337181" y="642493"/>
                  </a:lnTo>
                  <a:lnTo>
                    <a:pt x="2343531" y="642493"/>
                  </a:lnTo>
                  <a:cubicBezTo>
                    <a:pt x="2343531" y="669036"/>
                    <a:pt x="2321687" y="690499"/>
                    <a:pt x="2295017" y="690499"/>
                  </a:cubicBezTo>
                  <a:lnTo>
                    <a:pt x="2295017" y="684149"/>
                  </a:lnTo>
                  <a:lnTo>
                    <a:pt x="2295017" y="690499"/>
                  </a:lnTo>
                  <a:lnTo>
                    <a:pt x="48514" y="690499"/>
                  </a:lnTo>
                  <a:lnTo>
                    <a:pt x="48514" y="684149"/>
                  </a:lnTo>
                  <a:lnTo>
                    <a:pt x="48514" y="690499"/>
                  </a:lnTo>
                  <a:cubicBezTo>
                    <a:pt x="21844" y="690626"/>
                    <a:pt x="0" y="669163"/>
                    <a:pt x="0" y="642493"/>
                  </a:cubicBezTo>
                  <a:lnTo>
                    <a:pt x="0" y="48006"/>
                  </a:lnTo>
                  <a:lnTo>
                    <a:pt x="6350" y="48006"/>
                  </a:lnTo>
                  <a:lnTo>
                    <a:pt x="0" y="48006"/>
                  </a:lnTo>
                  <a:moveTo>
                    <a:pt x="12700" y="48006"/>
                  </a:moveTo>
                  <a:lnTo>
                    <a:pt x="12700" y="642493"/>
                  </a:lnTo>
                  <a:lnTo>
                    <a:pt x="6350" y="642493"/>
                  </a:lnTo>
                  <a:lnTo>
                    <a:pt x="12700" y="642493"/>
                  </a:lnTo>
                  <a:cubicBezTo>
                    <a:pt x="12700" y="661924"/>
                    <a:pt x="28702" y="677799"/>
                    <a:pt x="48514" y="677799"/>
                  </a:cubicBezTo>
                  <a:lnTo>
                    <a:pt x="2295017" y="677799"/>
                  </a:lnTo>
                  <a:cubicBezTo>
                    <a:pt x="2314956" y="677799"/>
                    <a:pt x="2330831" y="661924"/>
                    <a:pt x="2330831" y="642493"/>
                  </a:cubicBezTo>
                  <a:lnTo>
                    <a:pt x="2330831" y="48006"/>
                  </a:lnTo>
                  <a:cubicBezTo>
                    <a:pt x="2330831" y="28575"/>
                    <a:pt x="2314829" y="12700"/>
                    <a:pt x="2295017" y="12700"/>
                  </a:cubicBezTo>
                  <a:lnTo>
                    <a:pt x="48514" y="12700"/>
                  </a:lnTo>
                  <a:lnTo>
                    <a:pt x="48514" y="6350"/>
                  </a:lnTo>
                  <a:lnTo>
                    <a:pt x="48514" y="12700"/>
                  </a:lnTo>
                  <a:cubicBezTo>
                    <a:pt x="28702" y="12700"/>
                    <a:pt x="12700" y="28575"/>
                    <a:pt x="12700" y="48006"/>
                  </a:cubicBezTo>
                  <a:close/>
                </a:path>
              </a:pathLst>
            </a:custGeom>
            <a:solidFill>
              <a:srgbClr val="0A988B"/>
            </a:solidFill>
            <a:ln w="12700">
              <a:solidFill>
                <a:srgbClr val="000000"/>
              </a:solidFill>
            </a:ln>
          </p:spPr>
        </p:sp>
      </p:grpSp>
      <p:sp>
        <p:nvSpPr>
          <p:cNvPr name="Freeform 8" id="8" descr="preencoded.png"/>
          <p:cNvSpPr/>
          <p:nvPr/>
        </p:nvSpPr>
        <p:spPr>
          <a:xfrm flipH="false" flipV="false" rot="0">
            <a:off x="1558681" y="1360884"/>
            <a:ext cx="208207" cy="208207"/>
          </a:xfrm>
          <a:custGeom>
            <a:avLst/>
            <a:gdLst/>
            <a:ahLst/>
            <a:cxnLst/>
            <a:rect r="r" b="b" t="t" l="l"/>
            <a:pathLst>
              <a:path h="208207" w="208207">
                <a:moveTo>
                  <a:pt x="0" y="0"/>
                </a:moveTo>
                <a:lnTo>
                  <a:pt x="208207" y="0"/>
                </a:lnTo>
                <a:lnTo>
                  <a:pt x="208207" y="208207"/>
                </a:lnTo>
                <a:lnTo>
                  <a:pt x="0" y="208207"/>
                </a:lnTo>
                <a:lnTo>
                  <a:pt x="0" y="0"/>
                </a:lnTo>
                <a:close/>
              </a:path>
            </a:pathLst>
          </a:custGeom>
          <a:blipFill>
            <a:blip r:embed="rId5">
              <a:extLst>
                <a:ext uri="{96DAC541-7B7A-43D3-8B79-37D633B846F1}">
                  <asvg:svgBlip xmlns:asvg="http://schemas.microsoft.com/office/drawing/2016/SVG/main" r:embed="rId6"/>
                </a:ext>
              </a:extLst>
            </a:blip>
            <a:stretch>
              <a:fillRect l="0" t="-6816" r="0" b="-6820"/>
            </a:stretch>
          </a:blipFill>
        </p:spPr>
      </p:sp>
      <p:sp>
        <p:nvSpPr>
          <p:cNvPr name="TextBox 9" id="9"/>
          <p:cNvSpPr txBox="true"/>
          <p:nvPr/>
        </p:nvSpPr>
        <p:spPr>
          <a:xfrm rot="0">
            <a:off x="1870920" y="1241222"/>
            <a:ext cx="1104605" cy="390525"/>
          </a:xfrm>
          <a:prstGeom prst="rect">
            <a:avLst/>
          </a:prstGeom>
        </p:spPr>
        <p:txBody>
          <a:bodyPr anchor="t" rtlCol="false" tIns="0" lIns="0" bIns="0" rIns="0">
            <a:spAutoFit/>
          </a:bodyPr>
          <a:lstStyle/>
          <a:p>
            <a:pPr algn="l">
              <a:lnSpc>
                <a:spcPts val="2562"/>
              </a:lnSpc>
            </a:pPr>
            <a:r>
              <a:rPr lang="en-US" sz="1625">
                <a:solidFill>
                  <a:srgbClr val="0A988B"/>
                </a:solidFill>
                <a:latin typeface="Cabin"/>
                <a:ea typeface="Cabin"/>
                <a:cs typeface="Cabin"/>
                <a:sym typeface="Cabin"/>
              </a:rPr>
              <a:t>DATA FLOW</a:t>
            </a:r>
          </a:p>
        </p:txBody>
      </p:sp>
      <p:sp>
        <p:nvSpPr>
          <p:cNvPr name="TextBox 10" id="10"/>
          <p:cNvSpPr txBox="true"/>
          <p:nvPr/>
        </p:nvSpPr>
        <p:spPr>
          <a:xfrm rot="0">
            <a:off x="1393031" y="1775670"/>
            <a:ext cx="8165011" cy="660349"/>
          </a:xfrm>
          <a:prstGeom prst="rect">
            <a:avLst/>
          </a:prstGeom>
        </p:spPr>
        <p:txBody>
          <a:bodyPr anchor="t" rtlCol="false" tIns="0" lIns="0" bIns="0" rIns="0">
            <a:spAutoFit/>
          </a:bodyPr>
          <a:lstStyle/>
          <a:p>
            <a:pPr algn="l">
              <a:lnSpc>
                <a:spcPts val="4812"/>
              </a:lnSpc>
            </a:pPr>
            <a:r>
              <a:rPr lang="en-US" sz="3812">
                <a:solidFill>
                  <a:srgbClr val="FFFFFF"/>
                </a:solidFill>
                <a:latin typeface="Arimo"/>
                <a:ea typeface="Arimo"/>
                <a:cs typeface="Arimo"/>
                <a:sym typeface="Arimo"/>
              </a:rPr>
              <a:t>Request Processing Pipeline</a:t>
            </a:r>
          </a:p>
        </p:txBody>
      </p:sp>
      <p:sp>
        <p:nvSpPr>
          <p:cNvPr name="Freeform 11" id="11" descr="preencoded.png"/>
          <p:cNvSpPr/>
          <p:nvPr/>
        </p:nvSpPr>
        <p:spPr>
          <a:xfrm flipH="false" flipV="false" rot="0">
            <a:off x="1393031" y="2826544"/>
            <a:ext cx="1301953" cy="1562395"/>
          </a:xfrm>
          <a:custGeom>
            <a:avLst/>
            <a:gdLst/>
            <a:ahLst/>
            <a:cxnLst/>
            <a:rect r="r" b="b" t="t" l="l"/>
            <a:pathLst>
              <a:path h="1562395" w="1301953">
                <a:moveTo>
                  <a:pt x="0" y="0"/>
                </a:moveTo>
                <a:lnTo>
                  <a:pt x="1301953" y="0"/>
                </a:lnTo>
                <a:lnTo>
                  <a:pt x="1301953" y="1562395"/>
                </a:lnTo>
                <a:lnTo>
                  <a:pt x="0" y="1562395"/>
                </a:lnTo>
                <a:lnTo>
                  <a:pt x="0" y="0"/>
                </a:lnTo>
                <a:close/>
              </a:path>
            </a:pathLst>
          </a:custGeom>
          <a:blipFill>
            <a:blip r:embed="rId7"/>
            <a:stretch>
              <a:fillRect l="-123" t="0" r="-123" b="0"/>
            </a:stretch>
          </a:blipFill>
        </p:spPr>
      </p:sp>
      <p:sp>
        <p:nvSpPr>
          <p:cNvPr name="TextBox 12" id="12"/>
          <p:cNvSpPr txBox="true"/>
          <p:nvPr/>
        </p:nvSpPr>
        <p:spPr>
          <a:xfrm rot="0">
            <a:off x="2955284" y="3058268"/>
            <a:ext cx="3063478" cy="411366"/>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Image Upload</a:t>
            </a:r>
          </a:p>
        </p:txBody>
      </p:sp>
      <p:sp>
        <p:nvSpPr>
          <p:cNvPr name="TextBox 13" id="13"/>
          <p:cNvSpPr txBox="true"/>
          <p:nvPr/>
        </p:nvSpPr>
        <p:spPr>
          <a:xfrm rot="0">
            <a:off x="2955284" y="3540023"/>
            <a:ext cx="13939542" cy="502444"/>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Client submits image via multipart form-data to API service endpoint /api/upload</a:t>
            </a:r>
          </a:p>
        </p:txBody>
      </p:sp>
      <p:sp>
        <p:nvSpPr>
          <p:cNvPr name="Freeform 14" id="14" descr="preencoded.png"/>
          <p:cNvSpPr/>
          <p:nvPr/>
        </p:nvSpPr>
        <p:spPr>
          <a:xfrm flipH="false" flipV="false" rot="0">
            <a:off x="1393031" y="4388939"/>
            <a:ext cx="1301953" cy="1562395"/>
          </a:xfrm>
          <a:custGeom>
            <a:avLst/>
            <a:gdLst/>
            <a:ahLst/>
            <a:cxnLst/>
            <a:rect r="r" b="b" t="t" l="l"/>
            <a:pathLst>
              <a:path h="1562395" w="1301953">
                <a:moveTo>
                  <a:pt x="0" y="0"/>
                </a:moveTo>
                <a:lnTo>
                  <a:pt x="1301953" y="0"/>
                </a:lnTo>
                <a:lnTo>
                  <a:pt x="1301953" y="1562395"/>
                </a:lnTo>
                <a:lnTo>
                  <a:pt x="0" y="1562395"/>
                </a:lnTo>
                <a:lnTo>
                  <a:pt x="0" y="0"/>
                </a:lnTo>
                <a:close/>
              </a:path>
            </a:pathLst>
          </a:custGeom>
          <a:blipFill>
            <a:blip r:embed="rId8"/>
            <a:stretch>
              <a:fillRect l="-123" t="0" r="-123" b="0"/>
            </a:stretch>
          </a:blipFill>
        </p:spPr>
      </p:sp>
      <p:sp>
        <p:nvSpPr>
          <p:cNvPr name="TextBox 15" id="15"/>
          <p:cNvSpPr txBox="true"/>
          <p:nvPr/>
        </p:nvSpPr>
        <p:spPr>
          <a:xfrm rot="0">
            <a:off x="2955284" y="4620663"/>
            <a:ext cx="3104255" cy="411366"/>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Object Detection</a:t>
            </a:r>
          </a:p>
        </p:txBody>
      </p:sp>
      <p:sp>
        <p:nvSpPr>
          <p:cNvPr name="TextBox 16" id="16"/>
          <p:cNvSpPr txBox="true"/>
          <p:nvPr/>
        </p:nvSpPr>
        <p:spPr>
          <a:xfrm rot="0">
            <a:off x="2955284" y="5102428"/>
            <a:ext cx="13939542" cy="502444"/>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API forwards image to ML service /infer endpoint, receiving initial detection results with bounding boxes and confidence scores</a:t>
            </a:r>
          </a:p>
        </p:txBody>
      </p:sp>
      <p:sp>
        <p:nvSpPr>
          <p:cNvPr name="Freeform 17" id="17" descr="preencoded.png"/>
          <p:cNvSpPr/>
          <p:nvPr/>
        </p:nvSpPr>
        <p:spPr>
          <a:xfrm flipH="false" flipV="false" rot="0">
            <a:off x="1393031" y="5951334"/>
            <a:ext cx="1301953" cy="1562395"/>
          </a:xfrm>
          <a:custGeom>
            <a:avLst/>
            <a:gdLst/>
            <a:ahLst/>
            <a:cxnLst/>
            <a:rect r="r" b="b" t="t" l="l"/>
            <a:pathLst>
              <a:path h="1562395" w="1301953">
                <a:moveTo>
                  <a:pt x="0" y="0"/>
                </a:moveTo>
                <a:lnTo>
                  <a:pt x="1301953" y="0"/>
                </a:lnTo>
                <a:lnTo>
                  <a:pt x="1301953" y="1562396"/>
                </a:lnTo>
                <a:lnTo>
                  <a:pt x="0" y="1562396"/>
                </a:lnTo>
                <a:lnTo>
                  <a:pt x="0" y="0"/>
                </a:lnTo>
                <a:close/>
              </a:path>
            </a:pathLst>
          </a:custGeom>
          <a:blipFill>
            <a:blip r:embed="rId9"/>
            <a:stretch>
              <a:fillRect l="-123" t="0" r="-123" b="0"/>
            </a:stretch>
          </a:blipFill>
        </p:spPr>
      </p:sp>
      <p:sp>
        <p:nvSpPr>
          <p:cNvPr name="TextBox 18" id="18"/>
          <p:cNvSpPr txBox="true"/>
          <p:nvPr/>
        </p:nvSpPr>
        <p:spPr>
          <a:xfrm rot="0">
            <a:off x="2955284" y="6183068"/>
            <a:ext cx="3441802" cy="411366"/>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Parallel Processing</a:t>
            </a:r>
          </a:p>
        </p:txBody>
      </p:sp>
      <p:sp>
        <p:nvSpPr>
          <p:cNvPr name="TextBox 19" id="19"/>
          <p:cNvSpPr txBox="true"/>
          <p:nvPr/>
        </p:nvSpPr>
        <p:spPr>
          <a:xfrm rot="0">
            <a:off x="2955284" y="6664823"/>
            <a:ext cx="13939542" cy="502444"/>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Detection JSON sent simultaneously to /colorpet and /wtestimate endpoints for classification and measurement estimation</a:t>
            </a:r>
          </a:p>
        </p:txBody>
      </p:sp>
      <p:sp>
        <p:nvSpPr>
          <p:cNvPr name="Freeform 20" id="20" descr="preencoded.png"/>
          <p:cNvSpPr/>
          <p:nvPr/>
        </p:nvSpPr>
        <p:spPr>
          <a:xfrm flipH="false" flipV="false" rot="0">
            <a:off x="1393031" y="7513739"/>
            <a:ext cx="1301953" cy="1562395"/>
          </a:xfrm>
          <a:custGeom>
            <a:avLst/>
            <a:gdLst/>
            <a:ahLst/>
            <a:cxnLst/>
            <a:rect r="r" b="b" t="t" l="l"/>
            <a:pathLst>
              <a:path h="1562395" w="1301953">
                <a:moveTo>
                  <a:pt x="0" y="0"/>
                </a:moveTo>
                <a:lnTo>
                  <a:pt x="1301953" y="0"/>
                </a:lnTo>
                <a:lnTo>
                  <a:pt x="1301953" y="1562395"/>
                </a:lnTo>
                <a:lnTo>
                  <a:pt x="0" y="1562395"/>
                </a:lnTo>
                <a:lnTo>
                  <a:pt x="0" y="0"/>
                </a:lnTo>
                <a:close/>
              </a:path>
            </a:pathLst>
          </a:custGeom>
          <a:blipFill>
            <a:blip r:embed="rId10"/>
            <a:stretch>
              <a:fillRect l="-123" t="0" r="-123" b="0"/>
            </a:stretch>
          </a:blipFill>
        </p:spPr>
      </p:sp>
      <p:sp>
        <p:nvSpPr>
          <p:cNvPr name="TextBox 21" id="21"/>
          <p:cNvSpPr txBox="true"/>
          <p:nvPr/>
        </p:nvSpPr>
        <p:spPr>
          <a:xfrm rot="0">
            <a:off x="2955284" y="7745463"/>
            <a:ext cx="3393729" cy="411366"/>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Response Merging</a:t>
            </a:r>
          </a:p>
        </p:txBody>
      </p:sp>
      <p:sp>
        <p:nvSpPr>
          <p:cNvPr name="TextBox 22" id="22"/>
          <p:cNvSpPr txBox="true"/>
          <p:nvPr/>
        </p:nvSpPr>
        <p:spPr>
          <a:xfrm rot="0">
            <a:off x="2955284" y="8227219"/>
            <a:ext cx="13939542" cy="502444"/>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API merges results per detection using bbox matching, computes summary analytics, and returns enriched data to frontend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TextBox 6" id="6"/>
          <p:cNvSpPr txBox="true"/>
          <p:nvPr/>
        </p:nvSpPr>
        <p:spPr>
          <a:xfrm rot="0">
            <a:off x="1047159" y="1185567"/>
            <a:ext cx="8142837" cy="751732"/>
          </a:xfrm>
          <a:prstGeom prst="rect">
            <a:avLst/>
          </a:prstGeom>
        </p:spPr>
        <p:txBody>
          <a:bodyPr anchor="t" rtlCol="false" tIns="0" lIns="0" bIns="0" rIns="0">
            <a:spAutoFit/>
          </a:bodyPr>
          <a:lstStyle/>
          <a:p>
            <a:pPr algn="l">
              <a:lnSpc>
                <a:spcPts val="5500"/>
              </a:lnSpc>
            </a:pPr>
            <a:r>
              <a:rPr lang="en-US" sz="4375">
                <a:solidFill>
                  <a:srgbClr val="FFFFFF"/>
                </a:solidFill>
                <a:latin typeface="Arimo"/>
                <a:ea typeface="Arimo"/>
                <a:cs typeface="Arimo"/>
                <a:sym typeface="Arimo"/>
              </a:rPr>
              <a:t>API Service Architecture</a:t>
            </a:r>
          </a:p>
        </p:txBody>
      </p:sp>
      <p:sp>
        <p:nvSpPr>
          <p:cNvPr name="TextBox 7" id="7"/>
          <p:cNvSpPr txBox="true"/>
          <p:nvPr/>
        </p:nvSpPr>
        <p:spPr>
          <a:xfrm rot="0">
            <a:off x="1047159" y="2647055"/>
            <a:ext cx="3595392" cy="478041"/>
          </a:xfrm>
          <a:prstGeom prst="rect">
            <a:avLst/>
          </a:prstGeom>
        </p:spPr>
        <p:txBody>
          <a:bodyPr anchor="t" rtlCol="false" tIns="0" lIns="0" bIns="0" rIns="0">
            <a:spAutoFit/>
          </a:bodyPr>
          <a:lstStyle/>
          <a:p>
            <a:pPr algn="l">
              <a:lnSpc>
                <a:spcPts val="3437"/>
              </a:lnSpc>
            </a:pPr>
            <a:r>
              <a:rPr lang="en-US" sz="2750">
                <a:solidFill>
                  <a:srgbClr val="FFFFFF"/>
                </a:solidFill>
                <a:latin typeface="Arimo"/>
                <a:ea typeface="Arimo"/>
                <a:cs typeface="Arimo"/>
                <a:sym typeface="Arimo"/>
              </a:rPr>
              <a:t>Core Capabilities</a:t>
            </a:r>
          </a:p>
        </p:txBody>
      </p:sp>
      <p:sp>
        <p:nvSpPr>
          <p:cNvPr name="TextBox 8" id="8"/>
          <p:cNvSpPr txBox="true"/>
          <p:nvPr/>
        </p:nvSpPr>
        <p:spPr>
          <a:xfrm rot="0">
            <a:off x="1047159" y="3328988"/>
            <a:ext cx="11116570"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Express server exposing RESTful /api/* endpoints</a:t>
            </a:r>
          </a:p>
        </p:txBody>
      </p:sp>
      <p:sp>
        <p:nvSpPr>
          <p:cNvPr name="TextBox 9" id="9"/>
          <p:cNvSpPr txBox="true"/>
          <p:nvPr/>
        </p:nvSpPr>
        <p:spPr>
          <a:xfrm rot="0">
            <a:off x="1047159" y="3912394"/>
            <a:ext cx="11116570"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Multer middleware for efficient multipart file handling</a:t>
            </a:r>
          </a:p>
        </p:txBody>
      </p:sp>
      <p:sp>
        <p:nvSpPr>
          <p:cNvPr name="TextBox 10" id="10"/>
          <p:cNvSpPr txBox="true"/>
          <p:nvPr/>
        </p:nvSpPr>
        <p:spPr>
          <a:xfrm rot="0">
            <a:off x="1047159" y="4495800"/>
            <a:ext cx="11116570"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Parallel ML service calls with response merging logic</a:t>
            </a:r>
          </a:p>
        </p:txBody>
      </p:sp>
      <p:sp>
        <p:nvSpPr>
          <p:cNvPr name="TextBox 11" id="11"/>
          <p:cNvSpPr txBox="true"/>
          <p:nvPr/>
        </p:nvSpPr>
        <p:spPr>
          <a:xfrm rot="0">
            <a:off x="1047159" y="5079206"/>
            <a:ext cx="11116570"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Real-time analytics computation over detection results</a:t>
            </a:r>
          </a:p>
        </p:txBody>
      </p:sp>
      <p:sp>
        <p:nvSpPr>
          <p:cNvPr name="TextBox 12" id="12"/>
          <p:cNvSpPr txBox="true"/>
          <p:nvPr/>
        </p:nvSpPr>
        <p:spPr>
          <a:xfrm rot="0">
            <a:off x="1047159" y="5662612"/>
            <a:ext cx="11116570"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CORS-enabled for seamless frontend integration</a:t>
            </a:r>
          </a:p>
        </p:txBody>
      </p:sp>
      <p:sp>
        <p:nvSpPr>
          <p:cNvPr name="TextBox 13" id="13"/>
          <p:cNvSpPr txBox="true"/>
          <p:nvPr/>
        </p:nvSpPr>
        <p:spPr>
          <a:xfrm rot="0">
            <a:off x="1047159" y="6497688"/>
            <a:ext cx="3520230" cy="478041"/>
          </a:xfrm>
          <a:prstGeom prst="rect">
            <a:avLst/>
          </a:prstGeom>
        </p:spPr>
        <p:txBody>
          <a:bodyPr anchor="t" rtlCol="false" tIns="0" lIns="0" bIns="0" rIns="0">
            <a:spAutoFit/>
          </a:bodyPr>
          <a:lstStyle/>
          <a:p>
            <a:pPr algn="l">
              <a:lnSpc>
                <a:spcPts val="3437"/>
              </a:lnSpc>
            </a:pPr>
            <a:r>
              <a:rPr lang="en-US" sz="2750">
                <a:solidFill>
                  <a:srgbClr val="FFFFFF"/>
                </a:solidFill>
                <a:latin typeface="Arimo"/>
                <a:ea typeface="Arimo"/>
                <a:cs typeface="Arimo"/>
                <a:sym typeface="Arimo"/>
              </a:rPr>
              <a:t>Key Endpoints</a:t>
            </a:r>
          </a:p>
        </p:txBody>
      </p:sp>
      <p:sp>
        <p:nvSpPr>
          <p:cNvPr name="TextBox 14" id="14"/>
          <p:cNvSpPr txBox="true"/>
          <p:nvPr/>
        </p:nvSpPr>
        <p:spPr>
          <a:xfrm rot="0">
            <a:off x="1047159" y="7179621"/>
            <a:ext cx="11116570" cy="583559"/>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GET /health — service health check</a:t>
            </a:r>
          </a:p>
        </p:txBody>
      </p:sp>
      <p:sp>
        <p:nvSpPr>
          <p:cNvPr name="TextBox 15" id="15"/>
          <p:cNvSpPr txBox="true"/>
          <p:nvPr/>
        </p:nvSpPr>
        <p:spPr>
          <a:xfrm rot="0">
            <a:off x="1047159" y="7772552"/>
            <a:ext cx="11116570" cy="583559"/>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POST /upload — single image analysis</a:t>
            </a:r>
          </a:p>
        </p:txBody>
      </p:sp>
      <p:sp>
        <p:nvSpPr>
          <p:cNvPr name="TextBox 16" id="16"/>
          <p:cNvSpPr txBox="true"/>
          <p:nvPr/>
        </p:nvSpPr>
        <p:spPr>
          <a:xfrm rot="0">
            <a:off x="1047159" y="8365484"/>
            <a:ext cx="11116570" cy="583559"/>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POST /batch — multiple image processing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5"/>
            <a:stretch>
              <a:fillRect l="0" t="0" r="0" b="0"/>
            </a:stretch>
          </a:blipFill>
        </p:spPr>
      </p:sp>
      <p:sp>
        <p:nvSpPr>
          <p:cNvPr name="TextBox 7" id="7"/>
          <p:cNvSpPr txBox="true"/>
          <p:nvPr/>
        </p:nvSpPr>
        <p:spPr>
          <a:xfrm rot="0">
            <a:off x="7866907" y="986285"/>
            <a:ext cx="9412186" cy="1394517"/>
          </a:xfrm>
          <a:prstGeom prst="rect">
            <a:avLst/>
          </a:prstGeom>
        </p:spPr>
        <p:txBody>
          <a:bodyPr anchor="t" rtlCol="false" tIns="0" lIns="0" bIns="0" rIns="0">
            <a:spAutoFit/>
          </a:bodyPr>
          <a:lstStyle/>
          <a:p>
            <a:pPr algn="l">
              <a:lnSpc>
                <a:spcPts val="5312"/>
              </a:lnSpc>
            </a:pPr>
            <a:r>
              <a:rPr lang="en-US" sz="4250">
                <a:solidFill>
                  <a:srgbClr val="FFFFFF"/>
                </a:solidFill>
                <a:latin typeface="Arimo"/>
                <a:ea typeface="Arimo"/>
                <a:cs typeface="Arimo"/>
                <a:sym typeface="Arimo"/>
              </a:rPr>
              <a:t>ML Service: Detection &amp; Classification</a:t>
            </a:r>
          </a:p>
        </p:txBody>
      </p:sp>
      <p:sp>
        <p:nvSpPr>
          <p:cNvPr name="TextBox 8" id="8"/>
          <p:cNvSpPr txBox="true"/>
          <p:nvPr/>
        </p:nvSpPr>
        <p:spPr>
          <a:xfrm rot="0">
            <a:off x="7866907" y="2708377"/>
            <a:ext cx="288284" cy="465087"/>
          </a:xfrm>
          <a:prstGeom prst="rect">
            <a:avLst/>
          </a:prstGeom>
        </p:spPr>
        <p:txBody>
          <a:bodyPr anchor="t" rtlCol="false" tIns="0" lIns="0" bIns="0" rIns="0">
            <a:spAutoFit/>
          </a:bodyPr>
          <a:lstStyle/>
          <a:p>
            <a:pPr algn="l">
              <a:lnSpc>
                <a:spcPts val="3624"/>
              </a:lnSpc>
            </a:pPr>
            <a:r>
              <a:rPr lang="en-US" sz="2249">
                <a:solidFill>
                  <a:srgbClr val="CAD6DE"/>
                </a:solidFill>
                <a:latin typeface="Arimo"/>
                <a:ea typeface="Arimo"/>
                <a:cs typeface="Arimo"/>
                <a:sym typeface="Arimo"/>
              </a:rPr>
              <a:t>01</a:t>
            </a:r>
          </a:p>
        </p:txBody>
      </p:sp>
      <p:grpSp>
        <p:nvGrpSpPr>
          <p:cNvPr name="Group 9" id="9"/>
          <p:cNvGrpSpPr/>
          <p:nvPr/>
        </p:nvGrpSpPr>
        <p:grpSpPr>
          <a:xfrm rot="0">
            <a:off x="7866907" y="3264989"/>
            <a:ext cx="4561884" cy="38100"/>
            <a:chOff x="0" y="0"/>
            <a:chExt cx="6082513" cy="50800"/>
          </a:xfrm>
        </p:grpSpPr>
        <p:sp>
          <p:nvSpPr>
            <p:cNvPr name="Freeform 10" id="10"/>
            <p:cNvSpPr/>
            <p:nvPr/>
          </p:nvSpPr>
          <p:spPr>
            <a:xfrm flipH="false" flipV="false" rot="0">
              <a:off x="0" y="0"/>
              <a:ext cx="6082538" cy="50800"/>
            </a:xfrm>
            <a:custGeom>
              <a:avLst/>
              <a:gdLst/>
              <a:ahLst/>
              <a:cxnLst/>
              <a:rect r="r" b="b" t="t" l="l"/>
              <a:pathLst>
                <a:path h="50800" w="6082538">
                  <a:moveTo>
                    <a:pt x="0" y="0"/>
                  </a:moveTo>
                  <a:lnTo>
                    <a:pt x="6082538" y="0"/>
                  </a:lnTo>
                  <a:lnTo>
                    <a:pt x="6082538" y="50800"/>
                  </a:lnTo>
                  <a:lnTo>
                    <a:pt x="0" y="50800"/>
                  </a:lnTo>
                  <a:close/>
                </a:path>
              </a:pathLst>
            </a:custGeom>
            <a:solidFill>
              <a:srgbClr val="0A988B"/>
            </a:solidFill>
            <a:ln w="12700">
              <a:solidFill>
                <a:srgbClr val="000000"/>
              </a:solidFill>
            </a:ln>
          </p:spPr>
        </p:sp>
      </p:grpSp>
      <p:sp>
        <p:nvSpPr>
          <p:cNvPr name="TextBox 11" id="11"/>
          <p:cNvSpPr txBox="true"/>
          <p:nvPr/>
        </p:nvSpPr>
        <p:spPr>
          <a:xfrm rot="0">
            <a:off x="7866907" y="3447155"/>
            <a:ext cx="4561884" cy="885825"/>
          </a:xfrm>
          <a:prstGeom prst="rect">
            <a:avLst/>
          </a:prstGeom>
        </p:spPr>
        <p:txBody>
          <a:bodyPr anchor="t" rtlCol="false" tIns="0" lIns="0" bIns="0" rIns="0">
            <a:spAutoFit/>
          </a:bodyPr>
          <a:lstStyle/>
          <a:p>
            <a:pPr algn="l">
              <a:lnSpc>
                <a:spcPts val="3312"/>
              </a:lnSpc>
            </a:pPr>
            <a:r>
              <a:rPr lang="en-US" sz="2625">
                <a:solidFill>
                  <a:srgbClr val="CAD6DE"/>
                </a:solidFill>
                <a:latin typeface="Arimo"/>
                <a:ea typeface="Arimo"/>
                <a:cs typeface="Arimo"/>
                <a:sym typeface="Arimo"/>
              </a:rPr>
              <a:t>Object Detection (/infer)</a:t>
            </a:r>
          </a:p>
        </p:txBody>
      </p:sp>
      <p:sp>
        <p:nvSpPr>
          <p:cNvPr name="TextBox 12" id="12"/>
          <p:cNvSpPr txBox="true"/>
          <p:nvPr/>
        </p:nvSpPr>
        <p:spPr>
          <a:xfrm rot="0">
            <a:off x="7866907" y="4410666"/>
            <a:ext cx="4561884" cy="1940128"/>
          </a:xfrm>
          <a:prstGeom prst="rect">
            <a:avLst/>
          </a:prstGeom>
        </p:spPr>
        <p:txBody>
          <a:bodyPr anchor="t" rtlCol="false" tIns="0" lIns="0" bIns="0" rIns="0">
            <a:spAutoFit/>
          </a:bodyPr>
          <a:lstStyle/>
          <a:p>
            <a:pPr algn="l">
              <a:lnSpc>
                <a:spcPts val="3624"/>
              </a:lnSpc>
            </a:pPr>
            <a:r>
              <a:rPr lang="en-US" sz="2249">
                <a:solidFill>
                  <a:srgbClr val="CAD6DE"/>
                </a:solidFill>
                <a:latin typeface="Cabin"/>
                <a:ea typeface="Cabin"/>
                <a:cs typeface="Cabin"/>
                <a:sym typeface="Cabin"/>
              </a:rPr>
              <a:t>YOLOv8 model identifies bottles, returning bbox_xyxy coordinates, class_id, class_name, and confidence scores for each detection</a:t>
            </a:r>
          </a:p>
        </p:txBody>
      </p:sp>
      <p:sp>
        <p:nvSpPr>
          <p:cNvPr name="TextBox 13" id="13"/>
          <p:cNvSpPr txBox="true"/>
          <p:nvPr/>
        </p:nvSpPr>
        <p:spPr>
          <a:xfrm rot="0">
            <a:off x="12717066" y="2708377"/>
            <a:ext cx="288284" cy="465087"/>
          </a:xfrm>
          <a:prstGeom prst="rect">
            <a:avLst/>
          </a:prstGeom>
        </p:spPr>
        <p:txBody>
          <a:bodyPr anchor="t" rtlCol="false" tIns="0" lIns="0" bIns="0" rIns="0">
            <a:spAutoFit/>
          </a:bodyPr>
          <a:lstStyle/>
          <a:p>
            <a:pPr algn="l">
              <a:lnSpc>
                <a:spcPts val="3624"/>
              </a:lnSpc>
            </a:pPr>
            <a:r>
              <a:rPr lang="en-US" sz="2249">
                <a:solidFill>
                  <a:srgbClr val="CAD6DE"/>
                </a:solidFill>
                <a:latin typeface="Arimo"/>
                <a:ea typeface="Arimo"/>
                <a:cs typeface="Arimo"/>
                <a:sym typeface="Arimo"/>
              </a:rPr>
              <a:t>02</a:t>
            </a:r>
          </a:p>
        </p:txBody>
      </p:sp>
      <p:grpSp>
        <p:nvGrpSpPr>
          <p:cNvPr name="Group 14" id="14"/>
          <p:cNvGrpSpPr/>
          <p:nvPr/>
        </p:nvGrpSpPr>
        <p:grpSpPr>
          <a:xfrm rot="0">
            <a:off x="12717066" y="3264989"/>
            <a:ext cx="4562027" cy="38100"/>
            <a:chOff x="0" y="0"/>
            <a:chExt cx="6082703" cy="50800"/>
          </a:xfrm>
        </p:grpSpPr>
        <p:sp>
          <p:nvSpPr>
            <p:cNvPr name="Freeform 15" id="15"/>
            <p:cNvSpPr/>
            <p:nvPr/>
          </p:nvSpPr>
          <p:spPr>
            <a:xfrm flipH="false" flipV="false" rot="0">
              <a:off x="0" y="0"/>
              <a:ext cx="6082665" cy="50800"/>
            </a:xfrm>
            <a:custGeom>
              <a:avLst/>
              <a:gdLst/>
              <a:ahLst/>
              <a:cxnLst/>
              <a:rect r="r" b="b" t="t" l="l"/>
              <a:pathLst>
                <a:path h="50800" w="6082665">
                  <a:moveTo>
                    <a:pt x="0" y="0"/>
                  </a:moveTo>
                  <a:lnTo>
                    <a:pt x="6082665" y="0"/>
                  </a:lnTo>
                  <a:lnTo>
                    <a:pt x="6082665" y="50800"/>
                  </a:lnTo>
                  <a:lnTo>
                    <a:pt x="0" y="50800"/>
                  </a:lnTo>
                  <a:close/>
                </a:path>
              </a:pathLst>
            </a:custGeom>
            <a:solidFill>
              <a:srgbClr val="0A988B"/>
            </a:solidFill>
            <a:ln w="12700">
              <a:solidFill>
                <a:srgbClr val="000000"/>
              </a:solidFill>
            </a:ln>
          </p:spPr>
        </p:sp>
      </p:grpSp>
      <p:sp>
        <p:nvSpPr>
          <p:cNvPr name="TextBox 16" id="16"/>
          <p:cNvSpPr txBox="true"/>
          <p:nvPr/>
        </p:nvSpPr>
        <p:spPr>
          <a:xfrm rot="0">
            <a:off x="12717066" y="3447155"/>
            <a:ext cx="4562027" cy="885825"/>
          </a:xfrm>
          <a:prstGeom prst="rect">
            <a:avLst/>
          </a:prstGeom>
        </p:spPr>
        <p:txBody>
          <a:bodyPr anchor="t" rtlCol="false" tIns="0" lIns="0" bIns="0" rIns="0">
            <a:spAutoFit/>
          </a:bodyPr>
          <a:lstStyle/>
          <a:p>
            <a:pPr algn="l">
              <a:lnSpc>
                <a:spcPts val="3312"/>
              </a:lnSpc>
            </a:pPr>
            <a:r>
              <a:rPr lang="en-US" sz="2625">
                <a:solidFill>
                  <a:srgbClr val="CAD6DE"/>
                </a:solidFill>
                <a:latin typeface="Arimo"/>
                <a:ea typeface="Arimo"/>
                <a:cs typeface="Arimo"/>
                <a:sym typeface="Arimo"/>
              </a:rPr>
              <a:t>Classification (/colorpet)</a:t>
            </a:r>
          </a:p>
        </p:txBody>
      </p:sp>
      <p:sp>
        <p:nvSpPr>
          <p:cNvPr name="TextBox 17" id="17"/>
          <p:cNvSpPr txBox="true"/>
          <p:nvPr/>
        </p:nvSpPr>
        <p:spPr>
          <a:xfrm rot="0">
            <a:off x="12717066" y="4410666"/>
            <a:ext cx="4562027" cy="1478909"/>
          </a:xfrm>
          <a:prstGeom prst="rect">
            <a:avLst/>
          </a:prstGeom>
        </p:spPr>
        <p:txBody>
          <a:bodyPr anchor="t" rtlCol="false" tIns="0" lIns="0" bIns="0" rIns="0">
            <a:spAutoFit/>
          </a:bodyPr>
          <a:lstStyle/>
          <a:p>
            <a:pPr algn="l">
              <a:lnSpc>
                <a:spcPts val="3624"/>
              </a:lnSpc>
            </a:pPr>
            <a:r>
              <a:rPr lang="en-US" sz="2249">
                <a:solidFill>
                  <a:srgbClr val="CAD6DE"/>
                </a:solidFill>
                <a:latin typeface="Cabin"/>
                <a:ea typeface="Cabin"/>
                <a:cs typeface="Cabin"/>
                <a:sym typeface="Cabin"/>
              </a:rPr>
              <a:t>Analyzes bottle color properties and determines PET material classification with binary is_pet flag</a:t>
            </a:r>
          </a:p>
        </p:txBody>
      </p:sp>
      <p:sp>
        <p:nvSpPr>
          <p:cNvPr name="TextBox 18" id="18"/>
          <p:cNvSpPr txBox="true"/>
          <p:nvPr/>
        </p:nvSpPr>
        <p:spPr>
          <a:xfrm rot="0">
            <a:off x="7866907" y="6750396"/>
            <a:ext cx="288284" cy="465087"/>
          </a:xfrm>
          <a:prstGeom prst="rect">
            <a:avLst/>
          </a:prstGeom>
        </p:spPr>
        <p:txBody>
          <a:bodyPr anchor="t" rtlCol="false" tIns="0" lIns="0" bIns="0" rIns="0">
            <a:spAutoFit/>
          </a:bodyPr>
          <a:lstStyle/>
          <a:p>
            <a:pPr algn="l">
              <a:lnSpc>
                <a:spcPts val="3624"/>
              </a:lnSpc>
            </a:pPr>
            <a:r>
              <a:rPr lang="en-US" sz="2249">
                <a:solidFill>
                  <a:srgbClr val="CAD6DE"/>
                </a:solidFill>
                <a:latin typeface="Arimo"/>
                <a:ea typeface="Arimo"/>
                <a:cs typeface="Arimo"/>
                <a:sym typeface="Arimo"/>
              </a:rPr>
              <a:t>03</a:t>
            </a:r>
          </a:p>
        </p:txBody>
      </p:sp>
      <p:grpSp>
        <p:nvGrpSpPr>
          <p:cNvPr name="Group 19" id="19"/>
          <p:cNvGrpSpPr/>
          <p:nvPr/>
        </p:nvGrpSpPr>
        <p:grpSpPr>
          <a:xfrm rot="0">
            <a:off x="7866907" y="7307018"/>
            <a:ext cx="9412186" cy="38100"/>
            <a:chOff x="0" y="0"/>
            <a:chExt cx="12549581" cy="50800"/>
          </a:xfrm>
        </p:grpSpPr>
        <p:sp>
          <p:nvSpPr>
            <p:cNvPr name="Freeform 20" id="20"/>
            <p:cNvSpPr/>
            <p:nvPr/>
          </p:nvSpPr>
          <p:spPr>
            <a:xfrm flipH="false" flipV="false" rot="0">
              <a:off x="0" y="0"/>
              <a:ext cx="12549632" cy="50800"/>
            </a:xfrm>
            <a:custGeom>
              <a:avLst/>
              <a:gdLst/>
              <a:ahLst/>
              <a:cxnLst/>
              <a:rect r="r" b="b" t="t" l="l"/>
              <a:pathLst>
                <a:path h="50800" w="12549632">
                  <a:moveTo>
                    <a:pt x="0" y="0"/>
                  </a:moveTo>
                  <a:lnTo>
                    <a:pt x="12549632" y="0"/>
                  </a:lnTo>
                  <a:lnTo>
                    <a:pt x="12549632" y="50800"/>
                  </a:lnTo>
                  <a:lnTo>
                    <a:pt x="0" y="50800"/>
                  </a:lnTo>
                  <a:close/>
                </a:path>
              </a:pathLst>
            </a:custGeom>
            <a:solidFill>
              <a:srgbClr val="0A988B"/>
            </a:solidFill>
            <a:ln w="12700">
              <a:solidFill>
                <a:srgbClr val="000000"/>
              </a:solidFill>
            </a:ln>
          </p:spPr>
        </p:sp>
      </p:grpSp>
      <p:sp>
        <p:nvSpPr>
          <p:cNvPr name="TextBox 21" id="21"/>
          <p:cNvSpPr txBox="true"/>
          <p:nvPr/>
        </p:nvSpPr>
        <p:spPr>
          <a:xfrm rot="0">
            <a:off x="7866907" y="7489184"/>
            <a:ext cx="5043192" cy="461962"/>
          </a:xfrm>
          <a:prstGeom prst="rect">
            <a:avLst/>
          </a:prstGeom>
        </p:spPr>
        <p:txBody>
          <a:bodyPr anchor="t" rtlCol="false" tIns="0" lIns="0" bIns="0" rIns="0">
            <a:spAutoFit/>
          </a:bodyPr>
          <a:lstStyle/>
          <a:p>
            <a:pPr algn="l">
              <a:lnSpc>
                <a:spcPts val="3312"/>
              </a:lnSpc>
            </a:pPr>
            <a:r>
              <a:rPr lang="en-US" sz="2625">
                <a:solidFill>
                  <a:srgbClr val="CAD6DE"/>
                </a:solidFill>
                <a:latin typeface="Arimo"/>
                <a:ea typeface="Arimo"/>
                <a:cs typeface="Arimo"/>
                <a:sym typeface="Arimo"/>
              </a:rPr>
              <a:t>Estimation (/wtestimate)</a:t>
            </a:r>
          </a:p>
        </p:txBody>
      </p:sp>
      <p:sp>
        <p:nvSpPr>
          <p:cNvPr name="TextBox 22" id="22"/>
          <p:cNvSpPr txBox="true"/>
          <p:nvPr/>
        </p:nvSpPr>
        <p:spPr>
          <a:xfrm rot="0">
            <a:off x="7866907" y="8028832"/>
            <a:ext cx="9412186" cy="1017689"/>
          </a:xfrm>
          <a:prstGeom prst="rect">
            <a:avLst/>
          </a:prstGeom>
        </p:spPr>
        <p:txBody>
          <a:bodyPr anchor="t" rtlCol="false" tIns="0" lIns="0" bIns="0" rIns="0">
            <a:spAutoFit/>
          </a:bodyPr>
          <a:lstStyle/>
          <a:p>
            <a:pPr algn="l">
              <a:lnSpc>
                <a:spcPts val="3624"/>
              </a:lnSpc>
            </a:pPr>
            <a:r>
              <a:rPr lang="en-US" sz="2249">
                <a:solidFill>
                  <a:srgbClr val="CAD6DE"/>
                </a:solidFill>
                <a:latin typeface="Cabin"/>
                <a:ea typeface="Cabin"/>
                <a:cs typeface="Cabin"/>
                <a:sym typeface="Cabin"/>
              </a:rPr>
              <a:t>Calculates physical properties including estimated_length_cm and estimated_weight_g based on visual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4690767" y="411366"/>
            <a:ext cx="813492" cy="280988"/>
            <a:chOff x="0" y="0"/>
            <a:chExt cx="1084656" cy="374650"/>
          </a:xfrm>
        </p:grpSpPr>
        <p:sp>
          <p:nvSpPr>
            <p:cNvPr name="Freeform 7" id="7"/>
            <p:cNvSpPr/>
            <p:nvPr/>
          </p:nvSpPr>
          <p:spPr>
            <a:xfrm flipH="false" flipV="false" rot="0">
              <a:off x="0" y="0"/>
              <a:ext cx="1084580" cy="374650"/>
            </a:xfrm>
            <a:custGeom>
              <a:avLst/>
              <a:gdLst/>
              <a:ahLst/>
              <a:cxnLst/>
              <a:rect r="r" b="b" t="t" l="l"/>
              <a:pathLst>
                <a:path h="374650" w="1084580">
                  <a:moveTo>
                    <a:pt x="0" y="23876"/>
                  </a:moveTo>
                  <a:cubicBezTo>
                    <a:pt x="0" y="10668"/>
                    <a:pt x="10668" y="0"/>
                    <a:pt x="23876" y="0"/>
                  </a:cubicBezTo>
                  <a:lnTo>
                    <a:pt x="1060704" y="0"/>
                  </a:lnTo>
                  <a:cubicBezTo>
                    <a:pt x="1073912" y="0"/>
                    <a:pt x="1084580" y="10668"/>
                    <a:pt x="1084580" y="23876"/>
                  </a:cubicBezTo>
                  <a:lnTo>
                    <a:pt x="1084580" y="350774"/>
                  </a:lnTo>
                  <a:cubicBezTo>
                    <a:pt x="1084580" y="363982"/>
                    <a:pt x="1073912" y="374650"/>
                    <a:pt x="1060704" y="374650"/>
                  </a:cubicBezTo>
                  <a:lnTo>
                    <a:pt x="23876" y="374650"/>
                  </a:lnTo>
                  <a:cubicBezTo>
                    <a:pt x="10668" y="374650"/>
                    <a:pt x="0" y="363982"/>
                    <a:pt x="0" y="350774"/>
                  </a:cubicBezTo>
                  <a:close/>
                </a:path>
              </a:pathLst>
            </a:custGeom>
            <a:solidFill>
              <a:srgbClr val="054842"/>
            </a:solidFill>
            <a:ln w="12700">
              <a:solidFill>
                <a:srgbClr val="000000"/>
              </a:solidFill>
            </a:ln>
          </p:spPr>
        </p:sp>
      </p:grpSp>
      <p:sp>
        <p:nvSpPr>
          <p:cNvPr name="TextBox 8" id="8"/>
          <p:cNvSpPr txBox="true"/>
          <p:nvPr/>
        </p:nvSpPr>
        <p:spPr>
          <a:xfrm rot="0">
            <a:off x="4780512" y="418062"/>
            <a:ext cx="634003" cy="229495"/>
          </a:xfrm>
          <a:prstGeom prst="rect">
            <a:avLst/>
          </a:prstGeom>
        </p:spPr>
        <p:txBody>
          <a:bodyPr anchor="t" rtlCol="false" tIns="0" lIns="0" bIns="0" rIns="0">
            <a:spAutoFit/>
          </a:bodyPr>
          <a:lstStyle/>
          <a:p>
            <a:pPr algn="l">
              <a:lnSpc>
                <a:spcPts val="1500"/>
              </a:lnSpc>
            </a:pPr>
            <a:r>
              <a:rPr lang="en-US" sz="937">
                <a:solidFill>
                  <a:srgbClr val="CAD6DE"/>
                </a:solidFill>
                <a:latin typeface="Cabin"/>
                <a:ea typeface="Cabin"/>
                <a:cs typeface="Cabin"/>
                <a:sym typeface="Cabin"/>
              </a:rPr>
              <a:t>ML SERVICE</a:t>
            </a:r>
          </a:p>
        </p:txBody>
      </p:sp>
      <p:sp>
        <p:nvSpPr>
          <p:cNvPr name="TextBox 9" id="9"/>
          <p:cNvSpPr txBox="true"/>
          <p:nvPr/>
        </p:nvSpPr>
        <p:spPr>
          <a:xfrm rot="0">
            <a:off x="4690767" y="723605"/>
            <a:ext cx="5746994" cy="380552"/>
          </a:xfrm>
          <a:prstGeom prst="rect">
            <a:avLst/>
          </a:prstGeom>
        </p:spPr>
        <p:txBody>
          <a:bodyPr anchor="t" rtlCol="false" tIns="0" lIns="0" bIns="0" rIns="0">
            <a:spAutoFit/>
          </a:bodyPr>
          <a:lstStyle/>
          <a:p>
            <a:pPr algn="l">
              <a:lnSpc>
                <a:spcPts val="2750"/>
              </a:lnSpc>
            </a:pPr>
            <a:r>
              <a:rPr lang="en-US" sz="2187">
                <a:solidFill>
                  <a:srgbClr val="FFFFFF"/>
                </a:solidFill>
                <a:latin typeface="Arimo"/>
                <a:ea typeface="Arimo"/>
                <a:cs typeface="Arimo"/>
                <a:sym typeface="Arimo"/>
              </a:rPr>
              <a:t>ML Service: Initialization &amp; Startup</a:t>
            </a:r>
          </a:p>
        </p:txBody>
      </p:sp>
      <p:sp>
        <p:nvSpPr>
          <p:cNvPr name="TextBox 10" id="10"/>
          <p:cNvSpPr txBox="true"/>
          <p:nvPr/>
        </p:nvSpPr>
        <p:spPr>
          <a:xfrm rot="0">
            <a:off x="4690767" y="1458963"/>
            <a:ext cx="2166195" cy="239020"/>
          </a:xfrm>
          <a:prstGeom prst="rect">
            <a:avLst/>
          </a:prstGeom>
        </p:spPr>
        <p:txBody>
          <a:bodyPr anchor="t" rtlCol="false" tIns="0" lIns="0" bIns="0" rIns="0">
            <a:spAutoFit/>
          </a:bodyPr>
          <a:lstStyle/>
          <a:p>
            <a:pPr algn="l">
              <a:lnSpc>
                <a:spcPts val="1687"/>
              </a:lnSpc>
            </a:pPr>
            <a:r>
              <a:rPr lang="en-US" sz="1375">
                <a:solidFill>
                  <a:srgbClr val="FFFFFF"/>
                </a:solidFill>
                <a:latin typeface="Arimo"/>
                <a:ea typeface="Arimo"/>
                <a:cs typeface="Arimo"/>
                <a:sym typeface="Arimo"/>
              </a:rPr>
              <a:t>Initialization Process</a:t>
            </a:r>
          </a:p>
        </p:txBody>
      </p:sp>
      <p:sp>
        <p:nvSpPr>
          <p:cNvPr name="TextBox 11" id="11"/>
          <p:cNvSpPr txBox="true"/>
          <p:nvPr/>
        </p:nvSpPr>
        <p:spPr>
          <a:xfrm rot="0">
            <a:off x="4690767" y="1790405"/>
            <a:ext cx="4734220"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ML Service ensures efficient operation by performing critical setup tasks during startup, making it ready to process requests immediately. This process includes:</a:t>
            </a:r>
          </a:p>
        </p:txBody>
      </p:sp>
      <p:sp>
        <p:nvSpPr>
          <p:cNvPr name="TextBox 12" id="12"/>
          <p:cNvSpPr txBox="true"/>
          <p:nvPr/>
        </p:nvSpPr>
        <p:spPr>
          <a:xfrm rot="0">
            <a:off x="4690767" y="2642892"/>
            <a:ext cx="4734220"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FastAPI application initialization</a:t>
            </a:r>
          </a:p>
        </p:txBody>
      </p:sp>
      <p:sp>
        <p:nvSpPr>
          <p:cNvPr name="TextBox 13" id="13"/>
          <p:cNvSpPr txBox="true"/>
          <p:nvPr/>
        </p:nvSpPr>
        <p:spPr>
          <a:xfrm rot="0">
            <a:off x="4690767" y="2934443"/>
            <a:ext cx="4734220"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YOLO model loading (best.pt) at startup</a:t>
            </a:r>
          </a:p>
        </p:txBody>
      </p:sp>
      <p:sp>
        <p:nvSpPr>
          <p:cNvPr name="TextBox 14" id="14"/>
          <p:cNvSpPr txBox="true"/>
          <p:nvPr/>
        </p:nvSpPr>
        <p:spPr>
          <a:xfrm rot="0">
            <a:off x="4690767" y="3226003"/>
            <a:ext cx="4734220"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Class labels storage from model.names</a:t>
            </a:r>
          </a:p>
        </p:txBody>
      </p:sp>
      <p:sp>
        <p:nvSpPr>
          <p:cNvPr name="TextBox 15" id="15"/>
          <p:cNvSpPr txBox="true"/>
          <p:nvPr/>
        </p:nvSpPr>
        <p:spPr>
          <a:xfrm rot="0">
            <a:off x="4690767" y="3517554"/>
            <a:ext cx="4734220" cy="535781"/>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Two rule dictionaries: one for bottle color mapping, one for PET classification</a:t>
            </a:r>
          </a:p>
        </p:txBody>
      </p:sp>
      <p:grpSp>
        <p:nvGrpSpPr>
          <p:cNvPr name="Group 16" id="16"/>
          <p:cNvGrpSpPr/>
          <p:nvPr/>
        </p:nvGrpSpPr>
        <p:grpSpPr>
          <a:xfrm rot="0">
            <a:off x="4690767" y="4221509"/>
            <a:ext cx="4734220" cy="6446339"/>
            <a:chOff x="0" y="0"/>
            <a:chExt cx="6312294" cy="8595119"/>
          </a:xfrm>
        </p:grpSpPr>
        <p:sp>
          <p:nvSpPr>
            <p:cNvPr name="Freeform 17" id="17"/>
            <p:cNvSpPr/>
            <p:nvPr/>
          </p:nvSpPr>
          <p:spPr>
            <a:xfrm flipH="false" flipV="false" rot="0">
              <a:off x="0" y="0"/>
              <a:ext cx="6312408" cy="8595233"/>
            </a:xfrm>
            <a:custGeom>
              <a:avLst/>
              <a:gdLst/>
              <a:ahLst/>
              <a:cxnLst/>
              <a:rect r="r" b="b" t="t" l="l"/>
              <a:pathLst>
                <a:path h="8595233" w="6312408">
                  <a:moveTo>
                    <a:pt x="0" y="29972"/>
                  </a:moveTo>
                  <a:cubicBezTo>
                    <a:pt x="0" y="13335"/>
                    <a:pt x="13335" y="0"/>
                    <a:pt x="29972" y="0"/>
                  </a:cubicBezTo>
                  <a:lnTo>
                    <a:pt x="6282436" y="0"/>
                  </a:lnTo>
                  <a:cubicBezTo>
                    <a:pt x="6298946" y="0"/>
                    <a:pt x="6312408" y="13335"/>
                    <a:pt x="6312408" y="29972"/>
                  </a:cubicBezTo>
                  <a:lnTo>
                    <a:pt x="6312408" y="8565261"/>
                  </a:lnTo>
                  <a:cubicBezTo>
                    <a:pt x="6312408" y="8581771"/>
                    <a:pt x="6299073" y="8595233"/>
                    <a:pt x="6282436" y="8595233"/>
                  </a:cubicBezTo>
                  <a:lnTo>
                    <a:pt x="29972" y="8595233"/>
                  </a:lnTo>
                  <a:cubicBezTo>
                    <a:pt x="13462" y="8595233"/>
                    <a:pt x="0" y="8581898"/>
                    <a:pt x="0" y="8565261"/>
                  </a:cubicBezTo>
                  <a:close/>
                </a:path>
              </a:pathLst>
            </a:custGeom>
            <a:solidFill>
              <a:srgbClr val="1E3543"/>
            </a:solidFill>
            <a:ln w="12700">
              <a:solidFill>
                <a:srgbClr val="000000"/>
              </a:solidFill>
            </a:ln>
          </p:spPr>
        </p:sp>
      </p:grpSp>
      <p:grpSp>
        <p:nvGrpSpPr>
          <p:cNvPr name="Group 18" id="18"/>
          <p:cNvGrpSpPr/>
          <p:nvPr/>
        </p:nvGrpSpPr>
        <p:grpSpPr>
          <a:xfrm rot="0">
            <a:off x="4683328" y="4221509"/>
            <a:ext cx="4749108" cy="6446339"/>
            <a:chOff x="0" y="0"/>
            <a:chExt cx="6332144" cy="8595119"/>
          </a:xfrm>
        </p:grpSpPr>
        <p:sp>
          <p:nvSpPr>
            <p:cNvPr name="Freeform 19" id="19"/>
            <p:cNvSpPr/>
            <p:nvPr/>
          </p:nvSpPr>
          <p:spPr>
            <a:xfrm flipH="false" flipV="false" rot="0">
              <a:off x="0" y="0"/>
              <a:ext cx="6332220" cy="8595106"/>
            </a:xfrm>
            <a:custGeom>
              <a:avLst/>
              <a:gdLst/>
              <a:ahLst/>
              <a:cxnLst/>
              <a:rect r="r" b="b" t="t" l="l"/>
              <a:pathLst>
                <a:path h="8595106" w="6332220">
                  <a:moveTo>
                    <a:pt x="0" y="29972"/>
                  </a:moveTo>
                  <a:cubicBezTo>
                    <a:pt x="0" y="13462"/>
                    <a:pt x="13462" y="0"/>
                    <a:pt x="29972" y="0"/>
                  </a:cubicBezTo>
                  <a:lnTo>
                    <a:pt x="6302248" y="0"/>
                  </a:lnTo>
                  <a:cubicBezTo>
                    <a:pt x="6318758" y="0"/>
                    <a:pt x="6332220" y="13462"/>
                    <a:pt x="6332220" y="29972"/>
                  </a:cubicBezTo>
                  <a:lnTo>
                    <a:pt x="6332220" y="8565134"/>
                  </a:lnTo>
                  <a:cubicBezTo>
                    <a:pt x="6332220" y="8581644"/>
                    <a:pt x="6318758" y="8595106"/>
                    <a:pt x="6302248" y="8595106"/>
                  </a:cubicBezTo>
                  <a:lnTo>
                    <a:pt x="29972" y="8595106"/>
                  </a:lnTo>
                  <a:cubicBezTo>
                    <a:pt x="13462" y="8595106"/>
                    <a:pt x="0" y="8581644"/>
                    <a:pt x="0" y="8565134"/>
                  </a:cubicBezTo>
                  <a:close/>
                </a:path>
              </a:pathLst>
            </a:custGeom>
            <a:solidFill>
              <a:srgbClr val="1E3543"/>
            </a:solidFill>
            <a:ln w="12700">
              <a:solidFill>
                <a:srgbClr val="000000"/>
              </a:solidFill>
            </a:ln>
          </p:spPr>
        </p:sp>
      </p:grpSp>
      <p:sp>
        <p:nvSpPr>
          <p:cNvPr name="TextBox 20" id="20"/>
          <p:cNvSpPr txBox="true"/>
          <p:nvPr/>
        </p:nvSpPr>
        <p:spPr>
          <a:xfrm rot="0">
            <a:off x="4832899" y="4257380"/>
            <a:ext cx="4449966" cy="6298406"/>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from fastapi import FastAPI</a:t>
            </a:r>
          </a:p>
          <a:p>
            <a:pPr algn="l">
              <a:lnSpc>
                <a:spcPts val="1874"/>
              </a:lnSpc>
            </a:pPr>
            <a:r>
              <a:rPr lang="en-US" sz="1124">
                <a:solidFill>
                  <a:srgbClr val="CAD6DE"/>
                </a:solidFill>
                <a:latin typeface="Consolas"/>
                <a:ea typeface="Consolas"/>
                <a:cs typeface="Consolas"/>
                <a:sym typeface="Consolas"/>
              </a:rPr>
              <a:t>from ultralytics import YOLO</a:t>
            </a:r>
          </a:p>
          <a:p>
            <a:pPr algn="l">
              <a:lnSpc>
                <a:spcPts val="1874"/>
              </a:lnSpc>
            </a:pPr>
          </a:p>
          <a:p>
            <a:pPr algn="l">
              <a:lnSpc>
                <a:spcPts val="1874"/>
              </a:lnSpc>
            </a:pPr>
            <a:r>
              <a:rPr lang="en-US" sz="1124">
                <a:solidFill>
                  <a:srgbClr val="CAD6DE"/>
                </a:solidFill>
                <a:latin typeface="Consolas"/>
                <a:ea typeface="Consolas"/>
                <a:cs typeface="Consolas"/>
                <a:sym typeface="Consolas"/>
              </a:rPr>
              <a:t>app = FastAPI()</a:t>
            </a:r>
          </a:p>
          <a:p>
            <a:pPr algn="l">
              <a:lnSpc>
                <a:spcPts val="1874"/>
              </a:lnSpc>
            </a:pPr>
          </a:p>
          <a:p>
            <a:pPr algn="l">
              <a:lnSpc>
                <a:spcPts val="1874"/>
              </a:lnSpc>
            </a:pPr>
            <a:r>
              <a:rPr lang="en-US" sz="1124">
                <a:solidFill>
                  <a:srgbClr val="CAD6DE"/>
                </a:solidFill>
                <a:latin typeface="Consolas"/>
                <a:ea typeface="Consolas"/>
                <a:cs typeface="Consolas"/>
                <a:sym typeface="Consolas"/>
              </a:rPr>
              <a:t># YOLO model loading (best.pt) at startup</a:t>
            </a:r>
          </a:p>
          <a:p>
            <a:pPr algn="l">
              <a:lnSpc>
                <a:spcPts val="1874"/>
              </a:lnSpc>
            </a:pPr>
            <a:r>
              <a:rPr lang="en-US" sz="1124">
                <a:solidFill>
                  <a:srgbClr val="CAD6DE"/>
                </a:solidFill>
                <a:latin typeface="Consolas"/>
                <a:ea typeface="Consolas"/>
                <a:cs typeface="Consolas"/>
                <a:sym typeface="Consolas"/>
              </a:rPr>
              <a:t>model = YOLO("best.pt")</a:t>
            </a:r>
          </a:p>
          <a:p>
            <a:pPr algn="l">
              <a:lnSpc>
                <a:spcPts val="1874"/>
              </a:lnSpc>
            </a:pPr>
          </a:p>
          <a:p>
            <a:pPr algn="l">
              <a:lnSpc>
                <a:spcPts val="1874"/>
              </a:lnSpc>
            </a:pPr>
            <a:r>
              <a:rPr lang="en-US" sz="1124">
                <a:solidFill>
                  <a:srgbClr val="CAD6DE"/>
                </a:solidFill>
                <a:latin typeface="Consolas"/>
                <a:ea typeface="Consolas"/>
                <a:cs typeface="Consolas"/>
                <a:sym typeface="Consolas"/>
              </a:rPr>
              <a:t># Class labels storage from model.names</a:t>
            </a:r>
          </a:p>
          <a:p>
            <a:pPr algn="l">
              <a:lnSpc>
                <a:spcPts val="1874"/>
              </a:lnSpc>
            </a:pPr>
            <a:r>
              <a:rPr lang="en-US" sz="1124">
                <a:solidFill>
                  <a:srgbClr val="CAD6DE"/>
                </a:solidFill>
                <a:latin typeface="Consolas"/>
                <a:ea typeface="Consolas"/>
                <a:cs typeface="Consolas"/>
                <a:sym typeface="Consolas"/>
              </a:rPr>
              <a:t>class_labels = model.names</a:t>
            </a:r>
          </a:p>
          <a:p>
            <a:pPr algn="l">
              <a:lnSpc>
                <a:spcPts val="1874"/>
              </a:lnSpc>
            </a:pPr>
          </a:p>
          <a:p>
            <a:pPr algn="l">
              <a:lnSpc>
                <a:spcPts val="1874"/>
              </a:lnSpc>
            </a:pPr>
            <a:r>
              <a:rPr lang="en-US" sz="1124">
                <a:solidFill>
                  <a:srgbClr val="CAD6DE"/>
                </a:solidFill>
                <a:latin typeface="Consolas"/>
                <a:ea typeface="Consolas"/>
                <a:cs typeface="Consolas"/>
                <a:sym typeface="Consolas"/>
              </a:rPr>
              <a:t># Rule dictionary for bottle color mapping</a:t>
            </a:r>
          </a:p>
          <a:p>
            <a:pPr algn="l">
              <a:lnSpc>
                <a:spcPts val="1874"/>
              </a:lnSpc>
            </a:pPr>
            <a:r>
              <a:rPr lang="en-US" sz="1124">
                <a:solidFill>
                  <a:srgbClr val="CAD6DE"/>
                </a:solidFill>
                <a:latin typeface="Consolas"/>
                <a:ea typeface="Consolas"/>
                <a:cs typeface="Consolas"/>
                <a:sym typeface="Consolas"/>
              </a:rPr>
              <a:t>BOTTLE_COLOR_MAP = {</a:t>
            </a:r>
          </a:p>
          <a:p>
            <a:pPr algn="l">
              <a:lnSpc>
                <a:spcPts val="1874"/>
              </a:lnSpc>
            </a:pPr>
            <a:r>
              <a:rPr lang="en-US" sz="1124">
                <a:solidFill>
                  <a:srgbClr val="CAD6DE"/>
                </a:solidFill>
                <a:latin typeface="Consolas"/>
                <a:ea typeface="Consolas"/>
                <a:cs typeface="Consolas"/>
                <a:sym typeface="Consolas"/>
              </a:rPr>
              <a:t>    "clear": "clear_bottle",</a:t>
            </a:r>
          </a:p>
          <a:p>
            <a:pPr algn="l">
              <a:lnSpc>
                <a:spcPts val="1874"/>
              </a:lnSpc>
            </a:pPr>
            <a:r>
              <a:rPr lang="en-US" sz="1124">
                <a:solidFill>
                  <a:srgbClr val="CAD6DE"/>
                </a:solidFill>
                <a:latin typeface="Consolas"/>
                <a:ea typeface="Consolas"/>
                <a:cs typeface="Consolas"/>
                <a:sym typeface="Consolas"/>
              </a:rPr>
              <a:t>    "green": "green_bottle",</a:t>
            </a:r>
          </a:p>
          <a:p>
            <a:pPr algn="l">
              <a:lnSpc>
                <a:spcPts val="1874"/>
              </a:lnSpc>
            </a:pPr>
            <a:r>
              <a:rPr lang="en-US" sz="1124">
                <a:solidFill>
                  <a:srgbClr val="CAD6DE"/>
                </a:solidFill>
                <a:latin typeface="Consolas"/>
                <a:ea typeface="Consolas"/>
                <a:cs typeface="Consolas"/>
                <a:sym typeface="Consolas"/>
              </a:rPr>
              <a:t>    "blue": "blue_bottle",</a:t>
            </a:r>
          </a:p>
          <a:p>
            <a:pPr algn="l">
              <a:lnSpc>
                <a:spcPts val="1874"/>
              </a:lnSpc>
            </a:pPr>
            <a:r>
              <a:rPr lang="en-US" sz="1124">
                <a:solidFill>
                  <a:srgbClr val="CAD6DE"/>
                </a:solidFill>
                <a:latin typeface="Consolas"/>
                <a:ea typeface="Consolas"/>
                <a:cs typeface="Consolas"/>
                <a:sym typeface="Consolas"/>
              </a:rPr>
              <a:t>    "brown": "brown_bottle"</a:t>
            </a:r>
          </a:p>
          <a:p>
            <a:pPr algn="l">
              <a:lnSpc>
                <a:spcPts val="1874"/>
              </a:lnSpc>
            </a:pPr>
            <a:r>
              <a:rPr lang="en-US" sz="1124">
                <a:solidFill>
                  <a:srgbClr val="CAD6DE"/>
                </a:solidFill>
                <a:latin typeface="Consolas"/>
                <a:ea typeface="Consolas"/>
                <a:cs typeface="Consolas"/>
                <a:sym typeface="Consolas"/>
              </a:rPr>
              <a:t>}</a:t>
            </a:r>
          </a:p>
          <a:p>
            <a:pPr algn="l">
              <a:lnSpc>
                <a:spcPts val="1874"/>
              </a:lnSpc>
            </a:pPr>
          </a:p>
          <a:p>
            <a:pPr algn="l">
              <a:lnSpc>
                <a:spcPts val="1874"/>
              </a:lnSpc>
            </a:pPr>
            <a:r>
              <a:rPr lang="en-US" sz="1124">
                <a:solidFill>
                  <a:srgbClr val="CAD6DE"/>
                </a:solidFill>
                <a:latin typeface="Consolas"/>
                <a:ea typeface="Consolas"/>
                <a:cs typeface="Consolas"/>
                <a:sym typeface="Consolas"/>
              </a:rPr>
              <a:t># Rule dictionary for PET classification</a:t>
            </a:r>
          </a:p>
          <a:p>
            <a:pPr algn="l">
              <a:lnSpc>
                <a:spcPts val="1874"/>
              </a:lnSpc>
            </a:pPr>
            <a:r>
              <a:rPr lang="en-US" sz="1124">
                <a:solidFill>
                  <a:srgbClr val="CAD6DE"/>
                </a:solidFill>
                <a:latin typeface="Consolas"/>
                <a:ea typeface="Consolas"/>
                <a:cs typeface="Consolas"/>
                <a:sym typeface="Consolas"/>
              </a:rPr>
              <a:t>PET_CLASSIFICATION_RULES = {</a:t>
            </a:r>
          </a:p>
          <a:p>
            <a:pPr algn="l">
              <a:lnSpc>
                <a:spcPts val="1874"/>
              </a:lnSpc>
            </a:pPr>
            <a:r>
              <a:rPr lang="en-US" sz="1124">
                <a:solidFill>
                  <a:srgbClr val="CAD6DE"/>
                </a:solidFill>
                <a:latin typeface="Consolas"/>
                <a:ea typeface="Consolas"/>
                <a:cs typeface="Consolas"/>
                <a:sym typeface="Consolas"/>
              </a:rPr>
              <a:t>    "clear_plastic": True,</a:t>
            </a:r>
          </a:p>
          <a:p>
            <a:pPr algn="l">
              <a:lnSpc>
                <a:spcPts val="1874"/>
              </a:lnSpc>
            </a:pPr>
            <a:r>
              <a:rPr lang="en-US" sz="1124">
                <a:solidFill>
                  <a:srgbClr val="CAD6DE"/>
                </a:solidFill>
                <a:latin typeface="Consolas"/>
                <a:ea typeface="Consolas"/>
                <a:cs typeface="Consolas"/>
                <a:sym typeface="Consolas"/>
              </a:rPr>
              <a:t>    "green_plastic": True,</a:t>
            </a:r>
          </a:p>
          <a:p>
            <a:pPr algn="l">
              <a:lnSpc>
                <a:spcPts val="1874"/>
              </a:lnSpc>
            </a:pPr>
            <a:r>
              <a:rPr lang="en-US" sz="1124">
                <a:solidFill>
                  <a:srgbClr val="CAD6DE"/>
                </a:solidFill>
                <a:latin typeface="Consolas"/>
                <a:ea typeface="Consolas"/>
                <a:cs typeface="Consolas"/>
                <a:sym typeface="Consolas"/>
              </a:rPr>
              <a:t>    "other_plastic": False</a:t>
            </a:r>
          </a:p>
          <a:p>
            <a:pPr algn="l">
              <a:lnSpc>
                <a:spcPts val="1874"/>
              </a:lnSpc>
            </a:pPr>
            <a:r>
              <a:rPr lang="en-US" sz="1124">
                <a:solidFill>
                  <a:srgbClr val="CAD6DE"/>
                </a:solidFill>
                <a:latin typeface="Consolas"/>
                <a:ea typeface="Consolas"/>
                <a:cs typeface="Consolas"/>
                <a:sym typeface="Consolas"/>
              </a:rPr>
              <a:t>}</a:t>
            </a:r>
          </a:p>
          <a:p>
            <a:pPr algn="l">
              <a:lnSpc>
                <a:spcPts val="1874"/>
              </a:lnSpc>
            </a:pPr>
          </a:p>
        </p:txBody>
      </p:sp>
      <p:sp>
        <p:nvSpPr>
          <p:cNvPr name="TextBox 21" id="21"/>
          <p:cNvSpPr txBox="true"/>
          <p:nvPr/>
        </p:nvSpPr>
        <p:spPr>
          <a:xfrm rot="0">
            <a:off x="9799434" y="1458963"/>
            <a:ext cx="2401786" cy="239020"/>
          </a:xfrm>
          <a:prstGeom prst="rect">
            <a:avLst/>
          </a:prstGeom>
        </p:spPr>
        <p:txBody>
          <a:bodyPr anchor="t" rtlCol="false" tIns="0" lIns="0" bIns="0" rIns="0">
            <a:spAutoFit/>
          </a:bodyPr>
          <a:lstStyle/>
          <a:p>
            <a:pPr algn="l">
              <a:lnSpc>
                <a:spcPts val="1687"/>
              </a:lnSpc>
            </a:pPr>
            <a:r>
              <a:rPr lang="en-US" sz="1375">
                <a:solidFill>
                  <a:srgbClr val="FFFFFF"/>
                </a:solidFill>
                <a:latin typeface="Arimo"/>
                <a:ea typeface="Arimo"/>
                <a:cs typeface="Arimo"/>
                <a:sym typeface="Arimo"/>
              </a:rPr>
              <a:t>Health Check Endpoint</a:t>
            </a:r>
          </a:p>
        </p:txBody>
      </p:sp>
      <p:sp>
        <p:nvSpPr>
          <p:cNvPr name="TextBox 22" id="22"/>
          <p:cNvSpPr txBox="true"/>
          <p:nvPr/>
        </p:nvSpPr>
        <p:spPr>
          <a:xfrm rot="0">
            <a:off x="9799434" y="1790405"/>
            <a:ext cx="3807028"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A dedicated endpoint allows for monitoring the service's health and availability, confirming it is operational and ready to serve requests.</a:t>
            </a:r>
          </a:p>
        </p:txBody>
      </p:sp>
      <p:sp>
        <p:nvSpPr>
          <p:cNvPr name="TextBox 23" id="23"/>
          <p:cNvSpPr txBox="true"/>
          <p:nvPr/>
        </p:nvSpPr>
        <p:spPr>
          <a:xfrm rot="0">
            <a:off x="9799434" y="2642892"/>
            <a:ext cx="3807028" cy="535781"/>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Health-check endpoint (/health) returning {"status": "OK"}</a:t>
            </a:r>
          </a:p>
        </p:txBody>
      </p:sp>
      <p:grpSp>
        <p:nvGrpSpPr>
          <p:cNvPr name="Group 24" id="24"/>
          <p:cNvGrpSpPr/>
          <p:nvPr/>
        </p:nvGrpSpPr>
        <p:grpSpPr>
          <a:xfrm rot="0">
            <a:off x="9799434" y="3346847"/>
            <a:ext cx="3807028" cy="1181395"/>
            <a:chOff x="0" y="0"/>
            <a:chExt cx="5076038" cy="1575194"/>
          </a:xfrm>
        </p:grpSpPr>
        <p:sp>
          <p:nvSpPr>
            <p:cNvPr name="Freeform 25" id="25"/>
            <p:cNvSpPr/>
            <p:nvPr/>
          </p:nvSpPr>
          <p:spPr>
            <a:xfrm flipH="false" flipV="false" rot="0">
              <a:off x="0" y="0"/>
              <a:ext cx="5076063" cy="1575181"/>
            </a:xfrm>
            <a:custGeom>
              <a:avLst/>
              <a:gdLst/>
              <a:ahLst/>
              <a:cxnLst/>
              <a:rect r="r" b="b" t="t" l="l"/>
              <a:pathLst>
                <a:path h="1575181" w="5076063">
                  <a:moveTo>
                    <a:pt x="0" y="29972"/>
                  </a:moveTo>
                  <a:cubicBezTo>
                    <a:pt x="0" y="13462"/>
                    <a:pt x="13462" y="0"/>
                    <a:pt x="29972" y="0"/>
                  </a:cubicBezTo>
                  <a:lnTo>
                    <a:pt x="5046091" y="0"/>
                  </a:lnTo>
                  <a:cubicBezTo>
                    <a:pt x="5062601" y="0"/>
                    <a:pt x="5076063" y="13462"/>
                    <a:pt x="5076063" y="29972"/>
                  </a:cubicBezTo>
                  <a:lnTo>
                    <a:pt x="5076063" y="1545209"/>
                  </a:lnTo>
                  <a:cubicBezTo>
                    <a:pt x="5076063" y="1561719"/>
                    <a:pt x="5062601" y="1575181"/>
                    <a:pt x="5046091" y="1575181"/>
                  </a:cubicBezTo>
                  <a:lnTo>
                    <a:pt x="29972" y="1575181"/>
                  </a:lnTo>
                  <a:cubicBezTo>
                    <a:pt x="13462" y="1575181"/>
                    <a:pt x="0" y="1561719"/>
                    <a:pt x="0" y="1545209"/>
                  </a:cubicBezTo>
                  <a:close/>
                </a:path>
              </a:pathLst>
            </a:custGeom>
            <a:solidFill>
              <a:srgbClr val="1E3543"/>
            </a:solidFill>
            <a:ln w="12700">
              <a:solidFill>
                <a:srgbClr val="000000"/>
              </a:solidFill>
            </a:ln>
          </p:spPr>
        </p:sp>
      </p:grpSp>
      <p:grpSp>
        <p:nvGrpSpPr>
          <p:cNvPr name="Group 26" id="26"/>
          <p:cNvGrpSpPr/>
          <p:nvPr/>
        </p:nvGrpSpPr>
        <p:grpSpPr>
          <a:xfrm rot="0">
            <a:off x="9791995" y="3346847"/>
            <a:ext cx="3821906" cy="1181395"/>
            <a:chOff x="0" y="0"/>
            <a:chExt cx="5095875" cy="1575194"/>
          </a:xfrm>
        </p:grpSpPr>
        <p:sp>
          <p:nvSpPr>
            <p:cNvPr name="Freeform 27" id="27"/>
            <p:cNvSpPr/>
            <p:nvPr/>
          </p:nvSpPr>
          <p:spPr>
            <a:xfrm flipH="false" flipV="false" rot="0">
              <a:off x="0" y="0"/>
              <a:ext cx="5095875" cy="1575181"/>
            </a:xfrm>
            <a:custGeom>
              <a:avLst/>
              <a:gdLst/>
              <a:ahLst/>
              <a:cxnLst/>
              <a:rect r="r" b="b" t="t" l="l"/>
              <a:pathLst>
                <a:path h="1575181" w="5095875">
                  <a:moveTo>
                    <a:pt x="0" y="29972"/>
                  </a:moveTo>
                  <a:cubicBezTo>
                    <a:pt x="0" y="13462"/>
                    <a:pt x="13462" y="0"/>
                    <a:pt x="29972" y="0"/>
                  </a:cubicBezTo>
                  <a:lnTo>
                    <a:pt x="5065903" y="0"/>
                  </a:lnTo>
                  <a:cubicBezTo>
                    <a:pt x="5082413" y="0"/>
                    <a:pt x="5095875" y="13462"/>
                    <a:pt x="5095875" y="29972"/>
                  </a:cubicBezTo>
                  <a:lnTo>
                    <a:pt x="5095875" y="1545209"/>
                  </a:lnTo>
                  <a:cubicBezTo>
                    <a:pt x="5095875" y="1561719"/>
                    <a:pt x="5082413" y="1575181"/>
                    <a:pt x="5065903" y="1575181"/>
                  </a:cubicBezTo>
                  <a:lnTo>
                    <a:pt x="29972" y="1575181"/>
                  </a:lnTo>
                  <a:cubicBezTo>
                    <a:pt x="13462" y="1575181"/>
                    <a:pt x="0" y="1561719"/>
                    <a:pt x="0" y="1545209"/>
                  </a:cubicBezTo>
                  <a:close/>
                </a:path>
              </a:pathLst>
            </a:custGeom>
            <a:solidFill>
              <a:srgbClr val="1E3543"/>
            </a:solidFill>
            <a:ln w="12700">
              <a:solidFill>
                <a:srgbClr val="000000"/>
              </a:solidFill>
            </a:ln>
          </p:spPr>
        </p:sp>
      </p:grpSp>
      <p:sp>
        <p:nvSpPr>
          <p:cNvPr name="TextBox 28" id="28"/>
          <p:cNvSpPr txBox="true"/>
          <p:nvPr/>
        </p:nvSpPr>
        <p:spPr>
          <a:xfrm rot="0">
            <a:off x="9941566" y="3382718"/>
            <a:ext cx="3522764" cy="1033462"/>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@app.get("/health")</a:t>
            </a:r>
          </a:p>
          <a:p>
            <a:pPr algn="l">
              <a:lnSpc>
                <a:spcPts val="1874"/>
              </a:lnSpc>
            </a:pPr>
            <a:r>
              <a:rPr lang="en-US" sz="1124">
                <a:solidFill>
                  <a:srgbClr val="CAD6DE"/>
                </a:solidFill>
                <a:latin typeface="Consolas"/>
                <a:ea typeface="Consolas"/>
                <a:cs typeface="Consolas"/>
                <a:sym typeface="Consolas"/>
              </a:rPr>
              <a:t>async def health_check():</a:t>
            </a:r>
          </a:p>
          <a:p>
            <a:pPr algn="l">
              <a:lnSpc>
                <a:spcPts val="1874"/>
              </a:lnSpc>
            </a:pPr>
            <a:r>
              <a:rPr lang="en-US" sz="1124">
                <a:solidFill>
                  <a:srgbClr val="CAD6DE"/>
                </a:solidFill>
                <a:latin typeface="Consolas"/>
                <a:ea typeface="Consolas"/>
                <a:cs typeface="Consolas"/>
                <a:sym typeface="Consolas"/>
              </a:rPr>
              <a:t>    return {"status": "OK"}</a:t>
            </a:r>
          </a:p>
          <a:p>
            <a:pPr algn="l">
              <a:lnSpc>
                <a:spcPts val="187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6806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4690767" y="411366"/>
            <a:ext cx="1117702" cy="280988"/>
            <a:chOff x="0" y="0"/>
            <a:chExt cx="1490269" cy="374650"/>
          </a:xfrm>
        </p:grpSpPr>
        <p:sp>
          <p:nvSpPr>
            <p:cNvPr name="Freeform 7" id="7"/>
            <p:cNvSpPr/>
            <p:nvPr/>
          </p:nvSpPr>
          <p:spPr>
            <a:xfrm flipH="false" flipV="false" rot="0">
              <a:off x="0" y="0"/>
              <a:ext cx="1490218" cy="374650"/>
            </a:xfrm>
            <a:custGeom>
              <a:avLst/>
              <a:gdLst/>
              <a:ahLst/>
              <a:cxnLst/>
              <a:rect r="r" b="b" t="t" l="l"/>
              <a:pathLst>
                <a:path h="374650" w="1490218">
                  <a:moveTo>
                    <a:pt x="0" y="23876"/>
                  </a:moveTo>
                  <a:cubicBezTo>
                    <a:pt x="0" y="10668"/>
                    <a:pt x="10668" y="0"/>
                    <a:pt x="23876" y="0"/>
                  </a:cubicBezTo>
                  <a:lnTo>
                    <a:pt x="1466342" y="0"/>
                  </a:lnTo>
                  <a:cubicBezTo>
                    <a:pt x="1479550" y="0"/>
                    <a:pt x="1490218" y="10668"/>
                    <a:pt x="1490218" y="23876"/>
                  </a:cubicBezTo>
                  <a:lnTo>
                    <a:pt x="1490218" y="350774"/>
                  </a:lnTo>
                  <a:cubicBezTo>
                    <a:pt x="1490218" y="363982"/>
                    <a:pt x="1479550" y="374650"/>
                    <a:pt x="1466342" y="374650"/>
                  </a:cubicBezTo>
                  <a:lnTo>
                    <a:pt x="23876" y="374650"/>
                  </a:lnTo>
                  <a:cubicBezTo>
                    <a:pt x="10668" y="374650"/>
                    <a:pt x="0" y="363982"/>
                    <a:pt x="0" y="350774"/>
                  </a:cubicBezTo>
                  <a:close/>
                </a:path>
              </a:pathLst>
            </a:custGeom>
            <a:solidFill>
              <a:srgbClr val="054842"/>
            </a:solidFill>
            <a:ln w="12700">
              <a:solidFill>
                <a:srgbClr val="000000"/>
              </a:solidFill>
            </a:ln>
          </p:spPr>
        </p:sp>
      </p:grpSp>
      <p:sp>
        <p:nvSpPr>
          <p:cNvPr name="TextBox 8" id="8"/>
          <p:cNvSpPr txBox="true"/>
          <p:nvPr/>
        </p:nvSpPr>
        <p:spPr>
          <a:xfrm rot="0">
            <a:off x="4780512" y="418062"/>
            <a:ext cx="938212" cy="229495"/>
          </a:xfrm>
          <a:prstGeom prst="rect">
            <a:avLst/>
          </a:prstGeom>
        </p:spPr>
        <p:txBody>
          <a:bodyPr anchor="t" rtlCol="false" tIns="0" lIns="0" bIns="0" rIns="0">
            <a:spAutoFit/>
          </a:bodyPr>
          <a:lstStyle/>
          <a:p>
            <a:pPr algn="l">
              <a:lnSpc>
                <a:spcPts val="1500"/>
              </a:lnSpc>
            </a:pPr>
            <a:r>
              <a:rPr lang="en-US" sz="937">
                <a:solidFill>
                  <a:srgbClr val="CAD6DE"/>
                </a:solidFill>
                <a:latin typeface="Cabin"/>
                <a:ea typeface="Cabin"/>
                <a:cs typeface="Cabin"/>
                <a:sym typeface="Cabin"/>
              </a:rPr>
              <a:t>YOLO INFERENCE</a:t>
            </a:r>
          </a:p>
        </p:txBody>
      </p:sp>
      <p:sp>
        <p:nvSpPr>
          <p:cNvPr name="TextBox 9" id="9"/>
          <p:cNvSpPr txBox="true"/>
          <p:nvPr/>
        </p:nvSpPr>
        <p:spPr>
          <a:xfrm rot="0">
            <a:off x="4690767" y="723605"/>
            <a:ext cx="7468191" cy="380552"/>
          </a:xfrm>
          <a:prstGeom prst="rect">
            <a:avLst/>
          </a:prstGeom>
        </p:spPr>
        <p:txBody>
          <a:bodyPr anchor="t" rtlCol="false" tIns="0" lIns="0" bIns="0" rIns="0">
            <a:spAutoFit/>
          </a:bodyPr>
          <a:lstStyle/>
          <a:p>
            <a:pPr algn="l">
              <a:lnSpc>
                <a:spcPts val="2750"/>
              </a:lnSpc>
            </a:pPr>
            <a:r>
              <a:rPr lang="en-US" sz="2187">
                <a:solidFill>
                  <a:srgbClr val="FFFFFF"/>
                </a:solidFill>
                <a:latin typeface="Arimo"/>
                <a:ea typeface="Arimo"/>
                <a:cs typeface="Arimo"/>
                <a:sym typeface="Arimo"/>
              </a:rPr>
              <a:t>YOLO Inference Pipeline: The `/infer` Endpoint</a:t>
            </a:r>
          </a:p>
        </p:txBody>
      </p:sp>
      <p:sp>
        <p:nvSpPr>
          <p:cNvPr name="TextBox 10" id="10"/>
          <p:cNvSpPr txBox="true"/>
          <p:nvPr/>
        </p:nvSpPr>
        <p:spPr>
          <a:xfrm rot="0">
            <a:off x="4690767" y="1271292"/>
            <a:ext cx="8906323"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/infer endpoint orchestrates a sophisticated pipeline to process uploaded images and return detailed object detection results. This process ensures accurate and efficient identification and classification of PET bottles.</a:t>
            </a:r>
          </a:p>
        </p:txBody>
      </p:sp>
      <p:sp>
        <p:nvSpPr>
          <p:cNvPr name="Freeform 11" id="11" descr="preencoded.png"/>
          <p:cNvSpPr/>
          <p:nvPr/>
        </p:nvSpPr>
        <p:spPr>
          <a:xfrm flipH="false" flipV="false" rot="0">
            <a:off x="4690767" y="1975247"/>
            <a:ext cx="748008" cy="897579"/>
          </a:xfrm>
          <a:custGeom>
            <a:avLst/>
            <a:gdLst/>
            <a:ahLst/>
            <a:cxnLst/>
            <a:rect r="r" b="b" t="t" l="l"/>
            <a:pathLst>
              <a:path h="897579" w="748008">
                <a:moveTo>
                  <a:pt x="0" y="0"/>
                </a:moveTo>
                <a:lnTo>
                  <a:pt x="748008" y="0"/>
                </a:lnTo>
                <a:lnTo>
                  <a:pt x="748008" y="897579"/>
                </a:lnTo>
                <a:lnTo>
                  <a:pt x="0" y="897579"/>
                </a:lnTo>
                <a:lnTo>
                  <a:pt x="0" y="0"/>
                </a:lnTo>
                <a:close/>
              </a:path>
            </a:pathLst>
          </a:custGeom>
          <a:blipFill>
            <a:blip r:embed="rId5"/>
            <a:stretch>
              <a:fillRect l="-424" t="0" r="-424" b="0"/>
            </a:stretch>
          </a:blipFill>
        </p:spPr>
      </p:sp>
      <p:sp>
        <p:nvSpPr>
          <p:cNvPr name="TextBox 12" id="12"/>
          <p:cNvSpPr txBox="true"/>
          <p:nvPr/>
        </p:nvSpPr>
        <p:spPr>
          <a:xfrm rot="0">
            <a:off x="5588346" y="2105768"/>
            <a:ext cx="1760039"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Image Upload</a:t>
            </a:r>
          </a:p>
        </p:txBody>
      </p:sp>
      <p:sp>
        <p:nvSpPr>
          <p:cNvPr name="TextBox 13" id="13"/>
          <p:cNvSpPr txBox="true"/>
          <p:nvPr/>
        </p:nvSpPr>
        <p:spPr>
          <a:xfrm rot="0">
            <a:off x="5588346" y="2377383"/>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Client uploads image file to the API service.</a:t>
            </a:r>
          </a:p>
        </p:txBody>
      </p:sp>
      <p:sp>
        <p:nvSpPr>
          <p:cNvPr name="Freeform 14" id="14" descr="preencoded.png"/>
          <p:cNvSpPr/>
          <p:nvPr/>
        </p:nvSpPr>
        <p:spPr>
          <a:xfrm flipH="false" flipV="false" rot="0">
            <a:off x="4690767" y="2872826"/>
            <a:ext cx="748008" cy="897579"/>
          </a:xfrm>
          <a:custGeom>
            <a:avLst/>
            <a:gdLst/>
            <a:ahLst/>
            <a:cxnLst/>
            <a:rect r="r" b="b" t="t" l="l"/>
            <a:pathLst>
              <a:path h="897579" w="748008">
                <a:moveTo>
                  <a:pt x="0" y="0"/>
                </a:moveTo>
                <a:lnTo>
                  <a:pt x="748008" y="0"/>
                </a:lnTo>
                <a:lnTo>
                  <a:pt x="748008" y="897579"/>
                </a:lnTo>
                <a:lnTo>
                  <a:pt x="0" y="897579"/>
                </a:lnTo>
                <a:lnTo>
                  <a:pt x="0" y="0"/>
                </a:lnTo>
                <a:close/>
              </a:path>
            </a:pathLst>
          </a:custGeom>
          <a:blipFill>
            <a:blip r:embed="rId6"/>
            <a:stretch>
              <a:fillRect l="-424" t="0" r="-424" b="0"/>
            </a:stretch>
          </a:blipFill>
        </p:spPr>
      </p:sp>
      <p:sp>
        <p:nvSpPr>
          <p:cNvPr name="TextBox 15" id="15"/>
          <p:cNvSpPr txBox="true"/>
          <p:nvPr/>
        </p:nvSpPr>
        <p:spPr>
          <a:xfrm rot="0">
            <a:off x="5588346" y="3003347"/>
            <a:ext cx="2615355"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NumPy Array Conversion</a:t>
            </a:r>
          </a:p>
        </p:txBody>
      </p:sp>
      <p:sp>
        <p:nvSpPr>
          <p:cNvPr name="TextBox 16" id="16"/>
          <p:cNvSpPr txBox="true"/>
          <p:nvPr/>
        </p:nvSpPr>
        <p:spPr>
          <a:xfrm rot="0">
            <a:off x="5588346" y="3274962"/>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Server reads raw bytes from the uploaded image and converts them into a NumPy array.</a:t>
            </a:r>
          </a:p>
        </p:txBody>
      </p:sp>
      <p:sp>
        <p:nvSpPr>
          <p:cNvPr name="Freeform 17" id="17" descr="preencoded.png"/>
          <p:cNvSpPr/>
          <p:nvPr/>
        </p:nvSpPr>
        <p:spPr>
          <a:xfrm flipH="false" flipV="false" rot="0">
            <a:off x="4690767" y="3770414"/>
            <a:ext cx="748008" cy="897579"/>
          </a:xfrm>
          <a:custGeom>
            <a:avLst/>
            <a:gdLst/>
            <a:ahLst/>
            <a:cxnLst/>
            <a:rect r="r" b="b" t="t" l="l"/>
            <a:pathLst>
              <a:path h="897579" w="748008">
                <a:moveTo>
                  <a:pt x="0" y="0"/>
                </a:moveTo>
                <a:lnTo>
                  <a:pt x="748008" y="0"/>
                </a:lnTo>
                <a:lnTo>
                  <a:pt x="748008" y="897579"/>
                </a:lnTo>
                <a:lnTo>
                  <a:pt x="0" y="897579"/>
                </a:lnTo>
                <a:lnTo>
                  <a:pt x="0" y="0"/>
                </a:lnTo>
                <a:close/>
              </a:path>
            </a:pathLst>
          </a:custGeom>
          <a:blipFill>
            <a:blip r:embed="rId7"/>
            <a:stretch>
              <a:fillRect l="-424" t="0" r="-424" b="0"/>
            </a:stretch>
          </a:blipFill>
        </p:spPr>
      </p:sp>
      <p:sp>
        <p:nvSpPr>
          <p:cNvPr name="TextBox 18" id="18"/>
          <p:cNvSpPr txBox="true"/>
          <p:nvPr/>
        </p:nvSpPr>
        <p:spPr>
          <a:xfrm rot="0">
            <a:off x="5588346" y="3900935"/>
            <a:ext cx="1907534"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OpenCV Decoding</a:t>
            </a:r>
          </a:p>
        </p:txBody>
      </p:sp>
      <p:sp>
        <p:nvSpPr>
          <p:cNvPr name="TextBox 19" id="19"/>
          <p:cNvSpPr txBox="true"/>
          <p:nvPr/>
        </p:nvSpPr>
        <p:spPr>
          <a:xfrm rot="0">
            <a:off x="5588346" y="4172541"/>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OpenCV decodes the NumPy array into an image format suitable for model inference.</a:t>
            </a:r>
          </a:p>
        </p:txBody>
      </p:sp>
      <p:sp>
        <p:nvSpPr>
          <p:cNvPr name="Freeform 20" id="20" descr="preencoded.png"/>
          <p:cNvSpPr/>
          <p:nvPr/>
        </p:nvSpPr>
        <p:spPr>
          <a:xfrm flipH="false" flipV="false" rot="0">
            <a:off x="4690767" y="4667993"/>
            <a:ext cx="748008" cy="897579"/>
          </a:xfrm>
          <a:custGeom>
            <a:avLst/>
            <a:gdLst/>
            <a:ahLst/>
            <a:cxnLst/>
            <a:rect r="r" b="b" t="t" l="l"/>
            <a:pathLst>
              <a:path h="897579" w="748008">
                <a:moveTo>
                  <a:pt x="0" y="0"/>
                </a:moveTo>
                <a:lnTo>
                  <a:pt x="748008" y="0"/>
                </a:lnTo>
                <a:lnTo>
                  <a:pt x="748008" y="897579"/>
                </a:lnTo>
                <a:lnTo>
                  <a:pt x="0" y="897579"/>
                </a:lnTo>
                <a:lnTo>
                  <a:pt x="0" y="0"/>
                </a:lnTo>
                <a:close/>
              </a:path>
            </a:pathLst>
          </a:custGeom>
          <a:blipFill>
            <a:blip r:embed="rId8"/>
            <a:stretch>
              <a:fillRect l="-424" t="0" r="-424" b="0"/>
            </a:stretch>
          </a:blipFill>
        </p:spPr>
      </p:sp>
      <p:sp>
        <p:nvSpPr>
          <p:cNvPr name="TextBox 21" id="21"/>
          <p:cNvSpPr txBox="true"/>
          <p:nvPr/>
        </p:nvSpPr>
        <p:spPr>
          <a:xfrm rot="0">
            <a:off x="5588346" y="4798514"/>
            <a:ext cx="2407148"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YOLO Model Prediction</a:t>
            </a:r>
          </a:p>
        </p:txBody>
      </p:sp>
      <p:sp>
        <p:nvSpPr>
          <p:cNvPr name="TextBox 22" id="22"/>
          <p:cNvSpPr txBox="true"/>
          <p:nvPr/>
        </p:nvSpPr>
        <p:spPr>
          <a:xfrm rot="0">
            <a:off x="5588346" y="5070129"/>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YOLO model performs object prediction with a confidence threshold of conf = 0.25.</a:t>
            </a:r>
          </a:p>
        </p:txBody>
      </p:sp>
      <p:sp>
        <p:nvSpPr>
          <p:cNvPr name="Freeform 23" id="23" descr="preencoded.png"/>
          <p:cNvSpPr/>
          <p:nvPr/>
        </p:nvSpPr>
        <p:spPr>
          <a:xfrm flipH="false" flipV="false" rot="0">
            <a:off x="4690767" y="5565572"/>
            <a:ext cx="748008" cy="1087488"/>
          </a:xfrm>
          <a:custGeom>
            <a:avLst/>
            <a:gdLst/>
            <a:ahLst/>
            <a:cxnLst/>
            <a:rect r="r" b="b" t="t" l="l"/>
            <a:pathLst>
              <a:path h="1087488" w="748008">
                <a:moveTo>
                  <a:pt x="0" y="0"/>
                </a:moveTo>
                <a:lnTo>
                  <a:pt x="748008" y="0"/>
                </a:lnTo>
                <a:lnTo>
                  <a:pt x="748008" y="1087488"/>
                </a:lnTo>
                <a:lnTo>
                  <a:pt x="0" y="1087488"/>
                </a:lnTo>
                <a:lnTo>
                  <a:pt x="0" y="0"/>
                </a:lnTo>
                <a:close/>
              </a:path>
            </a:pathLst>
          </a:custGeom>
          <a:blipFill>
            <a:blip r:embed="rId9"/>
            <a:stretch>
              <a:fillRect l="-374" t="0" r="-374" b="0"/>
            </a:stretch>
          </a:blipFill>
        </p:spPr>
      </p:sp>
      <p:sp>
        <p:nvSpPr>
          <p:cNvPr name="TextBox 24" id="24"/>
          <p:cNvSpPr txBox="true"/>
          <p:nvPr/>
        </p:nvSpPr>
        <p:spPr>
          <a:xfrm rot="0">
            <a:off x="5588346" y="5696102"/>
            <a:ext cx="2491083"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Detection JSON Output</a:t>
            </a:r>
          </a:p>
        </p:txBody>
      </p:sp>
      <p:sp>
        <p:nvSpPr>
          <p:cNvPr name="TextBox 25" id="25"/>
          <p:cNvSpPr txBox="true"/>
          <p:nvPr/>
        </p:nvSpPr>
        <p:spPr>
          <a:xfrm rot="0">
            <a:off x="5588346" y="5967708"/>
            <a:ext cx="8008734"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Extraction of bounding box (xyxy format), class_id, class_name, and confidence score for each detected object, then formatted as JSON.</a:t>
            </a:r>
          </a:p>
        </p:txBody>
      </p:sp>
      <p:sp>
        <p:nvSpPr>
          <p:cNvPr name="TextBox 26" id="26"/>
          <p:cNvSpPr txBox="true"/>
          <p:nvPr/>
        </p:nvSpPr>
        <p:spPr>
          <a:xfrm rot="0">
            <a:off x="4690767" y="6848770"/>
            <a:ext cx="3214983" cy="292446"/>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Sample Detection Output</a:t>
            </a:r>
          </a:p>
        </p:txBody>
      </p:sp>
      <p:sp>
        <p:nvSpPr>
          <p:cNvPr name="TextBox 27" id="27"/>
          <p:cNvSpPr txBox="true"/>
          <p:nvPr/>
        </p:nvSpPr>
        <p:spPr>
          <a:xfrm rot="0">
            <a:off x="4690767" y="7308352"/>
            <a:ext cx="8906323"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Below is an example of the JSON structure returned by the /infer endpoint for a single detected object:</a:t>
            </a:r>
          </a:p>
        </p:txBody>
      </p:sp>
      <p:grpSp>
        <p:nvGrpSpPr>
          <p:cNvPr name="Group 28" id="28"/>
          <p:cNvGrpSpPr/>
          <p:nvPr/>
        </p:nvGrpSpPr>
        <p:grpSpPr>
          <a:xfrm rot="0">
            <a:off x="4690767" y="7772991"/>
            <a:ext cx="8906323" cy="2617289"/>
            <a:chOff x="0" y="0"/>
            <a:chExt cx="11875097" cy="3489719"/>
          </a:xfrm>
        </p:grpSpPr>
        <p:sp>
          <p:nvSpPr>
            <p:cNvPr name="Freeform 29" id="29"/>
            <p:cNvSpPr/>
            <p:nvPr/>
          </p:nvSpPr>
          <p:spPr>
            <a:xfrm flipH="false" flipV="false" rot="0">
              <a:off x="0" y="0"/>
              <a:ext cx="11875008" cy="3489706"/>
            </a:xfrm>
            <a:custGeom>
              <a:avLst/>
              <a:gdLst/>
              <a:ahLst/>
              <a:cxnLst/>
              <a:rect r="r" b="b" t="t" l="l"/>
              <a:pathLst>
                <a:path h="3489706" w="11875008">
                  <a:moveTo>
                    <a:pt x="0" y="29845"/>
                  </a:moveTo>
                  <a:cubicBezTo>
                    <a:pt x="0" y="13335"/>
                    <a:pt x="13335" y="0"/>
                    <a:pt x="29845" y="0"/>
                  </a:cubicBezTo>
                  <a:lnTo>
                    <a:pt x="11845163" y="0"/>
                  </a:lnTo>
                  <a:cubicBezTo>
                    <a:pt x="11861673" y="0"/>
                    <a:pt x="11875008" y="13335"/>
                    <a:pt x="11875008" y="29845"/>
                  </a:cubicBezTo>
                  <a:lnTo>
                    <a:pt x="11875008" y="3459861"/>
                  </a:lnTo>
                  <a:cubicBezTo>
                    <a:pt x="11875008" y="3476371"/>
                    <a:pt x="11861673" y="3489706"/>
                    <a:pt x="11845163" y="3489706"/>
                  </a:cubicBezTo>
                  <a:lnTo>
                    <a:pt x="29845" y="3489706"/>
                  </a:lnTo>
                  <a:cubicBezTo>
                    <a:pt x="13335" y="3489706"/>
                    <a:pt x="0" y="3476371"/>
                    <a:pt x="0" y="3459861"/>
                  </a:cubicBezTo>
                  <a:close/>
                </a:path>
              </a:pathLst>
            </a:custGeom>
            <a:solidFill>
              <a:srgbClr val="1E3543"/>
            </a:solidFill>
            <a:ln w="12700">
              <a:solidFill>
                <a:srgbClr val="000000"/>
              </a:solidFill>
            </a:ln>
          </p:spPr>
        </p:sp>
      </p:grpSp>
      <p:grpSp>
        <p:nvGrpSpPr>
          <p:cNvPr name="Group 30" id="30"/>
          <p:cNvGrpSpPr/>
          <p:nvPr/>
        </p:nvGrpSpPr>
        <p:grpSpPr>
          <a:xfrm rot="0">
            <a:off x="4683328" y="7772991"/>
            <a:ext cx="8921201" cy="2617289"/>
            <a:chOff x="0" y="0"/>
            <a:chExt cx="11894934" cy="3489719"/>
          </a:xfrm>
        </p:grpSpPr>
        <p:sp>
          <p:nvSpPr>
            <p:cNvPr name="Freeform 31" id="31"/>
            <p:cNvSpPr/>
            <p:nvPr/>
          </p:nvSpPr>
          <p:spPr>
            <a:xfrm flipH="false" flipV="false" rot="0">
              <a:off x="0" y="0"/>
              <a:ext cx="11894820" cy="3489706"/>
            </a:xfrm>
            <a:custGeom>
              <a:avLst/>
              <a:gdLst/>
              <a:ahLst/>
              <a:cxnLst/>
              <a:rect r="r" b="b" t="t" l="l"/>
              <a:pathLst>
                <a:path h="3489706" w="11894820">
                  <a:moveTo>
                    <a:pt x="0" y="29845"/>
                  </a:moveTo>
                  <a:cubicBezTo>
                    <a:pt x="0" y="13335"/>
                    <a:pt x="13335" y="0"/>
                    <a:pt x="29845" y="0"/>
                  </a:cubicBezTo>
                  <a:lnTo>
                    <a:pt x="11864975" y="0"/>
                  </a:lnTo>
                  <a:cubicBezTo>
                    <a:pt x="11881486" y="0"/>
                    <a:pt x="11894820" y="13335"/>
                    <a:pt x="11894820" y="29845"/>
                  </a:cubicBezTo>
                  <a:lnTo>
                    <a:pt x="11894820" y="3459861"/>
                  </a:lnTo>
                  <a:cubicBezTo>
                    <a:pt x="11894820" y="3476371"/>
                    <a:pt x="11881486" y="3489706"/>
                    <a:pt x="11864975" y="3489706"/>
                  </a:cubicBezTo>
                  <a:lnTo>
                    <a:pt x="29845" y="3489706"/>
                  </a:lnTo>
                  <a:cubicBezTo>
                    <a:pt x="13335" y="3489706"/>
                    <a:pt x="0" y="3476371"/>
                    <a:pt x="0" y="3459861"/>
                  </a:cubicBezTo>
                  <a:close/>
                </a:path>
              </a:pathLst>
            </a:custGeom>
            <a:solidFill>
              <a:srgbClr val="1E3543"/>
            </a:solidFill>
            <a:ln w="12700">
              <a:solidFill>
                <a:srgbClr val="000000"/>
              </a:solidFill>
            </a:ln>
          </p:spPr>
        </p:sp>
      </p:grpSp>
      <p:sp>
        <p:nvSpPr>
          <p:cNvPr name="TextBox 32" id="32"/>
          <p:cNvSpPr txBox="true"/>
          <p:nvPr/>
        </p:nvSpPr>
        <p:spPr>
          <a:xfrm rot="0">
            <a:off x="4832899" y="7808862"/>
            <a:ext cx="8622059" cy="2469356"/>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a:t>
            </a:r>
          </a:p>
          <a:p>
            <a:pPr algn="l">
              <a:lnSpc>
                <a:spcPts val="1874"/>
              </a:lnSpc>
            </a:pPr>
            <a:r>
              <a:rPr lang="en-US" sz="1124">
                <a:solidFill>
                  <a:srgbClr val="CAD6DE"/>
                </a:solidFill>
                <a:latin typeface="Consolas"/>
                <a:ea typeface="Consolas"/>
                <a:cs typeface="Consolas"/>
                <a:sym typeface="Consolas"/>
              </a:rPr>
              <a:t>  "detections":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"bbox_xyxy": [150.2, 200.5, 300.8, 450.1],</a:t>
            </a:r>
          </a:p>
          <a:p>
            <a:pPr algn="l">
              <a:lnSpc>
                <a:spcPts val="1874"/>
              </a:lnSpc>
            </a:pPr>
            <a:r>
              <a:rPr lang="en-US" sz="1124">
                <a:solidFill>
                  <a:srgbClr val="CAD6DE"/>
                </a:solidFill>
                <a:latin typeface="Consolas"/>
                <a:ea typeface="Consolas"/>
                <a:cs typeface="Consolas"/>
                <a:sym typeface="Consolas"/>
              </a:rPr>
              <a:t>      "class_id": 0,</a:t>
            </a:r>
          </a:p>
          <a:p>
            <a:pPr algn="l">
              <a:lnSpc>
                <a:spcPts val="1874"/>
              </a:lnSpc>
            </a:pPr>
            <a:r>
              <a:rPr lang="en-US" sz="1124">
                <a:solidFill>
                  <a:srgbClr val="CAD6DE"/>
                </a:solidFill>
                <a:latin typeface="Consolas"/>
                <a:ea typeface="Consolas"/>
                <a:cs typeface="Consolas"/>
                <a:sym typeface="Consolas"/>
              </a:rPr>
              <a:t>      "class_name": "clear_bottle",</a:t>
            </a:r>
          </a:p>
          <a:p>
            <a:pPr algn="l">
              <a:lnSpc>
                <a:spcPts val="1874"/>
              </a:lnSpc>
            </a:pPr>
            <a:r>
              <a:rPr lang="en-US" sz="1124">
                <a:solidFill>
                  <a:srgbClr val="CAD6DE"/>
                </a:solidFill>
                <a:latin typeface="Consolas"/>
                <a:ea typeface="Consolas"/>
                <a:cs typeface="Consolas"/>
                <a:sym typeface="Consolas"/>
              </a:rPr>
              <a:t>      "confidence": 0.987</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4690767" y="411366"/>
            <a:ext cx="1210713" cy="280988"/>
            <a:chOff x="0" y="0"/>
            <a:chExt cx="1614284" cy="374650"/>
          </a:xfrm>
        </p:grpSpPr>
        <p:sp>
          <p:nvSpPr>
            <p:cNvPr name="Freeform 7" id="7"/>
            <p:cNvSpPr/>
            <p:nvPr/>
          </p:nvSpPr>
          <p:spPr>
            <a:xfrm flipH="false" flipV="false" rot="0">
              <a:off x="0" y="0"/>
              <a:ext cx="1614170" cy="374650"/>
            </a:xfrm>
            <a:custGeom>
              <a:avLst/>
              <a:gdLst/>
              <a:ahLst/>
              <a:cxnLst/>
              <a:rect r="r" b="b" t="t" l="l"/>
              <a:pathLst>
                <a:path h="374650" w="1614170">
                  <a:moveTo>
                    <a:pt x="0" y="23876"/>
                  </a:moveTo>
                  <a:cubicBezTo>
                    <a:pt x="0" y="10668"/>
                    <a:pt x="10668" y="0"/>
                    <a:pt x="23876" y="0"/>
                  </a:cubicBezTo>
                  <a:lnTo>
                    <a:pt x="1590294" y="0"/>
                  </a:lnTo>
                  <a:cubicBezTo>
                    <a:pt x="1603502" y="0"/>
                    <a:pt x="1614170" y="10668"/>
                    <a:pt x="1614170" y="23876"/>
                  </a:cubicBezTo>
                  <a:lnTo>
                    <a:pt x="1614170" y="350774"/>
                  </a:lnTo>
                  <a:cubicBezTo>
                    <a:pt x="1614170" y="363982"/>
                    <a:pt x="1603502" y="374650"/>
                    <a:pt x="1590294" y="374650"/>
                  </a:cubicBezTo>
                  <a:lnTo>
                    <a:pt x="23876" y="374650"/>
                  </a:lnTo>
                  <a:cubicBezTo>
                    <a:pt x="10668" y="374650"/>
                    <a:pt x="0" y="363982"/>
                    <a:pt x="0" y="350774"/>
                  </a:cubicBezTo>
                  <a:close/>
                </a:path>
              </a:pathLst>
            </a:custGeom>
            <a:solidFill>
              <a:srgbClr val="054842"/>
            </a:solidFill>
            <a:ln w="12700">
              <a:solidFill>
                <a:srgbClr val="000000"/>
              </a:solidFill>
            </a:ln>
          </p:spPr>
        </p:sp>
      </p:grpSp>
      <p:sp>
        <p:nvSpPr>
          <p:cNvPr name="TextBox 8" id="8"/>
          <p:cNvSpPr txBox="true"/>
          <p:nvPr/>
        </p:nvSpPr>
        <p:spPr>
          <a:xfrm rot="0">
            <a:off x="4780512" y="418062"/>
            <a:ext cx="1031234" cy="229495"/>
          </a:xfrm>
          <a:prstGeom prst="rect">
            <a:avLst/>
          </a:prstGeom>
        </p:spPr>
        <p:txBody>
          <a:bodyPr anchor="t" rtlCol="false" tIns="0" lIns="0" bIns="0" rIns="0">
            <a:spAutoFit/>
          </a:bodyPr>
          <a:lstStyle/>
          <a:p>
            <a:pPr algn="l">
              <a:lnSpc>
                <a:spcPts val="1500"/>
              </a:lnSpc>
            </a:pPr>
            <a:r>
              <a:rPr lang="en-US" sz="937">
                <a:solidFill>
                  <a:srgbClr val="CAD6DE"/>
                </a:solidFill>
                <a:latin typeface="Cabin"/>
                <a:ea typeface="Cabin"/>
                <a:cs typeface="Cabin"/>
                <a:sym typeface="Cabin"/>
              </a:rPr>
              <a:t>DATA ENRICHMENT</a:t>
            </a:r>
          </a:p>
        </p:txBody>
      </p:sp>
      <p:sp>
        <p:nvSpPr>
          <p:cNvPr name="TextBox 9" id="9"/>
          <p:cNvSpPr txBox="true"/>
          <p:nvPr/>
        </p:nvSpPr>
        <p:spPr>
          <a:xfrm rot="0">
            <a:off x="4690767" y="723605"/>
            <a:ext cx="7867802" cy="380552"/>
          </a:xfrm>
          <a:prstGeom prst="rect">
            <a:avLst/>
          </a:prstGeom>
        </p:spPr>
        <p:txBody>
          <a:bodyPr anchor="t" rtlCol="false" tIns="0" lIns="0" bIns="0" rIns="0">
            <a:spAutoFit/>
          </a:bodyPr>
          <a:lstStyle/>
          <a:p>
            <a:pPr algn="l">
              <a:lnSpc>
                <a:spcPts val="2750"/>
              </a:lnSpc>
            </a:pPr>
            <a:r>
              <a:rPr lang="en-US" sz="2187">
                <a:solidFill>
                  <a:srgbClr val="FFFFFF"/>
                </a:solidFill>
                <a:latin typeface="Arimo"/>
                <a:ea typeface="Arimo"/>
                <a:cs typeface="Arimo"/>
                <a:sym typeface="Arimo"/>
              </a:rPr>
              <a:t>ML Service: Rule-Based Enrichment (`/colorpet`)</a:t>
            </a:r>
          </a:p>
        </p:txBody>
      </p:sp>
      <p:sp>
        <p:nvSpPr>
          <p:cNvPr name="TextBox 10" id="10"/>
          <p:cNvSpPr txBox="true"/>
          <p:nvPr/>
        </p:nvSpPr>
        <p:spPr>
          <a:xfrm rot="0">
            <a:off x="4690767" y="1271292"/>
            <a:ext cx="8906323"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/colorpet endpoint provides a crucial rule-based data enrichment step, appending vital classification information to each detected bottle without the need for additional machine learning inference. It leverages predefined dictionaries established during service initialization to quickly determine bottle color and PET recyclability status.</a:t>
            </a:r>
          </a:p>
        </p:txBody>
      </p:sp>
      <p:grpSp>
        <p:nvGrpSpPr>
          <p:cNvPr name="Group 11" id="11"/>
          <p:cNvGrpSpPr/>
          <p:nvPr/>
        </p:nvGrpSpPr>
        <p:grpSpPr>
          <a:xfrm rot="0">
            <a:off x="4681242" y="2205038"/>
            <a:ext cx="2888009" cy="1383954"/>
            <a:chOff x="0" y="0"/>
            <a:chExt cx="3850678" cy="1845272"/>
          </a:xfrm>
        </p:grpSpPr>
        <p:sp>
          <p:nvSpPr>
            <p:cNvPr name="Freeform 12" id="12"/>
            <p:cNvSpPr/>
            <p:nvPr/>
          </p:nvSpPr>
          <p:spPr>
            <a:xfrm flipH="false" flipV="false" rot="0">
              <a:off x="12700" y="12700"/>
              <a:ext cx="3825240" cy="1819910"/>
            </a:xfrm>
            <a:custGeom>
              <a:avLst/>
              <a:gdLst/>
              <a:ahLst/>
              <a:cxnLst/>
              <a:rect r="r" b="b" t="t" l="l"/>
              <a:pathLst>
                <a:path h="1819910" w="3825240">
                  <a:moveTo>
                    <a:pt x="0" y="29972"/>
                  </a:moveTo>
                  <a:cubicBezTo>
                    <a:pt x="0" y="13335"/>
                    <a:pt x="13462" y="0"/>
                    <a:pt x="30099" y="0"/>
                  </a:cubicBezTo>
                  <a:lnTo>
                    <a:pt x="3795141" y="0"/>
                  </a:lnTo>
                  <a:cubicBezTo>
                    <a:pt x="3811778" y="0"/>
                    <a:pt x="3825240" y="13335"/>
                    <a:pt x="3825240" y="29972"/>
                  </a:cubicBezTo>
                  <a:lnTo>
                    <a:pt x="3825240" y="1789938"/>
                  </a:lnTo>
                  <a:cubicBezTo>
                    <a:pt x="3825240" y="1806448"/>
                    <a:pt x="3811778" y="1819910"/>
                    <a:pt x="3795141" y="1819910"/>
                  </a:cubicBezTo>
                  <a:lnTo>
                    <a:pt x="30099" y="1819910"/>
                  </a:lnTo>
                  <a:cubicBezTo>
                    <a:pt x="13462" y="1819910"/>
                    <a:pt x="0" y="1806575"/>
                    <a:pt x="0" y="1789938"/>
                  </a:cubicBezTo>
                  <a:close/>
                </a:path>
              </a:pathLst>
            </a:custGeom>
            <a:solidFill>
              <a:srgbClr val="112836"/>
            </a:solidFill>
            <a:ln w="12700">
              <a:solidFill>
                <a:srgbClr val="000000"/>
              </a:solidFill>
            </a:ln>
          </p:spPr>
        </p:sp>
        <p:sp>
          <p:nvSpPr>
            <p:cNvPr name="Freeform 13" id="13"/>
            <p:cNvSpPr/>
            <p:nvPr/>
          </p:nvSpPr>
          <p:spPr>
            <a:xfrm flipH="false" flipV="false" rot="0">
              <a:off x="0" y="0"/>
              <a:ext cx="3850640" cy="1845310"/>
            </a:xfrm>
            <a:custGeom>
              <a:avLst/>
              <a:gdLst/>
              <a:ahLst/>
              <a:cxnLst/>
              <a:rect r="r" b="b" t="t" l="l"/>
              <a:pathLst>
                <a:path h="1845310" w="3850640">
                  <a:moveTo>
                    <a:pt x="0" y="42672"/>
                  </a:moveTo>
                  <a:cubicBezTo>
                    <a:pt x="0" y="19050"/>
                    <a:pt x="19304" y="0"/>
                    <a:pt x="42799" y="0"/>
                  </a:cubicBezTo>
                  <a:lnTo>
                    <a:pt x="3807841" y="0"/>
                  </a:lnTo>
                  <a:lnTo>
                    <a:pt x="3807841" y="12700"/>
                  </a:lnTo>
                  <a:lnTo>
                    <a:pt x="3807841" y="0"/>
                  </a:lnTo>
                  <a:cubicBezTo>
                    <a:pt x="3831463" y="0"/>
                    <a:pt x="3850640" y="19050"/>
                    <a:pt x="3850640" y="42672"/>
                  </a:cubicBezTo>
                  <a:lnTo>
                    <a:pt x="3837940" y="42672"/>
                  </a:lnTo>
                  <a:lnTo>
                    <a:pt x="3850640" y="42672"/>
                  </a:lnTo>
                  <a:lnTo>
                    <a:pt x="3850640" y="1802638"/>
                  </a:lnTo>
                  <a:lnTo>
                    <a:pt x="3837940" y="1802638"/>
                  </a:lnTo>
                  <a:lnTo>
                    <a:pt x="3850640" y="1802638"/>
                  </a:lnTo>
                  <a:cubicBezTo>
                    <a:pt x="3850640" y="1826260"/>
                    <a:pt x="3831336" y="1845310"/>
                    <a:pt x="3807841" y="1845310"/>
                  </a:cubicBezTo>
                  <a:lnTo>
                    <a:pt x="3807841" y="1832610"/>
                  </a:lnTo>
                  <a:lnTo>
                    <a:pt x="3807841" y="1845310"/>
                  </a:lnTo>
                  <a:lnTo>
                    <a:pt x="42799" y="1845310"/>
                  </a:lnTo>
                  <a:lnTo>
                    <a:pt x="42799" y="1832610"/>
                  </a:lnTo>
                  <a:lnTo>
                    <a:pt x="42799" y="1845310"/>
                  </a:lnTo>
                  <a:cubicBezTo>
                    <a:pt x="19177" y="1845310"/>
                    <a:pt x="0" y="1826260"/>
                    <a:pt x="0" y="1802638"/>
                  </a:cubicBezTo>
                  <a:lnTo>
                    <a:pt x="0" y="42672"/>
                  </a:lnTo>
                  <a:lnTo>
                    <a:pt x="12700" y="42672"/>
                  </a:lnTo>
                  <a:lnTo>
                    <a:pt x="0" y="42672"/>
                  </a:lnTo>
                  <a:moveTo>
                    <a:pt x="25400" y="42672"/>
                  </a:moveTo>
                  <a:lnTo>
                    <a:pt x="25400" y="1802638"/>
                  </a:lnTo>
                  <a:lnTo>
                    <a:pt x="12700" y="1802638"/>
                  </a:lnTo>
                  <a:lnTo>
                    <a:pt x="25400" y="1802638"/>
                  </a:lnTo>
                  <a:cubicBezTo>
                    <a:pt x="25400" y="1812036"/>
                    <a:pt x="33147" y="1819910"/>
                    <a:pt x="42799" y="1819910"/>
                  </a:cubicBezTo>
                  <a:lnTo>
                    <a:pt x="3807841" y="1819910"/>
                  </a:lnTo>
                  <a:cubicBezTo>
                    <a:pt x="3817620" y="1819910"/>
                    <a:pt x="3825240" y="1812163"/>
                    <a:pt x="3825240" y="1802638"/>
                  </a:cubicBezTo>
                  <a:lnTo>
                    <a:pt x="3825240" y="42672"/>
                  </a:lnTo>
                  <a:cubicBezTo>
                    <a:pt x="3825240" y="33274"/>
                    <a:pt x="3817493" y="25400"/>
                    <a:pt x="3807841" y="25400"/>
                  </a:cubicBezTo>
                  <a:lnTo>
                    <a:pt x="42799" y="25400"/>
                  </a:lnTo>
                  <a:lnTo>
                    <a:pt x="42799" y="12700"/>
                  </a:lnTo>
                  <a:lnTo>
                    <a:pt x="42799" y="25400"/>
                  </a:lnTo>
                  <a:cubicBezTo>
                    <a:pt x="33147" y="25400"/>
                    <a:pt x="25400" y="33147"/>
                    <a:pt x="25400" y="42672"/>
                  </a:cubicBezTo>
                  <a:close/>
                </a:path>
              </a:pathLst>
            </a:custGeom>
            <a:solidFill>
              <a:srgbClr val="49606E"/>
            </a:solidFill>
            <a:ln w="12700">
              <a:solidFill>
                <a:srgbClr val="000000"/>
              </a:solidFill>
            </a:ln>
          </p:spPr>
        </p:sp>
      </p:grpSp>
      <p:sp>
        <p:nvSpPr>
          <p:cNvPr name="TextBox 14" id="14"/>
          <p:cNvSpPr txBox="true"/>
          <p:nvPr/>
        </p:nvSpPr>
        <p:spPr>
          <a:xfrm rot="0">
            <a:off x="4859388" y="2364134"/>
            <a:ext cx="2123037"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Rule-Based Lookups</a:t>
            </a:r>
          </a:p>
        </p:txBody>
      </p:sp>
      <p:sp>
        <p:nvSpPr>
          <p:cNvPr name="TextBox 15" id="15"/>
          <p:cNvSpPr txBox="true"/>
          <p:nvPr/>
        </p:nvSpPr>
        <p:spPr>
          <a:xfrm rot="0">
            <a:off x="4859388" y="2635748"/>
            <a:ext cx="2531716"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No model re-running required; classification is performed via efficient rule-based lookups.</a:t>
            </a:r>
          </a:p>
        </p:txBody>
      </p:sp>
      <p:grpSp>
        <p:nvGrpSpPr>
          <p:cNvPr name="Group 16" id="16"/>
          <p:cNvGrpSpPr/>
          <p:nvPr/>
        </p:nvGrpSpPr>
        <p:grpSpPr>
          <a:xfrm rot="0">
            <a:off x="7699772" y="2205038"/>
            <a:ext cx="2888161" cy="1383954"/>
            <a:chOff x="0" y="0"/>
            <a:chExt cx="3850881" cy="1845272"/>
          </a:xfrm>
        </p:grpSpPr>
        <p:sp>
          <p:nvSpPr>
            <p:cNvPr name="Freeform 17" id="17"/>
            <p:cNvSpPr/>
            <p:nvPr/>
          </p:nvSpPr>
          <p:spPr>
            <a:xfrm flipH="false" flipV="false" rot="0">
              <a:off x="12700" y="12700"/>
              <a:ext cx="3825494" cy="1819910"/>
            </a:xfrm>
            <a:custGeom>
              <a:avLst/>
              <a:gdLst/>
              <a:ahLst/>
              <a:cxnLst/>
              <a:rect r="r" b="b" t="t" l="l"/>
              <a:pathLst>
                <a:path h="1819910" w="3825494">
                  <a:moveTo>
                    <a:pt x="0" y="29972"/>
                  </a:moveTo>
                  <a:cubicBezTo>
                    <a:pt x="0" y="13335"/>
                    <a:pt x="13462" y="0"/>
                    <a:pt x="30099" y="0"/>
                  </a:cubicBezTo>
                  <a:lnTo>
                    <a:pt x="3795395" y="0"/>
                  </a:lnTo>
                  <a:cubicBezTo>
                    <a:pt x="3812032" y="0"/>
                    <a:pt x="3825494" y="13335"/>
                    <a:pt x="3825494" y="29972"/>
                  </a:cubicBezTo>
                  <a:lnTo>
                    <a:pt x="3825494" y="1789938"/>
                  </a:lnTo>
                  <a:cubicBezTo>
                    <a:pt x="3825494" y="1806448"/>
                    <a:pt x="3812032" y="1819910"/>
                    <a:pt x="3795395" y="1819910"/>
                  </a:cubicBezTo>
                  <a:lnTo>
                    <a:pt x="30099" y="1819910"/>
                  </a:lnTo>
                  <a:cubicBezTo>
                    <a:pt x="13462" y="1819910"/>
                    <a:pt x="0" y="1806575"/>
                    <a:pt x="0" y="1789938"/>
                  </a:cubicBezTo>
                  <a:close/>
                </a:path>
              </a:pathLst>
            </a:custGeom>
            <a:solidFill>
              <a:srgbClr val="112836"/>
            </a:solidFill>
            <a:ln w="12700">
              <a:solidFill>
                <a:srgbClr val="000000"/>
              </a:solidFill>
            </a:ln>
          </p:spPr>
        </p:sp>
        <p:sp>
          <p:nvSpPr>
            <p:cNvPr name="Freeform 18" id="18"/>
            <p:cNvSpPr/>
            <p:nvPr/>
          </p:nvSpPr>
          <p:spPr>
            <a:xfrm flipH="false" flipV="false" rot="0">
              <a:off x="0" y="0"/>
              <a:ext cx="3850894" cy="1845310"/>
            </a:xfrm>
            <a:custGeom>
              <a:avLst/>
              <a:gdLst/>
              <a:ahLst/>
              <a:cxnLst/>
              <a:rect r="r" b="b" t="t" l="l"/>
              <a:pathLst>
                <a:path h="1845310" w="3850894">
                  <a:moveTo>
                    <a:pt x="0" y="42672"/>
                  </a:moveTo>
                  <a:cubicBezTo>
                    <a:pt x="0" y="19050"/>
                    <a:pt x="19304" y="0"/>
                    <a:pt x="42799" y="0"/>
                  </a:cubicBezTo>
                  <a:lnTo>
                    <a:pt x="3808095" y="0"/>
                  </a:lnTo>
                  <a:lnTo>
                    <a:pt x="3808095" y="12700"/>
                  </a:lnTo>
                  <a:lnTo>
                    <a:pt x="3808095" y="0"/>
                  </a:lnTo>
                  <a:cubicBezTo>
                    <a:pt x="3831717" y="0"/>
                    <a:pt x="3850894" y="19050"/>
                    <a:pt x="3850894" y="42672"/>
                  </a:cubicBezTo>
                  <a:lnTo>
                    <a:pt x="3838194" y="42672"/>
                  </a:lnTo>
                  <a:lnTo>
                    <a:pt x="3850894" y="42672"/>
                  </a:lnTo>
                  <a:lnTo>
                    <a:pt x="3850894" y="1802638"/>
                  </a:lnTo>
                  <a:lnTo>
                    <a:pt x="3838194" y="1802638"/>
                  </a:lnTo>
                  <a:lnTo>
                    <a:pt x="3850894" y="1802638"/>
                  </a:lnTo>
                  <a:cubicBezTo>
                    <a:pt x="3850894" y="1826260"/>
                    <a:pt x="3831590" y="1845310"/>
                    <a:pt x="3808095" y="1845310"/>
                  </a:cubicBezTo>
                  <a:lnTo>
                    <a:pt x="3808095" y="1832610"/>
                  </a:lnTo>
                  <a:lnTo>
                    <a:pt x="3808095" y="1845310"/>
                  </a:lnTo>
                  <a:lnTo>
                    <a:pt x="42799" y="1845310"/>
                  </a:lnTo>
                  <a:lnTo>
                    <a:pt x="42799" y="1832610"/>
                  </a:lnTo>
                  <a:lnTo>
                    <a:pt x="42799" y="1845310"/>
                  </a:lnTo>
                  <a:cubicBezTo>
                    <a:pt x="19177" y="1845310"/>
                    <a:pt x="0" y="1826260"/>
                    <a:pt x="0" y="1802638"/>
                  </a:cubicBezTo>
                  <a:lnTo>
                    <a:pt x="0" y="42672"/>
                  </a:lnTo>
                  <a:lnTo>
                    <a:pt x="12700" y="42672"/>
                  </a:lnTo>
                  <a:lnTo>
                    <a:pt x="0" y="42672"/>
                  </a:lnTo>
                  <a:moveTo>
                    <a:pt x="25400" y="42672"/>
                  </a:moveTo>
                  <a:lnTo>
                    <a:pt x="25400" y="1802638"/>
                  </a:lnTo>
                  <a:lnTo>
                    <a:pt x="12700" y="1802638"/>
                  </a:lnTo>
                  <a:lnTo>
                    <a:pt x="25400" y="1802638"/>
                  </a:lnTo>
                  <a:cubicBezTo>
                    <a:pt x="25400" y="1812036"/>
                    <a:pt x="33147" y="1819910"/>
                    <a:pt x="42799" y="1819910"/>
                  </a:cubicBezTo>
                  <a:lnTo>
                    <a:pt x="3808095" y="1819910"/>
                  </a:lnTo>
                  <a:cubicBezTo>
                    <a:pt x="3817874" y="1819910"/>
                    <a:pt x="3825494" y="1812163"/>
                    <a:pt x="3825494" y="1802638"/>
                  </a:cubicBezTo>
                  <a:lnTo>
                    <a:pt x="3825494" y="42672"/>
                  </a:lnTo>
                  <a:cubicBezTo>
                    <a:pt x="3825494" y="33274"/>
                    <a:pt x="3817747" y="25400"/>
                    <a:pt x="3808095" y="25400"/>
                  </a:cubicBezTo>
                  <a:lnTo>
                    <a:pt x="42799" y="25400"/>
                  </a:lnTo>
                  <a:lnTo>
                    <a:pt x="42799" y="12700"/>
                  </a:lnTo>
                  <a:lnTo>
                    <a:pt x="42799" y="25400"/>
                  </a:lnTo>
                  <a:cubicBezTo>
                    <a:pt x="33147" y="25400"/>
                    <a:pt x="25400" y="33147"/>
                    <a:pt x="25400" y="42672"/>
                  </a:cubicBezTo>
                  <a:close/>
                </a:path>
              </a:pathLst>
            </a:custGeom>
            <a:solidFill>
              <a:srgbClr val="49606E"/>
            </a:solidFill>
            <a:ln w="12700">
              <a:solidFill>
                <a:srgbClr val="000000"/>
              </a:solidFill>
            </a:ln>
          </p:spPr>
        </p:sp>
      </p:grpSp>
      <p:sp>
        <p:nvSpPr>
          <p:cNvPr name="TextBox 19" id="19"/>
          <p:cNvSpPr txBox="true"/>
          <p:nvPr/>
        </p:nvSpPr>
        <p:spPr>
          <a:xfrm rot="0">
            <a:off x="7877918" y="2364134"/>
            <a:ext cx="2453878"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Predefined Dictionaries</a:t>
            </a:r>
          </a:p>
        </p:txBody>
      </p:sp>
      <p:sp>
        <p:nvSpPr>
          <p:cNvPr name="TextBox 20" id="20"/>
          <p:cNvSpPr txBox="true"/>
          <p:nvPr/>
        </p:nvSpPr>
        <p:spPr>
          <a:xfrm rot="0">
            <a:off x="7877918" y="2635748"/>
            <a:ext cx="2531859"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Utilizes predefined dictionaries for accurate bottle color mapping (e.g., 'clear', 'green', 'blue').</a:t>
            </a:r>
          </a:p>
        </p:txBody>
      </p:sp>
      <p:grpSp>
        <p:nvGrpSpPr>
          <p:cNvPr name="Group 21" id="21"/>
          <p:cNvGrpSpPr/>
          <p:nvPr/>
        </p:nvGrpSpPr>
        <p:grpSpPr>
          <a:xfrm rot="0">
            <a:off x="10718454" y="2205038"/>
            <a:ext cx="2888009" cy="1383954"/>
            <a:chOff x="0" y="0"/>
            <a:chExt cx="3850678" cy="1845272"/>
          </a:xfrm>
        </p:grpSpPr>
        <p:sp>
          <p:nvSpPr>
            <p:cNvPr name="Freeform 22" id="22"/>
            <p:cNvSpPr/>
            <p:nvPr/>
          </p:nvSpPr>
          <p:spPr>
            <a:xfrm flipH="false" flipV="false" rot="0">
              <a:off x="12700" y="12700"/>
              <a:ext cx="3825240" cy="1819910"/>
            </a:xfrm>
            <a:custGeom>
              <a:avLst/>
              <a:gdLst/>
              <a:ahLst/>
              <a:cxnLst/>
              <a:rect r="r" b="b" t="t" l="l"/>
              <a:pathLst>
                <a:path h="1819910" w="3825240">
                  <a:moveTo>
                    <a:pt x="0" y="29972"/>
                  </a:moveTo>
                  <a:cubicBezTo>
                    <a:pt x="0" y="13335"/>
                    <a:pt x="13462" y="0"/>
                    <a:pt x="30099" y="0"/>
                  </a:cubicBezTo>
                  <a:lnTo>
                    <a:pt x="3795141" y="0"/>
                  </a:lnTo>
                  <a:cubicBezTo>
                    <a:pt x="3811778" y="0"/>
                    <a:pt x="3825240" y="13335"/>
                    <a:pt x="3825240" y="29972"/>
                  </a:cubicBezTo>
                  <a:lnTo>
                    <a:pt x="3825240" y="1789938"/>
                  </a:lnTo>
                  <a:cubicBezTo>
                    <a:pt x="3825240" y="1806448"/>
                    <a:pt x="3811778" y="1819910"/>
                    <a:pt x="3795141" y="1819910"/>
                  </a:cubicBezTo>
                  <a:lnTo>
                    <a:pt x="30099" y="1819910"/>
                  </a:lnTo>
                  <a:cubicBezTo>
                    <a:pt x="13462" y="1819910"/>
                    <a:pt x="0" y="1806575"/>
                    <a:pt x="0" y="1789938"/>
                  </a:cubicBezTo>
                  <a:close/>
                </a:path>
              </a:pathLst>
            </a:custGeom>
            <a:solidFill>
              <a:srgbClr val="112836"/>
            </a:solidFill>
            <a:ln w="12700">
              <a:solidFill>
                <a:srgbClr val="000000"/>
              </a:solidFill>
            </a:ln>
          </p:spPr>
        </p:sp>
        <p:sp>
          <p:nvSpPr>
            <p:cNvPr name="Freeform 23" id="23"/>
            <p:cNvSpPr/>
            <p:nvPr/>
          </p:nvSpPr>
          <p:spPr>
            <a:xfrm flipH="false" flipV="false" rot="0">
              <a:off x="0" y="0"/>
              <a:ext cx="3850640" cy="1845310"/>
            </a:xfrm>
            <a:custGeom>
              <a:avLst/>
              <a:gdLst/>
              <a:ahLst/>
              <a:cxnLst/>
              <a:rect r="r" b="b" t="t" l="l"/>
              <a:pathLst>
                <a:path h="1845310" w="3850640">
                  <a:moveTo>
                    <a:pt x="0" y="42672"/>
                  </a:moveTo>
                  <a:cubicBezTo>
                    <a:pt x="0" y="19050"/>
                    <a:pt x="19304" y="0"/>
                    <a:pt x="42799" y="0"/>
                  </a:cubicBezTo>
                  <a:lnTo>
                    <a:pt x="3807841" y="0"/>
                  </a:lnTo>
                  <a:lnTo>
                    <a:pt x="3807841" y="12700"/>
                  </a:lnTo>
                  <a:lnTo>
                    <a:pt x="3807841" y="0"/>
                  </a:lnTo>
                  <a:cubicBezTo>
                    <a:pt x="3831463" y="0"/>
                    <a:pt x="3850640" y="19050"/>
                    <a:pt x="3850640" y="42672"/>
                  </a:cubicBezTo>
                  <a:lnTo>
                    <a:pt x="3837940" y="42672"/>
                  </a:lnTo>
                  <a:lnTo>
                    <a:pt x="3850640" y="42672"/>
                  </a:lnTo>
                  <a:lnTo>
                    <a:pt x="3850640" y="1802638"/>
                  </a:lnTo>
                  <a:lnTo>
                    <a:pt x="3837940" y="1802638"/>
                  </a:lnTo>
                  <a:lnTo>
                    <a:pt x="3850640" y="1802638"/>
                  </a:lnTo>
                  <a:cubicBezTo>
                    <a:pt x="3850640" y="1826260"/>
                    <a:pt x="3831336" y="1845310"/>
                    <a:pt x="3807841" y="1845310"/>
                  </a:cubicBezTo>
                  <a:lnTo>
                    <a:pt x="3807841" y="1832610"/>
                  </a:lnTo>
                  <a:lnTo>
                    <a:pt x="3807841" y="1845310"/>
                  </a:lnTo>
                  <a:lnTo>
                    <a:pt x="42799" y="1845310"/>
                  </a:lnTo>
                  <a:lnTo>
                    <a:pt x="42799" y="1832610"/>
                  </a:lnTo>
                  <a:lnTo>
                    <a:pt x="42799" y="1845310"/>
                  </a:lnTo>
                  <a:cubicBezTo>
                    <a:pt x="19177" y="1845310"/>
                    <a:pt x="0" y="1826260"/>
                    <a:pt x="0" y="1802638"/>
                  </a:cubicBezTo>
                  <a:lnTo>
                    <a:pt x="0" y="42672"/>
                  </a:lnTo>
                  <a:lnTo>
                    <a:pt x="12700" y="42672"/>
                  </a:lnTo>
                  <a:lnTo>
                    <a:pt x="0" y="42672"/>
                  </a:lnTo>
                  <a:moveTo>
                    <a:pt x="25400" y="42672"/>
                  </a:moveTo>
                  <a:lnTo>
                    <a:pt x="25400" y="1802638"/>
                  </a:lnTo>
                  <a:lnTo>
                    <a:pt x="12700" y="1802638"/>
                  </a:lnTo>
                  <a:lnTo>
                    <a:pt x="25400" y="1802638"/>
                  </a:lnTo>
                  <a:cubicBezTo>
                    <a:pt x="25400" y="1812036"/>
                    <a:pt x="33147" y="1819910"/>
                    <a:pt x="42799" y="1819910"/>
                  </a:cubicBezTo>
                  <a:lnTo>
                    <a:pt x="3807841" y="1819910"/>
                  </a:lnTo>
                  <a:cubicBezTo>
                    <a:pt x="3817620" y="1819910"/>
                    <a:pt x="3825240" y="1812163"/>
                    <a:pt x="3825240" y="1802638"/>
                  </a:cubicBezTo>
                  <a:lnTo>
                    <a:pt x="3825240" y="42672"/>
                  </a:lnTo>
                  <a:cubicBezTo>
                    <a:pt x="3825240" y="33274"/>
                    <a:pt x="3817493" y="25400"/>
                    <a:pt x="3807841" y="25400"/>
                  </a:cubicBezTo>
                  <a:lnTo>
                    <a:pt x="42799" y="25400"/>
                  </a:lnTo>
                  <a:lnTo>
                    <a:pt x="42799" y="12700"/>
                  </a:lnTo>
                  <a:lnTo>
                    <a:pt x="42799" y="25400"/>
                  </a:lnTo>
                  <a:cubicBezTo>
                    <a:pt x="33147" y="25400"/>
                    <a:pt x="25400" y="33147"/>
                    <a:pt x="25400" y="42672"/>
                  </a:cubicBezTo>
                  <a:close/>
                </a:path>
              </a:pathLst>
            </a:custGeom>
            <a:solidFill>
              <a:srgbClr val="49606E"/>
            </a:solidFill>
            <a:ln w="12700">
              <a:solidFill>
                <a:srgbClr val="000000"/>
              </a:solidFill>
            </a:ln>
          </p:spPr>
        </p:sp>
      </p:grpSp>
      <p:sp>
        <p:nvSpPr>
          <p:cNvPr name="TextBox 24" id="24"/>
          <p:cNvSpPr txBox="true"/>
          <p:nvPr/>
        </p:nvSpPr>
        <p:spPr>
          <a:xfrm rot="0">
            <a:off x="10896600" y="2364134"/>
            <a:ext cx="1901581"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PET Classification</a:t>
            </a:r>
          </a:p>
        </p:txBody>
      </p:sp>
      <p:sp>
        <p:nvSpPr>
          <p:cNvPr name="TextBox 25" id="25"/>
          <p:cNvSpPr txBox="true"/>
          <p:nvPr/>
        </p:nvSpPr>
        <p:spPr>
          <a:xfrm rot="0">
            <a:off x="10896600" y="2635748"/>
            <a:ext cx="2531716"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Employs predefined dictionaries for binary PET classification (is_pet: true/false).</a:t>
            </a:r>
          </a:p>
        </p:txBody>
      </p:sp>
      <p:grpSp>
        <p:nvGrpSpPr>
          <p:cNvPr name="Group 26" id="26"/>
          <p:cNvGrpSpPr/>
          <p:nvPr/>
        </p:nvGrpSpPr>
        <p:grpSpPr>
          <a:xfrm rot="0">
            <a:off x="4681242" y="3719512"/>
            <a:ext cx="4397273" cy="1154163"/>
            <a:chOff x="0" y="0"/>
            <a:chExt cx="5863031" cy="1538884"/>
          </a:xfrm>
        </p:grpSpPr>
        <p:sp>
          <p:nvSpPr>
            <p:cNvPr name="Freeform 27" id="27"/>
            <p:cNvSpPr/>
            <p:nvPr/>
          </p:nvSpPr>
          <p:spPr>
            <a:xfrm flipH="false" flipV="false" rot="0">
              <a:off x="12700" y="12700"/>
              <a:ext cx="5837682" cy="1513586"/>
            </a:xfrm>
            <a:custGeom>
              <a:avLst/>
              <a:gdLst/>
              <a:ahLst/>
              <a:cxnLst/>
              <a:rect r="r" b="b" t="t" l="l"/>
              <a:pathLst>
                <a:path h="1513586" w="5837682">
                  <a:moveTo>
                    <a:pt x="0" y="29972"/>
                  </a:moveTo>
                  <a:cubicBezTo>
                    <a:pt x="0" y="13335"/>
                    <a:pt x="13589" y="0"/>
                    <a:pt x="30353" y="0"/>
                  </a:cubicBezTo>
                  <a:lnTo>
                    <a:pt x="5807329" y="0"/>
                  </a:lnTo>
                  <a:cubicBezTo>
                    <a:pt x="5824093" y="0"/>
                    <a:pt x="5837682" y="13335"/>
                    <a:pt x="5837682" y="29972"/>
                  </a:cubicBezTo>
                  <a:lnTo>
                    <a:pt x="5837682" y="1483614"/>
                  </a:lnTo>
                  <a:cubicBezTo>
                    <a:pt x="5837682" y="1500124"/>
                    <a:pt x="5824093" y="1513586"/>
                    <a:pt x="5807329" y="1513586"/>
                  </a:cubicBezTo>
                  <a:lnTo>
                    <a:pt x="30353" y="1513586"/>
                  </a:lnTo>
                  <a:cubicBezTo>
                    <a:pt x="13589" y="1513586"/>
                    <a:pt x="0" y="1500251"/>
                    <a:pt x="0" y="1483614"/>
                  </a:cubicBezTo>
                  <a:close/>
                </a:path>
              </a:pathLst>
            </a:custGeom>
            <a:solidFill>
              <a:srgbClr val="112836"/>
            </a:solidFill>
            <a:ln w="12700">
              <a:solidFill>
                <a:srgbClr val="000000"/>
              </a:solidFill>
            </a:ln>
          </p:spPr>
        </p:sp>
        <p:sp>
          <p:nvSpPr>
            <p:cNvPr name="Freeform 28" id="28"/>
            <p:cNvSpPr/>
            <p:nvPr/>
          </p:nvSpPr>
          <p:spPr>
            <a:xfrm flipH="false" flipV="false" rot="0">
              <a:off x="0" y="0"/>
              <a:ext cx="5863082" cy="1538986"/>
            </a:xfrm>
            <a:custGeom>
              <a:avLst/>
              <a:gdLst/>
              <a:ahLst/>
              <a:cxnLst/>
              <a:rect r="r" b="b" t="t" l="l"/>
              <a:pathLst>
                <a:path h="1538986" w="5863082">
                  <a:moveTo>
                    <a:pt x="0" y="42672"/>
                  </a:moveTo>
                  <a:cubicBezTo>
                    <a:pt x="0" y="18923"/>
                    <a:pt x="19431" y="0"/>
                    <a:pt x="43053" y="0"/>
                  </a:cubicBezTo>
                  <a:lnTo>
                    <a:pt x="5820029" y="0"/>
                  </a:lnTo>
                  <a:lnTo>
                    <a:pt x="5820029" y="12700"/>
                  </a:lnTo>
                  <a:lnTo>
                    <a:pt x="5820029" y="0"/>
                  </a:lnTo>
                  <a:cubicBezTo>
                    <a:pt x="5843651" y="0"/>
                    <a:pt x="5863082" y="18923"/>
                    <a:pt x="5863082" y="42672"/>
                  </a:cubicBezTo>
                  <a:lnTo>
                    <a:pt x="5850382" y="42672"/>
                  </a:lnTo>
                  <a:lnTo>
                    <a:pt x="5863082" y="42672"/>
                  </a:lnTo>
                  <a:lnTo>
                    <a:pt x="5863082" y="1496314"/>
                  </a:lnTo>
                  <a:lnTo>
                    <a:pt x="5850382" y="1496314"/>
                  </a:lnTo>
                  <a:lnTo>
                    <a:pt x="5863082" y="1496314"/>
                  </a:lnTo>
                  <a:cubicBezTo>
                    <a:pt x="5863082" y="1520063"/>
                    <a:pt x="5843651" y="1538986"/>
                    <a:pt x="5820029" y="1538986"/>
                  </a:cubicBezTo>
                  <a:lnTo>
                    <a:pt x="5820029" y="1526286"/>
                  </a:lnTo>
                  <a:lnTo>
                    <a:pt x="5820029" y="1538986"/>
                  </a:lnTo>
                  <a:lnTo>
                    <a:pt x="43053" y="1538986"/>
                  </a:lnTo>
                  <a:lnTo>
                    <a:pt x="43053" y="1526286"/>
                  </a:lnTo>
                  <a:lnTo>
                    <a:pt x="43053" y="1538986"/>
                  </a:lnTo>
                  <a:cubicBezTo>
                    <a:pt x="19431" y="1538986"/>
                    <a:pt x="0" y="1520063"/>
                    <a:pt x="0" y="1496314"/>
                  </a:cubicBezTo>
                  <a:lnTo>
                    <a:pt x="0" y="42672"/>
                  </a:lnTo>
                  <a:lnTo>
                    <a:pt x="12700" y="42672"/>
                  </a:lnTo>
                  <a:lnTo>
                    <a:pt x="0" y="42672"/>
                  </a:lnTo>
                  <a:moveTo>
                    <a:pt x="25400" y="42672"/>
                  </a:moveTo>
                  <a:lnTo>
                    <a:pt x="25400" y="1496314"/>
                  </a:lnTo>
                  <a:lnTo>
                    <a:pt x="12700" y="1496314"/>
                  </a:lnTo>
                  <a:lnTo>
                    <a:pt x="25400" y="1496314"/>
                  </a:lnTo>
                  <a:cubicBezTo>
                    <a:pt x="25400" y="1505712"/>
                    <a:pt x="33147" y="1513586"/>
                    <a:pt x="43053" y="1513586"/>
                  </a:cubicBezTo>
                  <a:lnTo>
                    <a:pt x="5820029" y="1513586"/>
                  </a:lnTo>
                  <a:cubicBezTo>
                    <a:pt x="5829935" y="1513586"/>
                    <a:pt x="5837682" y="1505712"/>
                    <a:pt x="5837682" y="1496314"/>
                  </a:cubicBezTo>
                  <a:lnTo>
                    <a:pt x="5837682" y="42672"/>
                  </a:lnTo>
                  <a:cubicBezTo>
                    <a:pt x="5837682" y="33274"/>
                    <a:pt x="5829935" y="25400"/>
                    <a:pt x="5820029" y="25400"/>
                  </a:cubicBezTo>
                  <a:lnTo>
                    <a:pt x="43053" y="25400"/>
                  </a:lnTo>
                  <a:lnTo>
                    <a:pt x="43053" y="12700"/>
                  </a:lnTo>
                  <a:lnTo>
                    <a:pt x="43053" y="25400"/>
                  </a:lnTo>
                  <a:cubicBezTo>
                    <a:pt x="33147" y="25400"/>
                    <a:pt x="25400" y="33274"/>
                    <a:pt x="25400" y="42672"/>
                  </a:cubicBezTo>
                  <a:close/>
                </a:path>
              </a:pathLst>
            </a:custGeom>
            <a:solidFill>
              <a:srgbClr val="49606E"/>
            </a:solidFill>
            <a:ln w="12700">
              <a:solidFill>
                <a:srgbClr val="000000"/>
              </a:solidFill>
            </a:ln>
          </p:spPr>
        </p:sp>
      </p:grpSp>
      <p:sp>
        <p:nvSpPr>
          <p:cNvPr name="TextBox 29" id="29"/>
          <p:cNvSpPr txBox="true"/>
          <p:nvPr/>
        </p:nvSpPr>
        <p:spPr>
          <a:xfrm rot="0">
            <a:off x="4859388" y="3878609"/>
            <a:ext cx="1760039" cy="248545"/>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Input from /infer</a:t>
            </a:r>
          </a:p>
        </p:txBody>
      </p:sp>
      <p:sp>
        <p:nvSpPr>
          <p:cNvPr name="TextBox 30" id="30"/>
          <p:cNvSpPr txBox="true"/>
          <p:nvPr/>
        </p:nvSpPr>
        <p:spPr>
          <a:xfrm rot="0">
            <a:off x="4859388" y="4159748"/>
            <a:ext cx="4040981"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Takes detection JSON output directly from the /infer endpoint as its primary input.</a:t>
            </a:r>
          </a:p>
        </p:txBody>
      </p:sp>
      <p:grpSp>
        <p:nvGrpSpPr>
          <p:cNvPr name="Group 31" id="31"/>
          <p:cNvGrpSpPr/>
          <p:nvPr/>
        </p:nvGrpSpPr>
        <p:grpSpPr>
          <a:xfrm rot="0">
            <a:off x="9209037" y="3719512"/>
            <a:ext cx="4397426" cy="1154163"/>
            <a:chOff x="0" y="0"/>
            <a:chExt cx="5863234" cy="1538884"/>
          </a:xfrm>
        </p:grpSpPr>
        <p:sp>
          <p:nvSpPr>
            <p:cNvPr name="Freeform 32" id="32"/>
            <p:cNvSpPr/>
            <p:nvPr/>
          </p:nvSpPr>
          <p:spPr>
            <a:xfrm flipH="false" flipV="false" rot="0">
              <a:off x="12700" y="12700"/>
              <a:ext cx="5837936" cy="1513586"/>
            </a:xfrm>
            <a:custGeom>
              <a:avLst/>
              <a:gdLst/>
              <a:ahLst/>
              <a:cxnLst/>
              <a:rect r="r" b="b" t="t" l="l"/>
              <a:pathLst>
                <a:path h="1513586" w="5837936">
                  <a:moveTo>
                    <a:pt x="0" y="29972"/>
                  </a:moveTo>
                  <a:cubicBezTo>
                    <a:pt x="0" y="13335"/>
                    <a:pt x="13589" y="0"/>
                    <a:pt x="30353" y="0"/>
                  </a:cubicBezTo>
                  <a:lnTo>
                    <a:pt x="5807583" y="0"/>
                  </a:lnTo>
                  <a:cubicBezTo>
                    <a:pt x="5824347" y="0"/>
                    <a:pt x="5837936" y="13335"/>
                    <a:pt x="5837936" y="29972"/>
                  </a:cubicBezTo>
                  <a:lnTo>
                    <a:pt x="5837936" y="1483614"/>
                  </a:lnTo>
                  <a:cubicBezTo>
                    <a:pt x="5837936" y="1500124"/>
                    <a:pt x="5824347" y="1513586"/>
                    <a:pt x="5807583" y="1513586"/>
                  </a:cubicBezTo>
                  <a:lnTo>
                    <a:pt x="30353" y="1513586"/>
                  </a:lnTo>
                  <a:cubicBezTo>
                    <a:pt x="13589" y="1513586"/>
                    <a:pt x="0" y="1500251"/>
                    <a:pt x="0" y="1483614"/>
                  </a:cubicBezTo>
                  <a:close/>
                </a:path>
              </a:pathLst>
            </a:custGeom>
            <a:solidFill>
              <a:srgbClr val="112836"/>
            </a:solidFill>
            <a:ln w="12700">
              <a:solidFill>
                <a:srgbClr val="000000"/>
              </a:solidFill>
            </a:ln>
          </p:spPr>
        </p:sp>
        <p:sp>
          <p:nvSpPr>
            <p:cNvPr name="Freeform 33" id="33"/>
            <p:cNvSpPr/>
            <p:nvPr/>
          </p:nvSpPr>
          <p:spPr>
            <a:xfrm flipH="false" flipV="false" rot="0">
              <a:off x="0" y="0"/>
              <a:ext cx="5863336" cy="1538986"/>
            </a:xfrm>
            <a:custGeom>
              <a:avLst/>
              <a:gdLst/>
              <a:ahLst/>
              <a:cxnLst/>
              <a:rect r="r" b="b" t="t" l="l"/>
              <a:pathLst>
                <a:path h="1538986" w="5863336">
                  <a:moveTo>
                    <a:pt x="0" y="42672"/>
                  </a:moveTo>
                  <a:cubicBezTo>
                    <a:pt x="0" y="18923"/>
                    <a:pt x="19431" y="0"/>
                    <a:pt x="43053" y="0"/>
                  </a:cubicBezTo>
                  <a:lnTo>
                    <a:pt x="5820283" y="0"/>
                  </a:lnTo>
                  <a:lnTo>
                    <a:pt x="5820283" y="12700"/>
                  </a:lnTo>
                  <a:lnTo>
                    <a:pt x="5820283" y="0"/>
                  </a:lnTo>
                  <a:cubicBezTo>
                    <a:pt x="5843905" y="0"/>
                    <a:pt x="5863336" y="18923"/>
                    <a:pt x="5863336" y="42672"/>
                  </a:cubicBezTo>
                  <a:lnTo>
                    <a:pt x="5850636" y="42672"/>
                  </a:lnTo>
                  <a:lnTo>
                    <a:pt x="5863336" y="42672"/>
                  </a:lnTo>
                  <a:lnTo>
                    <a:pt x="5863336" y="1496314"/>
                  </a:lnTo>
                  <a:lnTo>
                    <a:pt x="5850636" y="1496314"/>
                  </a:lnTo>
                  <a:lnTo>
                    <a:pt x="5863336" y="1496314"/>
                  </a:lnTo>
                  <a:cubicBezTo>
                    <a:pt x="5863336" y="1520063"/>
                    <a:pt x="5843905" y="1538986"/>
                    <a:pt x="5820283" y="1538986"/>
                  </a:cubicBezTo>
                  <a:lnTo>
                    <a:pt x="5820283" y="1526286"/>
                  </a:lnTo>
                  <a:lnTo>
                    <a:pt x="5820283" y="1538986"/>
                  </a:lnTo>
                  <a:lnTo>
                    <a:pt x="43053" y="1538986"/>
                  </a:lnTo>
                  <a:lnTo>
                    <a:pt x="43053" y="1526286"/>
                  </a:lnTo>
                  <a:lnTo>
                    <a:pt x="43053" y="1538986"/>
                  </a:lnTo>
                  <a:cubicBezTo>
                    <a:pt x="19431" y="1538986"/>
                    <a:pt x="0" y="1520063"/>
                    <a:pt x="0" y="1496314"/>
                  </a:cubicBezTo>
                  <a:lnTo>
                    <a:pt x="0" y="42672"/>
                  </a:lnTo>
                  <a:lnTo>
                    <a:pt x="12700" y="42672"/>
                  </a:lnTo>
                  <a:lnTo>
                    <a:pt x="0" y="42672"/>
                  </a:lnTo>
                  <a:moveTo>
                    <a:pt x="25400" y="42672"/>
                  </a:moveTo>
                  <a:lnTo>
                    <a:pt x="25400" y="1496314"/>
                  </a:lnTo>
                  <a:lnTo>
                    <a:pt x="12700" y="1496314"/>
                  </a:lnTo>
                  <a:lnTo>
                    <a:pt x="25400" y="1496314"/>
                  </a:lnTo>
                  <a:cubicBezTo>
                    <a:pt x="25400" y="1505712"/>
                    <a:pt x="33147" y="1513586"/>
                    <a:pt x="43053" y="1513586"/>
                  </a:cubicBezTo>
                  <a:lnTo>
                    <a:pt x="5820283" y="1513586"/>
                  </a:lnTo>
                  <a:cubicBezTo>
                    <a:pt x="5830189" y="1513586"/>
                    <a:pt x="5837936" y="1505712"/>
                    <a:pt x="5837936" y="1496314"/>
                  </a:cubicBezTo>
                  <a:lnTo>
                    <a:pt x="5837936" y="42672"/>
                  </a:lnTo>
                  <a:cubicBezTo>
                    <a:pt x="5837936" y="33274"/>
                    <a:pt x="5830189" y="25400"/>
                    <a:pt x="5820283" y="25400"/>
                  </a:cubicBezTo>
                  <a:lnTo>
                    <a:pt x="43053" y="25400"/>
                  </a:lnTo>
                  <a:lnTo>
                    <a:pt x="43053" y="12700"/>
                  </a:lnTo>
                  <a:lnTo>
                    <a:pt x="43053" y="25400"/>
                  </a:lnTo>
                  <a:cubicBezTo>
                    <a:pt x="33147" y="25400"/>
                    <a:pt x="25400" y="33274"/>
                    <a:pt x="25400" y="42672"/>
                  </a:cubicBezTo>
                  <a:close/>
                </a:path>
              </a:pathLst>
            </a:custGeom>
            <a:solidFill>
              <a:srgbClr val="49606E"/>
            </a:solidFill>
            <a:ln w="12700">
              <a:solidFill>
                <a:srgbClr val="000000"/>
              </a:solidFill>
            </a:ln>
          </p:spPr>
        </p:sp>
      </p:grpSp>
      <p:sp>
        <p:nvSpPr>
          <p:cNvPr name="TextBox 34" id="34"/>
          <p:cNvSpPr txBox="true"/>
          <p:nvPr/>
        </p:nvSpPr>
        <p:spPr>
          <a:xfrm rot="0">
            <a:off x="9387183" y="3878609"/>
            <a:ext cx="1760039"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Enriched Output</a:t>
            </a:r>
          </a:p>
        </p:txBody>
      </p:sp>
      <p:sp>
        <p:nvSpPr>
          <p:cNvPr name="TextBox 35" id="35"/>
          <p:cNvSpPr txBox="true"/>
          <p:nvPr/>
        </p:nvSpPr>
        <p:spPr>
          <a:xfrm rot="0">
            <a:off x="9387183" y="4150223"/>
            <a:ext cx="4041134"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Appends two additional fields: bottle_color (string) and is_pet (boolean) to each detection.</a:t>
            </a:r>
          </a:p>
        </p:txBody>
      </p:sp>
      <p:sp>
        <p:nvSpPr>
          <p:cNvPr name="TextBox 36" id="36"/>
          <p:cNvSpPr txBox="true"/>
          <p:nvPr/>
        </p:nvSpPr>
        <p:spPr>
          <a:xfrm rot="0">
            <a:off x="4690767" y="5059861"/>
            <a:ext cx="3189237" cy="292446"/>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Enrichment Process Flow</a:t>
            </a:r>
          </a:p>
        </p:txBody>
      </p:sp>
      <p:sp>
        <p:nvSpPr>
          <p:cNvPr name="Freeform 37" id="37" descr="preencoded.png"/>
          <p:cNvSpPr/>
          <p:nvPr/>
        </p:nvSpPr>
        <p:spPr>
          <a:xfrm flipH="false" flipV="false" rot="0">
            <a:off x="5680920" y="5576592"/>
            <a:ext cx="6926018" cy="3169739"/>
          </a:xfrm>
          <a:custGeom>
            <a:avLst/>
            <a:gdLst/>
            <a:ahLst/>
            <a:cxnLst/>
            <a:rect r="r" b="b" t="t" l="l"/>
            <a:pathLst>
              <a:path h="3169739" w="6926018">
                <a:moveTo>
                  <a:pt x="0" y="0"/>
                </a:moveTo>
                <a:lnTo>
                  <a:pt x="6926018" y="0"/>
                </a:lnTo>
                <a:lnTo>
                  <a:pt x="6926018" y="3169739"/>
                </a:lnTo>
                <a:lnTo>
                  <a:pt x="0" y="3169739"/>
                </a:lnTo>
                <a:lnTo>
                  <a:pt x="0" y="0"/>
                </a:lnTo>
                <a:close/>
              </a:path>
            </a:pathLst>
          </a:custGeom>
          <a:blipFill>
            <a:blip r:embed="rId5"/>
            <a:stretch>
              <a:fillRect l="0" t="-42" r="0" b="-42"/>
            </a:stretch>
          </a:blipFill>
        </p:spPr>
      </p:sp>
      <p:sp>
        <p:nvSpPr>
          <p:cNvPr name="Freeform 38" id="38" descr="preencoded.png"/>
          <p:cNvSpPr/>
          <p:nvPr/>
        </p:nvSpPr>
        <p:spPr>
          <a:xfrm flipH="false" flipV="false" rot="0">
            <a:off x="11380899" y="6367986"/>
            <a:ext cx="445303" cy="445303"/>
          </a:xfrm>
          <a:custGeom>
            <a:avLst/>
            <a:gdLst/>
            <a:ahLst/>
            <a:cxnLst/>
            <a:rect r="r" b="b" t="t" l="l"/>
            <a:pathLst>
              <a:path h="445303" w="445303">
                <a:moveTo>
                  <a:pt x="0" y="0"/>
                </a:moveTo>
                <a:lnTo>
                  <a:pt x="445303" y="0"/>
                </a:lnTo>
                <a:lnTo>
                  <a:pt x="445303" y="445304"/>
                </a:lnTo>
                <a:lnTo>
                  <a:pt x="0" y="445304"/>
                </a:lnTo>
                <a:lnTo>
                  <a:pt x="0" y="0"/>
                </a:lnTo>
                <a:close/>
              </a:path>
            </a:pathLst>
          </a:custGeom>
          <a:blipFill>
            <a:blip r:embed="rId6">
              <a:extLst>
                <a:ext uri="{96DAC541-7B7A-43D3-8B79-37D633B846F1}">
                  <asvg:svgBlip xmlns:asvg="http://schemas.microsoft.com/office/drawing/2016/SVG/main" r:embed="rId7"/>
                </a:ext>
              </a:extLst>
            </a:blip>
            <a:stretch>
              <a:fillRect l="-13830" t="0" r="-13828" b="0"/>
            </a:stretch>
          </a:blipFill>
        </p:spPr>
      </p:sp>
      <p:sp>
        <p:nvSpPr>
          <p:cNvPr name="TextBox 39" id="39"/>
          <p:cNvSpPr txBox="true"/>
          <p:nvPr/>
        </p:nvSpPr>
        <p:spPr>
          <a:xfrm rot="0">
            <a:off x="10984163" y="7864221"/>
            <a:ext cx="1300277" cy="490233"/>
          </a:xfrm>
          <a:prstGeom prst="rect">
            <a:avLst/>
          </a:prstGeom>
        </p:spPr>
        <p:txBody>
          <a:bodyPr anchor="t" rtlCol="false" tIns="0" lIns="0" bIns="0" rIns="0">
            <a:spAutoFit/>
          </a:bodyPr>
          <a:lstStyle/>
          <a:p>
            <a:pPr algn="ctr">
              <a:lnSpc>
                <a:spcPts val="1937"/>
              </a:lnSpc>
            </a:pPr>
            <a:r>
              <a:rPr lang="en-US" sz="1562">
                <a:solidFill>
                  <a:srgbClr val="CAD6DE"/>
                </a:solidFill>
                <a:latin typeface="Arimo"/>
                <a:ea typeface="Arimo"/>
                <a:cs typeface="Arimo"/>
                <a:sym typeface="Arimo"/>
              </a:rPr>
              <a:t>Enriched JSON</a:t>
            </a:r>
          </a:p>
        </p:txBody>
      </p:sp>
      <p:sp>
        <p:nvSpPr>
          <p:cNvPr name="Freeform 40" id="40" descr="preencoded.png"/>
          <p:cNvSpPr/>
          <p:nvPr/>
        </p:nvSpPr>
        <p:spPr>
          <a:xfrm flipH="false" flipV="false" rot="0">
            <a:off x="9750676" y="6368825"/>
            <a:ext cx="445303" cy="445303"/>
          </a:xfrm>
          <a:custGeom>
            <a:avLst/>
            <a:gdLst/>
            <a:ahLst/>
            <a:cxnLst/>
            <a:rect r="r" b="b" t="t" l="l"/>
            <a:pathLst>
              <a:path h="445303" w="445303">
                <a:moveTo>
                  <a:pt x="0" y="0"/>
                </a:moveTo>
                <a:lnTo>
                  <a:pt x="445303" y="0"/>
                </a:lnTo>
                <a:lnTo>
                  <a:pt x="445303" y="445303"/>
                </a:lnTo>
                <a:lnTo>
                  <a:pt x="0" y="445303"/>
                </a:lnTo>
                <a:lnTo>
                  <a:pt x="0" y="0"/>
                </a:lnTo>
                <a:close/>
              </a:path>
            </a:pathLst>
          </a:custGeom>
          <a:blipFill>
            <a:blip r:embed="rId8">
              <a:extLst>
                <a:ext uri="{96DAC541-7B7A-43D3-8B79-37D633B846F1}">
                  <asvg:svgBlip xmlns:asvg="http://schemas.microsoft.com/office/drawing/2016/SVG/main" r:embed="rId9"/>
                </a:ext>
              </a:extLst>
            </a:blip>
            <a:stretch>
              <a:fillRect l="-2128" t="0" r="-2126" b="0"/>
            </a:stretch>
          </a:blipFill>
        </p:spPr>
      </p:sp>
      <p:sp>
        <p:nvSpPr>
          <p:cNvPr name="TextBox 41" id="41"/>
          <p:cNvSpPr txBox="true"/>
          <p:nvPr/>
        </p:nvSpPr>
        <p:spPr>
          <a:xfrm rot="0">
            <a:off x="9345454" y="7746349"/>
            <a:ext cx="1300277" cy="725824"/>
          </a:xfrm>
          <a:prstGeom prst="rect">
            <a:avLst/>
          </a:prstGeom>
        </p:spPr>
        <p:txBody>
          <a:bodyPr anchor="t" rtlCol="false" tIns="0" lIns="0" bIns="0" rIns="0">
            <a:spAutoFit/>
          </a:bodyPr>
          <a:lstStyle/>
          <a:p>
            <a:pPr algn="ctr">
              <a:lnSpc>
                <a:spcPts val="1937"/>
              </a:lnSpc>
            </a:pPr>
            <a:r>
              <a:rPr lang="en-US" sz="1562">
                <a:solidFill>
                  <a:srgbClr val="CAD6DE"/>
                </a:solidFill>
                <a:latin typeface="Arimo"/>
                <a:ea typeface="Arimo"/>
                <a:cs typeface="Arimo"/>
                <a:sym typeface="Arimo"/>
              </a:rPr>
              <a:t>Rule Lookup (PET)</a:t>
            </a:r>
          </a:p>
        </p:txBody>
      </p:sp>
      <p:sp>
        <p:nvSpPr>
          <p:cNvPr name="Freeform 42" id="42" descr="preencoded.png"/>
          <p:cNvSpPr/>
          <p:nvPr/>
        </p:nvSpPr>
        <p:spPr>
          <a:xfrm flipH="false" flipV="false" rot="0">
            <a:off x="8120872" y="6368825"/>
            <a:ext cx="445303" cy="445303"/>
          </a:xfrm>
          <a:custGeom>
            <a:avLst/>
            <a:gdLst/>
            <a:ahLst/>
            <a:cxnLst/>
            <a:rect r="r" b="b" t="t" l="l"/>
            <a:pathLst>
              <a:path h="445303" w="445303">
                <a:moveTo>
                  <a:pt x="0" y="0"/>
                </a:moveTo>
                <a:lnTo>
                  <a:pt x="445303" y="0"/>
                </a:lnTo>
                <a:lnTo>
                  <a:pt x="445303" y="445303"/>
                </a:lnTo>
                <a:lnTo>
                  <a:pt x="0" y="445303"/>
                </a:lnTo>
                <a:lnTo>
                  <a:pt x="0" y="0"/>
                </a:lnTo>
                <a:close/>
              </a:path>
            </a:pathLst>
          </a:custGeom>
          <a:blipFill>
            <a:blip r:embed="rId10">
              <a:extLst>
                <a:ext uri="{96DAC541-7B7A-43D3-8B79-37D633B846F1}">
                  <asvg:svgBlip xmlns:asvg="http://schemas.microsoft.com/office/drawing/2016/SVG/main" r:embed="rId11"/>
                </a:ext>
              </a:extLst>
            </a:blip>
            <a:stretch>
              <a:fillRect l="0" t="-3191" r="0" b="-3191"/>
            </a:stretch>
          </a:blipFill>
        </p:spPr>
      </p:sp>
      <p:sp>
        <p:nvSpPr>
          <p:cNvPr name="TextBox 43" id="43"/>
          <p:cNvSpPr txBox="true"/>
          <p:nvPr/>
        </p:nvSpPr>
        <p:spPr>
          <a:xfrm rot="0">
            <a:off x="7715650" y="7746349"/>
            <a:ext cx="1300277" cy="725824"/>
          </a:xfrm>
          <a:prstGeom prst="rect">
            <a:avLst/>
          </a:prstGeom>
        </p:spPr>
        <p:txBody>
          <a:bodyPr anchor="t" rtlCol="false" tIns="0" lIns="0" bIns="0" rIns="0">
            <a:spAutoFit/>
          </a:bodyPr>
          <a:lstStyle/>
          <a:p>
            <a:pPr algn="ctr">
              <a:lnSpc>
                <a:spcPts val="1937"/>
              </a:lnSpc>
            </a:pPr>
            <a:r>
              <a:rPr lang="en-US" sz="1562">
                <a:solidFill>
                  <a:srgbClr val="CAD6DE"/>
                </a:solidFill>
                <a:latin typeface="Arimo"/>
                <a:ea typeface="Arimo"/>
                <a:cs typeface="Arimo"/>
                <a:sym typeface="Arimo"/>
              </a:rPr>
              <a:t>Rule Lookup (Color)</a:t>
            </a:r>
          </a:p>
        </p:txBody>
      </p:sp>
      <p:sp>
        <p:nvSpPr>
          <p:cNvPr name="Freeform 44" id="44" descr="preencoded.png"/>
          <p:cNvSpPr/>
          <p:nvPr/>
        </p:nvSpPr>
        <p:spPr>
          <a:xfrm flipH="false" flipV="false" rot="0">
            <a:off x="6482163" y="6368825"/>
            <a:ext cx="445303" cy="445303"/>
          </a:xfrm>
          <a:custGeom>
            <a:avLst/>
            <a:gdLst/>
            <a:ahLst/>
            <a:cxnLst/>
            <a:rect r="r" b="b" t="t" l="l"/>
            <a:pathLst>
              <a:path h="445303" w="445303">
                <a:moveTo>
                  <a:pt x="0" y="0"/>
                </a:moveTo>
                <a:lnTo>
                  <a:pt x="445303" y="0"/>
                </a:lnTo>
                <a:lnTo>
                  <a:pt x="445303" y="445303"/>
                </a:lnTo>
                <a:lnTo>
                  <a:pt x="0" y="445303"/>
                </a:lnTo>
                <a:lnTo>
                  <a:pt x="0" y="0"/>
                </a:lnTo>
                <a:close/>
              </a:path>
            </a:pathLst>
          </a:custGeom>
          <a:blipFill>
            <a:blip r:embed="rId12">
              <a:extLst>
                <a:ext uri="{96DAC541-7B7A-43D3-8B79-37D633B846F1}">
                  <asvg:svgBlip xmlns:asvg="http://schemas.microsoft.com/office/drawing/2016/SVG/main" r:embed="rId13"/>
                </a:ext>
              </a:extLst>
            </a:blip>
            <a:stretch>
              <a:fillRect l="-6382" t="0" r="-6382" b="0"/>
            </a:stretch>
          </a:blipFill>
        </p:spPr>
      </p:sp>
      <p:sp>
        <p:nvSpPr>
          <p:cNvPr name="TextBox 45" id="45"/>
          <p:cNvSpPr txBox="true"/>
          <p:nvPr/>
        </p:nvSpPr>
        <p:spPr>
          <a:xfrm rot="0">
            <a:off x="6050223" y="7864221"/>
            <a:ext cx="1300277" cy="490233"/>
          </a:xfrm>
          <a:prstGeom prst="rect">
            <a:avLst/>
          </a:prstGeom>
        </p:spPr>
        <p:txBody>
          <a:bodyPr anchor="t" rtlCol="false" tIns="0" lIns="0" bIns="0" rIns="0">
            <a:spAutoFit/>
          </a:bodyPr>
          <a:lstStyle/>
          <a:p>
            <a:pPr algn="ctr">
              <a:lnSpc>
                <a:spcPts val="1937"/>
              </a:lnSpc>
            </a:pPr>
            <a:r>
              <a:rPr lang="en-US" sz="1562">
                <a:solidFill>
                  <a:srgbClr val="CAD6DE"/>
                </a:solidFill>
                <a:latin typeface="Arimo"/>
                <a:ea typeface="Arimo"/>
                <a:cs typeface="Arimo"/>
                <a:sym typeface="Arimo"/>
              </a:rPr>
              <a:t>Detection JSON</a:t>
            </a:r>
          </a:p>
        </p:txBody>
      </p:sp>
      <p:sp>
        <p:nvSpPr>
          <p:cNvPr name="TextBox 46" id="46"/>
          <p:cNvSpPr txBox="true"/>
          <p:nvPr/>
        </p:nvSpPr>
        <p:spPr>
          <a:xfrm rot="0">
            <a:off x="4690767" y="8942041"/>
            <a:ext cx="5019970" cy="292446"/>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Sample JSON: Input vs. Enriched Output</a:t>
            </a:r>
          </a:p>
        </p:txBody>
      </p:sp>
      <p:sp>
        <p:nvSpPr>
          <p:cNvPr name="TextBox 47" id="47"/>
          <p:cNvSpPr txBox="true"/>
          <p:nvPr/>
        </p:nvSpPr>
        <p:spPr>
          <a:xfrm rot="0">
            <a:off x="4690767" y="9401623"/>
            <a:ext cx="8906323"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/colorpet endpoint enriches the initial detection data with critical classification fields, as demonstrated below:</a:t>
            </a:r>
          </a:p>
        </p:txBody>
      </p:sp>
      <p:sp>
        <p:nvSpPr>
          <p:cNvPr name="TextBox 48" id="48"/>
          <p:cNvSpPr txBox="true"/>
          <p:nvPr/>
        </p:nvSpPr>
        <p:spPr>
          <a:xfrm rot="0">
            <a:off x="4690767" y="9903323"/>
            <a:ext cx="3449984" cy="248545"/>
          </a:xfrm>
          <a:prstGeom prst="rect">
            <a:avLst/>
          </a:prstGeom>
        </p:spPr>
        <p:txBody>
          <a:bodyPr anchor="t" rtlCol="false" tIns="0" lIns="0" bIns="0" rIns="0">
            <a:spAutoFit/>
          </a:bodyPr>
          <a:lstStyle/>
          <a:p>
            <a:pPr algn="l">
              <a:lnSpc>
                <a:spcPts val="1687"/>
              </a:lnSpc>
            </a:pPr>
            <a:r>
              <a:rPr lang="en-US" sz="1375">
                <a:solidFill>
                  <a:srgbClr val="FFFFFF"/>
                </a:solidFill>
                <a:latin typeface="Arimo"/>
                <a:ea typeface="Arimo"/>
                <a:cs typeface="Arimo"/>
                <a:sym typeface="Arimo"/>
              </a:rPr>
              <a:t>Input Detection JSON (from </a:t>
            </a:r>
            <a:r>
              <a:rPr lang="en-US" sz="1375">
                <a:solidFill>
                  <a:srgbClr val="CAD6DE"/>
                </a:solidFill>
                <a:latin typeface="Arimo"/>
                <a:ea typeface="Arimo"/>
                <a:cs typeface="Arimo"/>
                <a:sym typeface="Arimo"/>
              </a:rPr>
              <a:t>/infer</a:t>
            </a:r>
            <a:r>
              <a:rPr lang="en-US" sz="1375">
                <a:solidFill>
                  <a:srgbClr val="FFFFFF"/>
                </a:solidFill>
                <a:latin typeface="Arimo"/>
                <a:ea typeface="Arimo"/>
                <a:cs typeface="Arimo"/>
                <a:sym typeface="Arimo"/>
              </a:rPr>
              <a:t>)</a:t>
            </a:r>
          </a:p>
        </p:txBody>
      </p:sp>
      <p:grpSp>
        <p:nvGrpSpPr>
          <p:cNvPr name="Group 49" id="49"/>
          <p:cNvGrpSpPr/>
          <p:nvPr/>
        </p:nvGrpSpPr>
        <p:grpSpPr>
          <a:xfrm rot="0">
            <a:off x="4690767" y="10376144"/>
            <a:ext cx="8906323" cy="2617289"/>
            <a:chOff x="0" y="0"/>
            <a:chExt cx="11875097" cy="3489719"/>
          </a:xfrm>
        </p:grpSpPr>
        <p:sp>
          <p:nvSpPr>
            <p:cNvPr name="Freeform 50" id="50"/>
            <p:cNvSpPr/>
            <p:nvPr/>
          </p:nvSpPr>
          <p:spPr>
            <a:xfrm flipH="false" flipV="false" rot="0">
              <a:off x="0" y="0"/>
              <a:ext cx="11875008" cy="3489706"/>
            </a:xfrm>
            <a:custGeom>
              <a:avLst/>
              <a:gdLst/>
              <a:ahLst/>
              <a:cxnLst/>
              <a:rect r="r" b="b" t="t" l="l"/>
              <a:pathLst>
                <a:path h="3489706" w="11875008">
                  <a:moveTo>
                    <a:pt x="0" y="29845"/>
                  </a:moveTo>
                  <a:cubicBezTo>
                    <a:pt x="0" y="13335"/>
                    <a:pt x="13335" y="0"/>
                    <a:pt x="29845" y="0"/>
                  </a:cubicBezTo>
                  <a:lnTo>
                    <a:pt x="11845163" y="0"/>
                  </a:lnTo>
                  <a:cubicBezTo>
                    <a:pt x="11861673" y="0"/>
                    <a:pt x="11875008" y="13335"/>
                    <a:pt x="11875008" y="29845"/>
                  </a:cubicBezTo>
                  <a:lnTo>
                    <a:pt x="11875008" y="3459861"/>
                  </a:lnTo>
                  <a:cubicBezTo>
                    <a:pt x="11875008" y="3476371"/>
                    <a:pt x="11861673" y="3489706"/>
                    <a:pt x="11845163" y="3489706"/>
                  </a:cubicBezTo>
                  <a:lnTo>
                    <a:pt x="29845" y="3489706"/>
                  </a:lnTo>
                  <a:cubicBezTo>
                    <a:pt x="13335" y="3489706"/>
                    <a:pt x="0" y="3476371"/>
                    <a:pt x="0" y="3459861"/>
                  </a:cubicBezTo>
                  <a:close/>
                </a:path>
              </a:pathLst>
            </a:custGeom>
            <a:solidFill>
              <a:srgbClr val="1E3543"/>
            </a:solidFill>
            <a:ln w="12700">
              <a:solidFill>
                <a:srgbClr val="000000"/>
              </a:solidFill>
            </a:ln>
          </p:spPr>
        </p:sp>
      </p:grpSp>
      <p:grpSp>
        <p:nvGrpSpPr>
          <p:cNvPr name="Group 51" id="51"/>
          <p:cNvGrpSpPr/>
          <p:nvPr/>
        </p:nvGrpSpPr>
        <p:grpSpPr>
          <a:xfrm rot="0">
            <a:off x="4683328" y="10376144"/>
            <a:ext cx="8921201" cy="2617289"/>
            <a:chOff x="0" y="0"/>
            <a:chExt cx="11894934" cy="3489719"/>
          </a:xfrm>
        </p:grpSpPr>
        <p:sp>
          <p:nvSpPr>
            <p:cNvPr name="Freeform 52" id="52"/>
            <p:cNvSpPr/>
            <p:nvPr/>
          </p:nvSpPr>
          <p:spPr>
            <a:xfrm flipH="false" flipV="false" rot="0">
              <a:off x="0" y="0"/>
              <a:ext cx="11894820" cy="3489706"/>
            </a:xfrm>
            <a:custGeom>
              <a:avLst/>
              <a:gdLst/>
              <a:ahLst/>
              <a:cxnLst/>
              <a:rect r="r" b="b" t="t" l="l"/>
              <a:pathLst>
                <a:path h="3489706" w="11894820">
                  <a:moveTo>
                    <a:pt x="0" y="29845"/>
                  </a:moveTo>
                  <a:cubicBezTo>
                    <a:pt x="0" y="13335"/>
                    <a:pt x="13335" y="0"/>
                    <a:pt x="29845" y="0"/>
                  </a:cubicBezTo>
                  <a:lnTo>
                    <a:pt x="11864975" y="0"/>
                  </a:lnTo>
                  <a:cubicBezTo>
                    <a:pt x="11881486" y="0"/>
                    <a:pt x="11894820" y="13335"/>
                    <a:pt x="11894820" y="29845"/>
                  </a:cubicBezTo>
                  <a:lnTo>
                    <a:pt x="11894820" y="3459861"/>
                  </a:lnTo>
                  <a:cubicBezTo>
                    <a:pt x="11894820" y="3476371"/>
                    <a:pt x="11881486" y="3489706"/>
                    <a:pt x="11864975" y="3489706"/>
                  </a:cubicBezTo>
                  <a:lnTo>
                    <a:pt x="29845" y="3489706"/>
                  </a:lnTo>
                  <a:cubicBezTo>
                    <a:pt x="13335" y="3489706"/>
                    <a:pt x="0" y="3476371"/>
                    <a:pt x="0" y="3459861"/>
                  </a:cubicBezTo>
                  <a:close/>
                </a:path>
              </a:pathLst>
            </a:custGeom>
            <a:solidFill>
              <a:srgbClr val="1E3543"/>
            </a:solidFill>
            <a:ln w="12700">
              <a:solidFill>
                <a:srgbClr val="000000"/>
              </a:solidFill>
            </a:ln>
          </p:spPr>
        </p:sp>
      </p:grpSp>
      <p:sp>
        <p:nvSpPr>
          <p:cNvPr name="TextBox 53" id="53"/>
          <p:cNvSpPr txBox="true"/>
          <p:nvPr/>
        </p:nvSpPr>
        <p:spPr>
          <a:xfrm rot="0">
            <a:off x="4832899" y="10412016"/>
            <a:ext cx="8622059" cy="2469356"/>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a:t>
            </a:r>
          </a:p>
          <a:p>
            <a:pPr algn="l">
              <a:lnSpc>
                <a:spcPts val="1874"/>
              </a:lnSpc>
            </a:pPr>
            <a:r>
              <a:rPr lang="en-US" sz="1124">
                <a:solidFill>
                  <a:srgbClr val="CAD6DE"/>
                </a:solidFill>
                <a:latin typeface="Consolas"/>
                <a:ea typeface="Consolas"/>
                <a:cs typeface="Consolas"/>
                <a:sym typeface="Consolas"/>
              </a:rPr>
              <a:t>  "detections":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"bbox_xyxy": [150.2, 200.5, 300.8, 450.1],</a:t>
            </a:r>
          </a:p>
          <a:p>
            <a:pPr algn="l">
              <a:lnSpc>
                <a:spcPts val="1874"/>
              </a:lnSpc>
            </a:pPr>
            <a:r>
              <a:rPr lang="en-US" sz="1124">
                <a:solidFill>
                  <a:srgbClr val="CAD6DE"/>
                </a:solidFill>
                <a:latin typeface="Consolas"/>
                <a:ea typeface="Consolas"/>
                <a:cs typeface="Consolas"/>
                <a:sym typeface="Consolas"/>
              </a:rPr>
              <a:t>      "class_id": 0,</a:t>
            </a:r>
          </a:p>
          <a:p>
            <a:pPr algn="l">
              <a:lnSpc>
                <a:spcPts val="1874"/>
              </a:lnSpc>
            </a:pPr>
            <a:r>
              <a:rPr lang="en-US" sz="1124">
                <a:solidFill>
                  <a:srgbClr val="CAD6DE"/>
                </a:solidFill>
                <a:latin typeface="Consolas"/>
                <a:ea typeface="Consolas"/>
                <a:cs typeface="Consolas"/>
                <a:sym typeface="Consolas"/>
              </a:rPr>
              <a:t>      "class_name": "clear_bottle",</a:t>
            </a:r>
          </a:p>
          <a:p>
            <a:pPr algn="l">
              <a:lnSpc>
                <a:spcPts val="1874"/>
              </a:lnSpc>
            </a:pPr>
            <a:r>
              <a:rPr lang="en-US" sz="1124">
                <a:solidFill>
                  <a:srgbClr val="CAD6DE"/>
                </a:solidFill>
                <a:latin typeface="Consolas"/>
                <a:ea typeface="Consolas"/>
                <a:cs typeface="Consolas"/>
                <a:sym typeface="Consolas"/>
              </a:rPr>
              <a:t>      "confidence": 0.987</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a:t>
            </a:r>
          </a:p>
        </p:txBody>
      </p:sp>
      <p:sp>
        <p:nvSpPr>
          <p:cNvPr name="TextBox 54" id="54"/>
          <p:cNvSpPr txBox="true"/>
          <p:nvPr/>
        </p:nvSpPr>
        <p:spPr>
          <a:xfrm rot="0">
            <a:off x="4690767" y="13198678"/>
            <a:ext cx="3844823" cy="248545"/>
          </a:xfrm>
          <a:prstGeom prst="rect">
            <a:avLst/>
          </a:prstGeom>
        </p:spPr>
        <p:txBody>
          <a:bodyPr anchor="t" rtlCol="false" tIns="0" lIns="0" bIns="0" rIns="0">
            <a:spAutoFit/>
          </a:bodyPr>
          <a:lstStyle/>
          <a:p>
            <a:pPr algn="l">
              <a:lnSpc>
                <a:spcPts val="1687"/>
              </a:lnSpc>
            </a:pPr>
            <a:r>
              <a:rPr lang="en-US" sz="1375">
                <a:solidFill>
                  <a:srgbClr val="FFFFFF"/>
                </a:solidFill>
                <a:latin typeface="Arimo"/>
                <a:ea typeface="Arimo"/>
                <a:cs typeface="Arimo"/>
                <a:sym typeface="Arimo"/>
              </a:rPr>
              <a:t>Enriched Output JSON (from </a:t>
            </a:r>
            <a:r>
              <a:rPr lang="en-US" sz="1375">
                <a:solidFill>
                  <a:srgbClr val="CAD6DE"/>
                </a:solidFill>
                <a:latin typeface="Arimo"/>
                <a:ea typeface="Arimo"/>
                <a:cs typeface="Arimo"/>
                <a:sym typeface="Arimo"/>
              </a:rPr>
              <a:t>/colorpet</a:t>
            </a:r>
            <a:r>
              <a:rPr lang="en-US" sz="1375">
                <a:solidFill>
                  <a:srgbClr val="FFFFFF"/>
                </a:solidFill>
                <a:latin typeface="Arimo"/>
                <a:ea typeface="Arimo"/>
                <a:cs typeface="Arimo"/>
                <a:sym typeface="Arimo"/>
              </a:rPr>
              <a:t>)</a:t>
            </a:r>
          </a:p>
        </p:txBody>
      </p:sp>
      <p:grpSp>
        <p:nvGrpSpPr>
          <p:cNvPr name="Group 55" id="55"/>
          <p:cNvGrpSpPr/>
          <p:nvPr/>
        </p:nvGrpSpPr>
        <p:grpSpPr>
          <a:xfrm rot="0">
            <a:off x="4690767" y="13671499"/>
            <a:ext cx="8906323" cy="3095920"/>
            <a:chOff x="0" y="0"/>
            <a:chExt cx="11875097" cy="4127894"/>
          </a:xfrm>
        </p:grpSpPr>
        <p:sp>
          <p:nvSpPr>
            <p:cNvPr name="Freeform 56" id="56"/>
            <p:cNvSpPr/>
            <p:nvPr/>
          </p:nvSpPr>
          <p:spPr>
            <a:xfrm flipH="false" flipV="false" rot="0">
              <a:off x="0" y="0"/>
              <a:ext cx="11875135" cy="4127881"/>
            </a:xfrm>
            <a:custGeom>
              <a:avLst/>
              <a:gdLst/>
              <a:ahLst/>
              <a:cxnLst/>
              <a:rect r="r" b="b" t="t" l="l"/>
              <a:pathLst>
                <a:path h="4127881" w="11875135">
                  <a:moveTo>
                    <a:pt x="0" y="29972"/>
                  </a:moveTo>
                  <a:cubicBezTo>
                    <a:pt x="0" y="13462"/>
                    <a:pt x="13462" y="0"/>
                    <a:pt x="29972" y="0"/>
                  </a:cubicBezTo>
                  <a:lnTo>
                    <a:pt x="11845163" y="0"/>
                  </a:lnTo>
                  <a:cubicBezTo>
                    <a:pt x="11861673" y="0"/>
                    <a:pt x="11875135" y="13462"/>
                    <a:pt x="11875135" y="29972"/>
                  </a:cubicBezTo>
                  <a:lnTo>
                    <a:pt x="11875135" y="4097909"/>
                  </a:lnTo>
                  <a:cubicBezTo>
                    <a:pt x="11875135" y="4114419"/>
                    <a:pt x="11861673" y="4127881"/>
                    <a:pt x="11845163" y="4127881"/>
                  </a:cubicBezTo>
                  <a:lnTo>
                    <a:pt x="29972" y="4127881"/>
                  </a:lnTo>
                  <a:cubicBezTo>
                    <a:pt x="13462" y="4127881"/>
                    <a:pt x="0" y="4114419"/>
                    <a:pt x="0" y="4097909"/>
                  </a:cubicBezTo>
                  <a:close/>
                </a:path>
              </a:pathLst>
            </a:custGeom>
            <a:solidFill>
              <a:srgbClr val="1E3543"/>
            </a:solidFill>
            <a:ln w="12700">
              <a:solidFill>
                <a:srgbClr val="000000"/>
              </a:solidFill>
            </a:ln>
          </p:spPr>
        </p:sp>
      </p:grpSp>
      <p:grpSp>
        <p:nvGrpSpPr>
          <p:cNvPr name="Group 57" id="57"/>
          <p:cNvGrpSpPr/>
          <p:nvPr/>
        </p:nvGrpSpPr>
        <p:grpSpPr>
          <a:xfrm rot="0">
            <a:off x="4683328" y="13671499"/>
            <a:ext cx="8921201" cy="3095920"/>
            <a:chOff x="0" y="0"/>
            <a:chExt cx="11894934" cy="4127894"/>
          </a:xfrm>
        </p:grpSpPr>
        <p:sp>
          <p:nvSpPr>
            <p:cNvPr name="Freeform 58" id="58"/>
            <p:cNvSpPr/>
            <p:nvPr/>
          </p:nvSpPr>
          <p:spPr>
            <a:xfrm flipH="false" flipV="false" rot="0">
              <a:off x="0" y="0"/>
              <a:ext cx="11895074" cy="4127881"/>
            </a:xfrm>
            <a:custGeom>
              <a:avLst/>
              <a:gdLst/>
              <a:ahLst/>
              <a:cxnLst/>
              <a:rect r="r" b="b" t="t" l="l"/>
              <a:pathLst>
                <a:path h="4127881" w="11895074">
                  <a:moveTo>
                    <a:pt x="0" y="29972"/>
                  </a:moveTo>
                  <a:cubicBezTo>
                    <a:pt x="0" y="13462"/>
                    <a:pt x="13462" y="0"/>
                    <a:pt x="29972" y="0"/>
                  </a:cubicBezTo>
                  <a:lnTo>
                    <a:pt x="11865102" y="0"/>
                  </a:lnTo>
                  <a:cubicBezTo>
                    <a:pt x="11881612" y="0"/>
                    <a:pt x="11895074" y="13462"/>
                    <a:pt x="11895074" y="29972"/>
                  </a:cubicBezTo>
                  <a:lnTo>
                    <a:pt x="11895074" y="4097909"/>
                  </a:lnTo>
                  <a:cubicBezTo>
                    <a:pt x="11895074" y="4114419"/>
                    <a:pt x="11881612" y="4127881"/>
                    <a:pt x="11865102" y="4127881"/>
                  </a:cubicBezTo>
                  <a:lnTo>
                    <a:pt x="29972" y="4127881"/>
                  </a:lnTo>
                  <a:cubicBezTo>
                    <a:pt x="13462" y="4127881"/>
                    <a:pt x="0" y="4114419"/>
                    <a:pt x="0" y="4097909"/>
                  </a:cubicBezTo>
                  <a:close/>
                </a:path>
              </a:pathLst>
            </a:custGeom>
            <a:solidFill>
              <a:srgbClr val="1E3543"/>
            </a:solidFill>
            <a:ln w="12700">
              <a:solidFill>
                <a:srgbClr val="000000"/>
              </a:solidFill>
            </a:ln>
          </p:spPr>
        </p:sp>
      </p:grpSp>
      <p:sp>
        <p:nvSpPr>
          <p:cNvPr name="TextBox 59" id="59"/>
          <p:cNvSpPr txBox="true"/>
          <p:nvPr/>
        </p:nvSpPr>
        <p:spPr>
          <a:xfrm rot="0">
            <a:off x="4832899" y="13707370"/>
            <a:ext cx="8622059" cy="2947988"/>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a:t>
            </a:r>
          </a:p>
          <a:p>
            <a:pPr algn="l">
              <a:lnSpc>
                <a:spcPts val="1874"/>
              </a:lnSpc>
            </a:pPr>
            <a:r>
              <a:rPr lang="en-US" sz="1124">
                <a:solidFill>
                  <a:srgbClr val="CAD6DE"/>
                </a:solidFill>
                <a:latin typeface="Consolas"/>
                <a:ea typeface="Consolas"/>
                <a:cs typeface="Consolas"/>
                <a:sym typeface="Consolas"/>
              </a:rPr>
              <a:t>  "detections":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"bbox_xyxy": [150.2, 200.5, 300.8, 450.1],</a:t>
            </a:r>
          </a:p>
          <a:p>
            <a:pPr algn="l">
              <a:lnSpc>
                <a:spcPts val="1874"/>
              </a:lnSpc>
            </a:pPr>
            <a:r>
              <a:rPr lang="en-US" sz="1124">
                <a:solidFill>
                  <a:srgbClr val="CAD6DE"/>
                </a:solidFill>
                <a:latin typeface="Consolas"/>
                <a:ea typeface="Consolas"/>
                <a:cs typeface="Consolas"/>
                <a:sym typeface="Consolas"/>
              </a:rPr>
              <a:t>      "class_id": 0,</a:t>
            </a:r>
          </a:p>
          <a:p>
            <a:pPr algn="l">
              <a:lnSpc>
                <a:spcPts val="1874"/>
              </a:lnSpc>
            </a:pPr>
            <a:r>
              <a:rPr lang="en-US" sz="1124">
                <a:solidFill>
                  <a:srgbClr val="CAD6DE"/>
                </a:solidFill>
                <a:latin typeface="Consolas"/>
                <a:ea typeface="Consolas"/>
                <a:cs typeface="Consolas"/>
                <a:sym typeface="Consolas"/>
              </a:rPr>
              <a:t>      "class_name": "clear_bottle",</a:t>
            </a:r>
          </a:p>
          <a:p>
            <a:pPr algn="l">
              <a:lnSpc>
                <a:spcPts val="1874"/>
              </a:lnSpc>
            </a:pPr>
            <a:r>
              <a:rPr lang="en-US" sz="1124">
                <a:solidFill>
                  <a:srgbClr val="CAD6DE"/>
                </a:solidFill>
                <a:latin typeface="Consolas"/>
                <a:ea typeface="Consolas"/>
                <a:cs typeface="Consolas"/>
                <a:sym typeface="Consolas"/>
              </a:rPr>
              <a:t>      "confidence": 0.987,</a:t>
            </a:r>
          </a:p>
          <a:p>
            <a:pPr algn="l">
              <a:lnSpc>
                <a:spcPts val="1874"/>
              </a:lnSpc>
            </a:pPr>
            <a:r>
              <a:rPr lang="en-US" sz="1124">
                <a:solidFill>
                  <a:srgbClr val="CAD6DE"/>
                </a:solidFill>
                <a:latin typeface="Consolas"/>
                <a:ea typeface="Consolas"/>
                <a:cs typeface="Consolas"/>
                <a:sym typeface="Consolas"/>
              </a:rPr>
              <a:t>      "bottle_color": "clear",</a:t>
            </a:r>
          </a:p>
          <a:p>
            <a:pPr algn="l">
              <a:lnSpc>
                <a:spcPts val="1874"/>
              </a:lnSpc>
            </a:pPr>
            <a:r>
              <a:rPr lang="en-US" sz="1124">
                <a:solidFill>
                  <a:srgbClr val="CAD6DE"/>
                </a:solidFill>
                <a:latin typeface="Consolas"/>
                <a:ea typeface="Consolas"/>
                <a:cs typeface="Consolas"/>
                <a:sym typeface="Consolas"/>
              </a:rPr>
              <a:t>      "is_pet": true</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4690767" y="411366"/>
            <a:ext cx="1210713" cy="280988"/>
            <a:chOff x="0" y="0"/>
            <a:chExt cx="1614284" cy="374650"/>
          </a:xfrm>
        </p:grpSpPr>
        <p:sp>
          <p:nvSpPr>
            <p:cNvPr name="Freeform 7" id="7"/>
            <p:cNvSpPr/>
            <p:nvPr/>
          </p:nvSpPr>
          <p:spPr>
            <a:xfrm flipH="false" flipV="false" rot="0">
              <a:off x="0" y="0"/>
              <a:ext cx="1614170" cy="374650"/>
            </a:xfrm>
            <a:custGeom>
              <a:avLst/>
              <a:gdLst/>
              <a:ahLst/>
              <a:cxnLst/>
              <a:rect r="r" b="b" t="t" l="l"/>
              <a:pathLst>
                <a:path h="374650" w="1614170">
                  <a:moveTo>
                    <a:pt x="0" y="23876"/>
                  </a:moveTo>
                  <a:cubicBezTo>
                    <a:pt x="0" y="10668"/>
                    <a:pt x="10668" y="0"/>
                    <a:pt x="23876" y="0"/>
                  </a:cubicBezTo>
                  <a:lnTo>
                    <a:pt x="1590294" y="0"/>
                  </a:lnTo>
                  <a:cubicBezTo>
                    <a:pt x="1603502" y="0"/>
                    <a:pt x="1614170" y="10668"/>
                    <a:pt x="1614170" y="23876"/>
                  </a:cubicBezTo>
                  <a:lnTo>
                    <a:pt x="1614170" y="350774"/>
                  </a:lnTo>
                  <a:cubicBezTo>
                    <a:pt x="1614170" y="363982"/>
                    <a:pt x="1603502" y="374650"/>
                    <a:pt x="1590294" y="374650"/>
                  </a:cubicBezTo>
                  <a:lnTo>
                    <a:pt x="23876" y="374650"/>
                  </a:lnTo>
                  <a:cubicBezTo>
                    <a:pt x="10668" y="374650"/>
                    <a:pt x="0" y="363982"/>
                    <a:pt x="0" y="350774"/>
                  </a:cubicBezTo>
                  <a:close/>
                </a:path>
              </a:pathLst>
            </a:custGeom>
            <a:solidFill>
              <a:srgbClr val="054842"/>
            </a:solidFill>
            <a:ln w="12700">
              <a:solidFill>
                <a:srgbClr val="000000"/>
              </a:solidFill>
            </a:ln>
          </p:spPr>
        </p:sp>
      </p:grpSp>
      <p:sp>
        <p:nvSpPr>
          <p:cNvPr name="TextBox 8" id="8"/>
          <p:cNvSpPr txBox="true"/>
          <p:nvPr/>
        </p:nvSpPr>
        <p:spPr>
          <a:xfrm rot="0">
            <a:off x="4780512" y="418062"/>
            <a:ext cx="1031234" cy="229495"/>
          </a:xfrm>
          <a:prstGeom prst="rect">
            <a:avLst/>
          </a:prstGeom>
        </p:spPr>
        <p:txBody>
          <a:bodyPr anchor="t" rtlCol="false" tIns="0" lIns="0" bIns="0" rIns="0">
            <a:spAutoFit/>
          </a:bodyPr>
          <a:lstStyle/>
          <a:p>
            <a:pPr algn="l">
              <a:lnSpc>
                <a:spcPts val="1500"/>
              </a:lnSpc>
            </a:pPr>
            <a:r>
              <a:rPr lang="en-US" sz="937">
                <a:solidFill>
                  <a:srgbClr val="CAD6DE"/>
                </a:solidFill>
                <a:latin typeface="Cabin"/>
                <a:ea typeface="Cabin"/>
                <a:cs typeface="Cabin"/>
                <a:sym typeface="Cabin"/>
              </a:rPr>
              <a:t>DATA ENRICHMENT</a:t>
            </a:r>
          </a:p>
        </p:txBody>
      </p:sp>
      <p:sp>
        <p:nvSpPr>
          <p:cNvPr name="TextBox 9" id="9"/>
          <p:cNvSpPr txBox="true"/>
          <p:nvPr/>
        </p:nvSpPr>
        <p:spPr>
          <a:xfrm rot="0">
            <a:off x="4690767" y="723605"/>
            <a:ext cx="7657062" cy="380552"/>
          </a:xfrm>
          <a:prstGeom prst="rect">
            <a:avLst/>
          </a:prstGeom>
        </p:spPr>
        <p:txBody>
          <a:bodyPr anchor="t" rtlCol="false" tIns="0" lIns="0" bIns="0" rIns="0">
            <a:spAutoFit/>
          </a:bodyPr>
          <a:lstStyle/>
          <a:p>
            <a:pPr algn="l">
              <a:lnSpc>
                <a:spcPts val="2750"/>
              </a:lnSpc>
            </a:pPr>
            <a:r>
              <a:rPr lang="en-US" sz="2187">
                <a:solidFill>
                  <a:srgbClr val="FFFFFF"/>
                </a:solidFill>
                <a:latin typeface="Arimo"/>
                <a:ea typeface="Arimo"/>
                <a:cs typeface="Arimo"/>
                <a:sym typeface="Arimo"/>
              </a:rPr>
              <a:t>ML Service: Weight Estimation (`/wtestimate`)</a:t>
            </a:r>
          </a:p>
        </p:txBody>
      </p:sp>
      <p:sp>
        <p:nvSpPr>
          <p:cNvPr name="TextBox 10" id="10"/>
          <p:cNvSpPr txBox="true"/>
          <p:nvPr/>
        </p:nvSpPr>
        <p:spPr>
          <a:xfrm rot="0">
            <a:off x="4690767" y="1271292"/>
            <a:ext cx="8906323" cy="775097"/>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/wtestimate endpoint provides critical physical property estimations for each detected bottle. It leverages bounding box data from the initial detection, applying geometric calculations and predefined parameters to estimate bottle length and weight without further ML inference.</a:t>
            </a:r>
          </a:p>
        </p:txBody>
      </p:sp>
      <p:sp>
        <p:nvSpPr>
          <p:cNvPr name="TextBox 11" id="11"/>
          <p:cNvSpPr txBox="true"/>
          <p:nvPr/>
        </p:nvSpPr>
        <p:spPr>
          <a:xfrm rot="0">
            <a:off x="4690767" y="2157412"/>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Takes bounding box from each detection</a:t>
            </a:r>
          </a:p>
        </p:txBody>
      </p:sp>
      <p:sp>
        <p:nvSpPr>
          <p:cNvPr name="TextBox 12" id="12"/>
          <p:cNvSpPr txBox="true"/>
          <p:nvPr/>
        </p:nvSpPr>
        <p:spPr>
          <a:xfrm rot="0">
            <a:off x="4690767" y="2448963"/>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Computes diagonal length in pixels</a:t>
            </a:r>
          </a:p>
        </p:txBody>
      </p:sp>
      <p:sp>
        <p:nvSpPr>
          <p:cNvPr name="TextBox 13" id="13"/>
          <p:cNvSpPr txBox="true"/>
          <p:nvPr/>
        </p:nvSpPr>
        <p:spPr>
          <a:xfrm rot="0">
            <a:off x="4690767" y="2740523"/>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Fixed conversion factor to convert diagonal to real-world bottle length in centimeters</a:t>
            </a:r>
          </a:p>
        </p:txBody>
      </p:sp>
      <p:sp>
        <p:nvSpPr>
          <p:cNvPr name="TextBox 14" id="14"/>
          <p:cNvSpPr txBox="true"/>
          <p:nvPr/>
        </p:nvSpPr>
        <p:spPr>
          <a:xfrm rot="0">
            <a:off x="4690767" y="3032074"/>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Simplified cylindrical approximation for weight estimation</a:t>
            </a:r>
          </a:p>
        </p:txBody>
      </p:sp>
      <p:sp>
        <p:nvSpPr>
          <p:cNvPr name="TextBox 15" id="15"/>
          <p:cNvSpPr txBox="true"/>
          <p:nvPr/>
        </p:nvSpPr>
        <p:spPr>
          <a:xfrm rot="0">
            <a:off x="4690767" y="3323634"/>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Assumes fixed bottle diameter and fixed plastic area density</a:t>
            </a:r>
          </a:p>
        </p:txBody>
      </p:sp>
      <p:sp>
        <p:nvSpPr>
          <p:cNvPr name="TextBox 16" id="16"/>
          <p:cNvSpPr txBox="true"/>
          <p:nvPr/>
        </p:nvSpPr>
        <p:spPr>
          <a:xfrm rot="0">
            <a:off x="4690767" y="3615185"/>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Lateral surface area computed and multiplied by area density</a:t>
            </a:r>
          </a:p>
        </p:txBody>
      </p:sp>
      <p:sp>
        <p:nvSpPr>
          <p:cNvPr name="TextBox 17" id="17"/>
          <p:cNvSpPr txBox="true"/>
          <p:nvPr/>
        </p:nvSpPr>
        <p:spPr>
          <a:xfrm rot="0">
            <a:off x="4690767" y="3906736"/>
            <a:ext cx="8906323" cy="29646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abin"/>
                <a:ea typeface="Cabin"/>
                <a:cs typeface="Cabin"/>
                <a:sym typeface="Cabin"/>
              </a:rPr>
              <a:t>Estimated weight in grams</a:t>
            </a:r>
          </a:p>
        </p:txBody>
      </p:sp>
      <p:sp>
        <p:nvSpPr>
          <p:cNvPr name="TextBox 18" id="18"/>
          <p:cNvSpPr txBox="true"/>
          <p:nvPr/>
        </p:nvSpPr>
        <p:spPr>
          <a:xfrm rot="0">
            <a:off x="4690767" y="4179246"/>
            <a:ext cx="8906323" cy="315516"/>
          </a:xfrm>
          <a:prstGeom prst="rect">
            <a:avLst/>
          </a:prstGeom>
        </p:spPr>
        <p:txBody>
          <a:bodyPr anchor="t" rtlCol="false" tIns="0" lIns="0" bIns="0" rIns="0">
            <a:spAutoFit/>
          </a:bodyPr>
          <a:lstStyle/>
          <a:p>
            <a:pPr algn="l" marL="169664" indent="-84832" lvl="1">
              <a:lnSpc>
                <a:spcPts val="1874"/>
              </a:lnSpc>
              <a:buFont typeface="Arial"/>
              <a:buChar char="•"/>
            </a:pPr>
            <a:r>
              <a:rPr lang="en-US" sz="1124">
                <a:solidFill>
                  <a:srgbClr val="CAD6DE"/>
                </a:solidFill>
                <a:latin typeface="Consolas"/>
                <a:ea typeface="Consolas"/>
                <a:cs typeface="Consolas"/>
                <a:sym typeface="Consolas"/>
              </a:rPr>
              <a:t>Returns estimated_length_cm and estimated_weight_g for each detection</a:t>
            </a:r>
          </a:p>
        </p:txBody>
      </p:sp>
      <p:sp>
        <p:nvSpPr>
          <p:cNvPr name="TextBox 19" id="19"/>
          <p:cNvSpPr txBox="true"/>
          <p:nvPr/>
        </p:nvSpPr>
        <p:spPr>
          <a:xfrm rot="0">
            <a:off x="4690767" y="4858645"/>
            <a:ext cx="4912671" cy="292446"/>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Weight Estimation Calculation Process</a:t>
            </a:r>
          </a:p>
        </p:txBody>
      </p:sp>
      <p:sp>
        <p:nvSpPr>
          <p:cNvPr name="Freeform 20" id="20" descr="preencoded.png"/>
          <p:cNvSpPr/>
          <p:nvPr/>
        </p:nvSpPr>
        <p:spPr>
          <a:xfrm flipH="false" flipV="false" rot="0">
            <a:off x="4690767" y="5375377"/>
            <a:ext cx="748008" cy="897579"/>
          </a:xfrm>
          <a:custGeom>
            <a:avLst/>
            <a:gdLst/>
            <a:ahLst/>
            <a:cxnLst/>
            <a:rect r="r" b="b" t="t" l="l"/>
            <a:pathLst>
              <a:path h="897579" w="748008">
                <a:moveTo>
                  <a:pt x="0" y="0"/>
                </a:moveTo>
                <a:lnTo>
                  <a:pt x="748008" y="0"/>
                </a:lnTo>
                <a:lnTo>
                  <a:pt x="748008" y="897578"/>
                </a:lnTo>
                <a:lnTo>
                  <a:pt x="0" y="897578"/>
                </a:lnTo>
                <a:lnTo>
                  <a:pt x="0" y="0"/>
                </a:lnTo>
                <a:close/>
              </a:path>
            </a:pathLst>
          </a:custGeom>
          <a:blipFill>
            <a:blip r:embed="rId5"/>
            <a:stretch>
              <a:fillRect l="-424" t="0" r="-424" b="0"/>
            </a:stretch>
          </a:blipFill>
        </p:spPr>
      </p:sp>
      <p:sp>
        <p:nvSpPr>
          <p:cNvPr name="TextBox 21" id="21"/>
          <p:cNvSpPr txBox="true"/>
          <p:nvPr/>
        </p:nvSpPr>
        <p:spPr>
          <a:xfrm rot="0">
            <a:off x="5588346" y="5505898"/>
            <a:ext cx="2024358"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Bounding Box Input</a:t>
            </a:r>
          </a:p>
        </p:txBody>
      </p:sp>
      <p:sp>
        <p:nvSpPr>
          <p:cNvPr name="TextBox 22" id="22"/>
          <p:cNvSpPr txBox="true"/>
          <p:nvPr/>
        </p:nvSpPr>
        <p:spPr>
          <a:xfrm rot="0">
            <a:off x="5588346" y="5777503"/>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endpoint receives the bbox_xyxy coordinates (x1, y1, x2, y2) for each detected bottle.</a:t>
            </a:r>
          </a:p>
        </p:txBody>
      </p:sp>
      <p:sp>
        <p:nvSpPr>
          <p:cNvPr name="Freeform 23" id="23" descr="preencoded.png"/>
          <p:cNvSpPr/>
          <p:nvPr/>
        </p:nvSpPr>
        <p:spPr>
          <a:xfrm flipH="false" flipV="false" rot="0">
            <a:off x="4690767" y="6272955"/>
            <a:ext cx="748008" cy="1320108"/>
          </a:xfrm>
          <a:custGeom>
            <a:avLst/>
            <a:gdLst/>
            <a:ahLst/>
            <a:cxnLst/>
            <a:rect r="r" b="b" t="t" l="l"/>
            <a:pathLst>
              <a:path h="1320108" w="748008">
                <a:moveTo>
                  <a:pt x="0" y="0"/>
                </a:moveTo>
                <a:lnTo>
                  <a:pt x="748008" y="0"/>
                </a:lnTo>
                <a:lnTo>
                  <a:pt x="748008" y="1320108"/>
                </a:lnTo>
                <a:lnTo>
                  <a:pt x="0" y="1320108"/>
                </a:lnTo>
                <a:lnTo>
                  <a:pt x="0" y="0"/>
                </a:lnTo>
                <a:close/>
              </a:path>
            </a:pathLst>
          </a:custGeom>
          <a:blipFill>
            <a:blip r:embed="rId6"/>
            <a:stretch>
              <a:fillRect l="-151" t="0" r="-151" b="0"/>
            </a:stretch>
          </a:blipFill>
        </p:spPr>
      </p:sp>
      <p:sp>
        <p:nvSpPr>
          <p:cNvPr name="TextBox 24" id="24"/>
          <p:cNvSpPr txBox="true"/>
          <p:nvPr/>
        </p:nvSpPr>
        <p:spPr>
          <a:xfrm rot="0">
            <a:off x="5588346" y="6403477"/>
            <a:ext cx="2685307"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Pixel Diagonal Calculation</a:t>
            </a:r>
          </a:p>
        </p:txBody>
      </p:sp>
      <p:sp>
        <p:nvSpPr>
          <p:cNvPr name="TextBox 25" id="25"/>
          <p:cNvSpPr txBox="true"/>
          <p:nvPr/>
        </p:nvSpPr>
        <p:spPr>
          <a:xfrm rot="0">
            <a:off x="5588346" y="6675091"/>
            <a:ext cx="8008734"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diagonal length of the bounding box in pixels is computed to represent the bottle's size in the image.</a:t>
            </a:r>
          </a:p>
        </p:txBody>
      </p:sp>
      <p:sp>
        <p:nvSpPr>
          <p:cNvPr name="Freeform 26" id="26" descr="preencoded.png"/>
          <p:cNvSpPr/>
          <p:nvPr/>
        </p:nvSpPr>
        <p:spPr>
          <a:xfrm flipH="false" flipV="false" rot="0">
            <a:off x="5588346" y="7160866"/>
            <a:ext cx="8008734" cy="282626"/>
          </a:xfrm>
          <a:custGeom>
            <a:avLst/>
            <a:gdLst/>
            <a:ahLst/>
            <a:cxnLst/>
            <a:rect r="r" b="b" t="t" l="l"/>
            <a:pathLst>
              <a:path h="282626" w="8008734">
                <a:moveTo>
                  <a:pt x="0" y="0"/>
                </a:moveTo>
                <a:lnTo>
                  <a:pt x="8008734" y="0"/>
                </a:lnTo>
                <a:lnTo>
                  <a:pt x="8008734" y="282626"/>
                </a:lnTo>
                <a:lnTo>
                  <a:pt x="0" y="282626"/>
                </a:lnTo>
                <a:lnTo>
                  <a:pt x="0" y="0"/>
                </a:lnTo>
                <a:close/>
              </a:path>
            </a:pathLst>
          </a:custGeom>
          <a:blipFill>
            <a:blip r:embed="rId7"/>
            <a:stretch>
              <a:fillRect l="0" t="-542" r="0" b="-539"/>
            </a:stretch>
          </a:blipFill>
        </p:spPr>
      </p:sp>
      <p:sp>
        <p:nvSpPr>
          <p:cNvPr name="Freeform 27" id="27" descr="preencoded.png"/>
          <p:cNvSpPr/>
          <p:nvPr/>
        </p:nvSpPr>
        <p:spPr>
          <a:xfrm flipH="false" flipV="false" rot="0">
            <a:off x="4690767" y="7593063"/>
            <a:ext cx="748008" cy="1540078"/>
          </a:xfrm>
          <a:custGeom>
            <a:avLst/>
            <a:gdLst/>
            <a:ahLst/>
            <a:cxnLst/>
            <a:rect r="r" b="b" t="t" l="l"/>
            <a:pathLst>
              <a:path h="1540078" w="748008">
                <a:moveTo>
                  <a:pt x="0" y="0"/>
                </a:moveTo>
                <a:lnTo>
                  <a:pt x="748008" y="0"/>
                </a:lnTo>
                <a:lnTo>
                  <a:pt x="748008" y="1540079"/>
                </a:lnTo>
                <a:lnTo>
                  <a:pt x="0" y="1540079"/>
                </a:lnTo>
                <a:lnTo>
                  <a:pt x="0" y="0"/>
                </a:lnTo>
                <a:close/>
              </a:path>
            </a:pathLst>
          </a:custGeom>
          <a:blipFill>
            <a:blip r:embed="rId8"/>
            <a:stretch>
              <a:fillRect l="-201" t="0" r="-202" b="0"/>
            </a:stretch>
          </a:blipFill>
        </p:spPr>
      </p:sp>
      <p:sp>
        <p:nvSpPr>
          <p:cNvPr name="TextBox 28" id="28"/>
          <p:cNvSpPr txBox="true"/>
          <p:nvPr/>
        </p:nvSpPr>
        <p:spPr>
          <a:xfrm rot="0">
            <a:off x="5588346" y="7723584"/>
            <a:ext cx="2460422"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Length Conversion (cm)</a:t>
            </a:r>
          </a:p>
        </p:txBody>
      </p:sp>
      <p:sp>
        <p:nvSpPr>
          <p:cNvPr name="TextBox 29" id="29"/>
          <p:cNvSpPr txBox="true"/>
          <p:nvPr/>
        </p:nvSpPr>
        <p:spPr>
          <a:xfrm rot="0">
            <a:off x="5588346" y="7995199"/>
            <a:ext cx="8008734"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A fixed conversion factor (PIXEL_TO_CM_FACTOR) translates the pixel diagonal into a real-world estimated length in centimeters.</a:t>
            </a:r>
          </a:p>
        </p:txBody>
      </p:sp>
      <p:sp>
        <p:nvSpPr>
          <p:cNvPr name="Freeform 30" id="30" descr="preencoded.png"/>
          <p:cNvSpPr/>
          <p:nvPr/>
        </p:nvSpPr>
        <p:spPr>
          <a:xfrm flipH="false" flipV="false" rot="0">
            <a:off x="5588346" y="8720290"/>
            <a:ext cx="8008734" cy="263281"/>
          </a:xfrm>
          <a:custGeom>
            <a:avLst/>
            <a:gdLst/>
            <a:ahLst/>
            <a:cxnLst/>
            <a:rect r="r" b="b" t="t" l="l"/>
            <a:pathLst>
              <a:path h="263281" w="8008734">
                <a:moveTo>
                  <a:pt x="0" y="0"/>
                </a:moveTo>
                <a:lnTo>
                  <a:pt x="8008734" y="0"/>
                </a:lnTo>
                <a:lnTo>
                  <a:pt x="8008734" y="263280"/>
                </a:lnTo>
                <a:lnTo>
                  <a:pt x="0" y="263280"/>
                </a:lnTo>
                <a:lnTo>
                  <a:pt x="0" y="0"/>
                </a:lnTo>
                <a:close/>
              </a:path>
            </a:pathLst>
          </a:custGeom>
          <a:blipFill>
            <a:blip r:embed="rId9"/>
            <a:stretch>
              <a:fillRect l="0" t="-640" r="0" b="-636"/>
            </a:stretch>
          </a:blipFill>
        </p:spPr>
      </p:sp>
      <p:sp>
        <p:nvSpPr>
          <p:cNvPr name="Freeform 31" id="31" descr="preencoded.png"/>
          <p:cNvSpPr/>
          <p:nvPr/>
        </p:nvSpPr>
        <p:spPr>
          <a:xfrm flipH="false" flipV="false" rot="0">
            <a:off x="4690767" y="9133132"/>
            <a:ext cx="748008" cy="1540078"/>
          </a:xfrm>
          <a:custGeom>
            <a:avLst/>
            <a:gdLst/>
            <a:ahLst/>
            <a:cxnLst/>
            <a:rect r="r" b="b" t="t" l="l"/>
            <a:pathLst>
              <a:path h="1540078" w="748008">
                <a:moveTo>
                  <a:pt x="0" y="0"/>
                </a:moveTo>
                <a:lnTo>
                  <a:pt x="748008" y="0"/>
                </a:lnTo>
                <a:lnTo>
                  <a:pt x="748008" y="1540078"/>
                </a:lnTo>
                <a:lnTo>
                  <a:pt x="0" y="1540078"/>
                </a:lnTo>
                <a:lnTo>
                  <a:pt x="0" y="0"/>
                </a:lnTo>
                <a:close/>
              </a:path>
            </a:pathLst>
          </a:custGeom>
          <a:blipFill>
            <a:blip r:embed="rId10"/>
            <a:stretch>
              <a:fillRect l="-201" t="0" r="-202" b="0"/>
            </a:stretch>
          </a:blipFill>
        </p:spPr>
      </p:sp>
      <p:sp>
        <p:nvSpPr>
          <p:cNvPr name="TextBox 32" id="32"/>
          <p:cNvSpPr txBox="true"/>
          <p:nvPr/>
        </p:nvSpPr>
        <p:spPr>
          <a:xfrm rot="0">
            <a:off x="5588346" y="9263653"/>
            <a:ext cx="2529335"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Cylindrical Surface Area</a:t>
            </a:r>
          </a:p>
        </p:txBody>
      </p:sp>
      <p:sp>
        <p:nvSpPr>
          <p:cNvPr name="TextBox 33" id="33"/>
          <p:cNvSpPr txBox="true"/>
          <p:nvPr/>
        </p:nvSpPr>
        <p:spPr>
          <a:xfrm rot="0">
            <a:off x="5588346" y="9535268"/>
            <a:ext cx="8008734"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Assuming a simplified cylindrical bottle shape with a fixed diameter (BOTTLE_DIAMETER_CM), the lateral surface area is calculated.</a:t>
            </a:r>
          </a:p>
        </p:txBody>
      </p:sp>
      <p:sp>
        <p:nvSpPr>
          <p:cNvPr name="Freeform 34" id="34" descr="preencoded.png"/>
          <p:cNvSpPr/>
          <p:nvPr/>
        </p:nvSpPr>
        <p:spPr>
          <a:xfrm flipH="false" flipV="false" rot="0">
            <a:off x="5588346" y="10260359"/>
            <a:ext cx="8008734" cy="263281"/>
          </a:xfrm>
          <a:custGeom>
            <a:avLst/>
            <a:gdLst/>
            <a:ahLst/>
            <a:cxnLst/>
            <a:rect r="r" b="b" t="t" l="l"/>
            <a:pathLst>
              <a:path h="263281" w="8008734">
                <a:moveTo>
                  <a:pt x="0" y="0"/>
                </a:moveTo>
                <a:lnTo>
                  <a:pt x="8008734" y="0"/>
                </a:lnTo>
                <a:lnTo>
                  <a:pt x="8008734" y="263280"/>
                </a:lnTo>
                <a:lnTo>
                  <a:pt x="0" y="263280"/>
                </a:lnTo>
                <a:lnTo>
                  <a:pt x="0" y="0"/>
                </a:lnTo>
                <a:close/>
              </a:path>
            </a:pathLst>
          </a:custGeom>
          <a:blipFill>
            <a:blip r:embed="rId11"/>
            <a:stretch>
              <a:fillRect l="0" t="-640" r="0" b="-636"/>
            </a:stretch>
          </a:blipFill>
        </p:spPr>
      </p:sp>
      <p:sp>
        <p:nvSpPr>
          <p:cNvPr name="Freeform 35" id="35" descr="preencoded.png"/>
          <p:cNvSpPr/>
          <p:nvPr/>
        </p:nvSpPr>
        <p:spPr>
          <a:xfrm flipH="false" flipV="false" rot="0">
            <a:off x="4690767" y="10673210"/>
            <a:ext cx="748008" cy="1540078"/>
          </a:xfrm>
          <a:custGeom>
            <a:avLst/>
            <a:gdLst/>
            <a:ahLst/>
            <a:cxnLst/>
            <a:rect r="r" b="b" t="t" l="l"/>
            <a:pathLst>
              <a:path h="1540078" w="748008">
                <a:moveTo>
                  <a:pt x="0" y="0"/>
                </a:moveTo>
                <a:lnTo>
                  <a:pt x="748008" y="0"/>
                </a:lnTo>
                <a:lnTo>
                  <a:pt x="748008" y="1540078"/>
                </a:lnTo>
                <a:lnTo>
                  <a:pt x="0" y="1540078"/>
                </a:lnTo>
                <a:lnTo>
                  <a:pt x="0" y="0"/>
                </a:lnTo>
                <a:close/>
              </a:path>
            </a:pathLst>
          </a:custGeom>
          <a:blipFill>
            <a:blip r:embed="rId12"/>
            <a:stretch>
              <a:fillRect l="-201" t="0" r="-202" b="0"/>
            </a:stretch>
          </a:blipFill>
        </p:spPr>
      </p:sp>
      <p:sp>
        <p:nvSpPr>
          <p:cNvPr name="TextBox 36" id="36"/>
          <p:cNvSpPr txBox="true"/>
          <p:nvPr/>
        </p:nvSpPr>
        <p:spPr>
          <a:xfrm rot="0">
            <a:off x="5588346" y="10803731"/>
            <a:ext cx="2245223" cy="239020"/>
          </a:xfrm>
          <a:prstGeom prst="rect">
            <a:avLst/>
          </a:prstGeom>
        </p:spPr>
        <p:txBody>
          <a:bodyPr anchor="t" rtlCol="false" tIns="0" lIns="0" bIns="0" rIns="0">
            <a:spAutoFit/>
          </a:bodyPr>
          <a:lstStyle/>
          <a:p>
            <a:pPr algn="l">
              <a:lnSpc>
                <a:spcPts val="1687"/>
              </a:lnSpc>
            </a:pPr>
            <a:r>
              <a:rPr lang="en-US" sz="1375">
                <a:solidFill>
                  <a:srgbClr val="CAD6DE"/>
                </a:solidFill>
                <a:latin typeface="Arimo"/>
                <a:ea typeface="Arimo"/>
                <a:cs typeface="Arimo"/>
                <a:sym typeface="Arimo"/>
              </a:rPr>
              <a:t>Weight Estimation (g)</a:t>
            </a:r>
          </a:p>
        </p:txBody>
      </p:sp>
      <p:sp>
        <p:nvSpPr>
          <p:cNvPr name="TextBox 37" id="37"/>
          <p:cNvSpPr txBox="true"/>
          <p:nvPr/>
        </p:nvSpPr>
        <p:spPr>
          <a:xfrm rot="0">
            <a:off x="5588346" y="11075346"/>
            <a:ext cx="8008734" cy="535781"/>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estimated weight in grams is derived by multiplying the calculated surface area by a fixed plastic area density (PLASTIC_AREA_DENSITY_G_CM2).</a:t>
            </a:r>
          </a:p>
        </p:txBody>
      </p:sp>
      <p:sp>
        <p:nvSpPr>
          <p:cNvPr name="Freeform 38" id="38" descr="preencoded.png"/>
          <p:cNvSpPr/>
          <p:nvPr/>
        </p:nvSpPr>
        <p:spPr>
          <a:xfrm flipH="false" flipV="false" rot="0">
            <a:off x="5588346" y="11800437"/>
            <a:ext cx="8008734" cy="263281"/>
          </a:xfrm>
          <a:custGeom>
            <a:avLst/>
            <a:gdLst/>
            <a:ahLst/>
            <a:cxnLst/>
            <a:rect r="r" b="b" t="t" l="l"/>
            <a:pathLst>
              <a:path h="263281" w="8008734">
                <a:moveTo>
                  <a:pt x="0" y="0"/>
                </a:moveTo>
                <a:lnTo>
                  <a:pt x="8008734" y="0"/>
                </a:lnTo>
                <a:lnTo>
                  <a:pt x="8008734" y="263280"/>
                </a:lnTo>
                <a:lnTo>
                  <a:pt x="0" y="263280"/>
                </a:lnTo>
                <a:lnTo>
                  <a:pt x="0" y="0"/>
                </a:lnTo>
                <a:close/>
              </a:path>
            </a:pathLst>
          </a:custGeom>
          <a:blipFill>
            <a:blip r:embed="rId13"/>
            <a:stretch>
              <a:fillRect l="0" t="-640" r="0" b="-636"/>
            </a:stretch>
          </a:blipFill>
        </p:spPr>
      </p:sp>
      <p:sp>
        <p:nvSpPr>
          <p:cNvPr name="TextBox 39" id="39"/>
          <p:cNvSpPr txBox="true"/>
          <p:nvPr/>
        </p:nvSpPr>
        <p:spPr>
          <a:xfrm rot="0">
            <a:off x="4690767" y="12408989"/>
            <a:ext cx="3858073" cy="292446"/>
          </a:xfrm>
          <a:prstGeom prst="rect">
            <a:avLst/>
          </a:prstGeom>
        </p:spPr>
        <p:txBody>
          <a:bodyPr anchor="t" rtlCol="false" tIns="0" lIns="0" bIns="0" rIns="0">
            <a:spAutoFit/>
          </a:bodyPr>
          <a:lstStyle/>
          <a:p>
            <a:pPr algn="l">
              <a:lnSpc>
                <a:spcPts val="2062"/>
              </a:lnSpc>
            </a:pPr>
            <a:r>
              <a:rPr lang="en-US" sz="1625">
                <a:solidFill>
                  <a:srgbClr val="FFFFFF"/>
                </a:solidFill>
                <a:latin typeface="Arimo"/>
                <a:ea typeface="Arimo"/>
                <a:cs typeface="Arimo"/>
                <a:sym typeface="Arimo"/>
              </a:rPr>
              <a:t>Sample Enriched Output JSON</a:t>
            </a:r>
          </a:p>
        </p:txBody>
      </p:sp>
      <p:sp>
        <p:nvSpPr>
          <p:cNvPr name="TextBox 40" id="40"/>
          <p:cNvSpPr txBox="true"/>
          <p:nvPr/>
        </p:nvSpPr>
        <p:spPr>
          <a:xfrm rot="0">
            <a:off x="4690767" y="12868570"/>
            <a:ext cx="8906323" cy="296466"/>
          </a:xfrm>
          <a:prstGeom prst="rect">
            <a:avLst/>
          </a:prstGeom>
        </p:spPr>
        <p:txBody>
          <a:bodyPr anchor="t" rtlCol="false" tIns="0" lIns="0" bIns="0" rIns="0">
            <a:spAutoFit/>
          </a:bodyPr>
          <a:lstStyle/>
          <a:p>
            <a:pPr algn="l">
              <a:lnSpc>
                <a:spcPts val="1874"/>
              </a:lnSpc>
            </a:pPr>
            <a:r>
              <a:rPr lang="en-US" sz="1124">
                <a:solidFill>
                  <a:srgbClr val="CAD6DE"/>
                </a:solidFill>
                <a:latin typeface="Cabin"/>
                <a:ea typeface="Cabin"/>
                <a:cs typeface="Cabin"/>
                <a:sym typeface="Cabin"/>
              </a:rPr>
              <a:t>The /wtestimate endpoint appends the estimated_length_cm and estimated_weight_g fields to the detection object, as shown below:</a:t>
            </a:r>
          </a:p>
        </p:txBody>
      </p:sp>
      <p:grpSp>
        <p:nvGrpSpPr>
          <p:cNvPr name="Group 41" id="41"/>
          <p:cNvGrpSpPr/>
          <p:nvPr/>
        </p:nvGrpSpPr>
        <p:grpSpPr>
          <a:xfrm rot="0">
            <a:off x="4690767" y="13333209"/>
            <a:ext cx="8906323" cy="3574552"/>
            <a:chOff x="0" y="0"/>
            <a:chExt cx="11875097" cy="4766069"/>
          </a:xfrm>
        </p:grpSpPr>
        <p:sp>
          <p:nvSpPr>
            <p:cNvPr name="Freeform 42" id="42"/>
            <p:cNvSpPr/>
            <p:nvPr/>
          </p:nvSpPr>
          <p:spPr>
            <a:xfrm flipH="false" flipV="false" rot="0">
              <a:off x="0" y="0"/>
              <a:ext cx="11875135" cy="4766056"/>
            </a:xfrm>
            <a:custGeom>
              <a:avLst/>
              <a:gdLst/>
              <a:ahLst/>
              <a:cxnLst/>
              <a:rect r="r" b="b" t="t" l="l"/>
              <a:pathLst>
                <a:path h="4766056" w="11875135">
                  <a:moveTo>
                    <a:pt x="0" y="29972"/>
                  </a:moveTo>
                  <a:cubicBezTo>
                    <a:pt x="0" y="13462"/>
                    <a:pt x="13462" y="0"/>
                    <a:pt x="29972" y="0"/>
                  </a:cubicBezTo>
                  <a:lnTo>
                    <a:pt x="11845163" y="0"/>
                  </a:lnTo>
                  <a:cubicBezTo>
                    <a:pt x="11861673" y="0"/>
                    <a:pt x="11875135" y="13462"/>
                    <a:pt x="11875135" y="29972"/>
                  </a:cubicBezTo>
                  <a:lnTo>
                    <a:pt x="11875135" y="4736084"/>
                  </a:lnTo>
                  <a:cubicBezTo>
                    <a:pt x="11875135" y="4752594"/>
                    <a:pt x="11861673" y="4766056"/>
                    <a:pt x="11845163" y="4766056"/>
                  </a:cubicBezTo>
                  <a:lnTo>
                    <a:pt x="29972" y="4766056"/>
                  </a:lnTo>
                  <a:cubicBezTo>
                    <a:pt x="13462" y="4766056"/>
                    <a:pt x="0" y="4752594"/>
                    <a:pt x="0" y="4736084"/>
                  </a:cubicBezTo>
                  <a:close/>
                </a:path>
              </a:pathLst>
            </a:custGeom>
            <a:solidFill>
              <a:srgbClr val="1E3543"/>
            </a:solidFill>
            <a:ln w="12700">
              <a:solidFill>
                <a:srgbClr val="000000"/>
              </a:solidFill>
            </a:ln>
          </p:spPr>
        </p:sp>
      </p:grpSp>
      <p:grpSp>
        <p:nvGrpSpPr>
          <p:cNvPr name="Group 43" id="43"/>
          <p:cNvGrpSpPr/>
          <p:nvPr/>
        </p:nvGrpSpPr>
        <p:grpSpPr>
          <a:xfrm rot="0">
            <a:off x="4683328" y="13333209"/>
            <a:ext cx="8921201" cy="3574552"/>
            <a:chOff x="0" y="0"/>
            <a:chExt cx="11894934" cy="4766069"/>
          </a:xfrm>
        </p:grpSpPr>
        <p:sp>
          <p:nvSpPr>
            <p:cNvPr name="Freeform 44" id="44"/>
            <p:cNvSpPr/>
            <p:nvPr/>
          </p:nvSpPr>
          <p:spPr>
            <a:xfrm flipH="false" flipV="false" rot="0">
              <a:off x="0" y="0"/>
              <a:ext cx="11895074" cy="4766056"/>
            </a:xfrm>
            <a:custGeom>
              <a:avLst/>
              <a:gdLst/>
              <a:ahLst/>
              <a:cxnLst/>
              <a:rect r="r" b="b" t="t" l="l"/>
              <a:pathLst>
                <a:path h="4766056" w="11895074">
                  <a:moveTo>
                    <a:pt x="0" y="29972"/>
                  </a:moveTo>
                  <a:cubicBezTo>
                    <a:pt x="0" y="13462"/>
                    <a:pt x="13462" y="0"/>
                    <a:pt x="29972" y="0"/>
                  </a:cubicBezTo>
                  <a:lnTo>
                    <a:pt x="11865102" y="0"/>
                  </a:lnTo>
                  <a:cubicBezTo>
                    <a:pt x="11881612" y="0"/>
                    <a:pt x="11895074" y="13462"/>
                    <a:pt x="11895074" y="29972"/>
                  </a:cubicBezTo>
                  <a:lnTo>
                    <a:pt x="11895074" y="4736084"/>
                  </a:lnTo>
                  <a:cubicBezTo>
                    <a:pt x="11895074" y="4752594"/>
                    <a:pt x="11881612" y="4766056"/>
                    <a:pt x="11865102" y="4766056"/>
                  </a:cubicBezTo>
                  <a:lnTo>
                    <a:pt x="29972" y="4766056"/>
                  </a:lnTo>
                  <a:cubicBezTo>
                    <a:pt x="13462" y="4766056"/>
                    <a:pt x="0" y="4752594"/>
                    <a:pt x="0" y="4736084"/>
                  </a:cubicBezTo>
                  <a:close/>
                </a:path>
              </a:pathLst>
            </a:custGeom>
            <a:solidFill>
              <a:srgbClr val="1E3543"/>
            </a:solidFill>
            <a:ln w="12700">
              <a:solidFill>
                <a:srgbClr val="000000"/>
              </a:solidFill>
            </a:ln>
          </p:spPr>
        </p:sp>
      </p:grpSp>
      <p:sp>
        <p:nvSpPr>
          <p:cNvPr name="TextBox 45" id="45"/>
          <p:cNvSpPr txBox="true"/>
          <p:nvPr/>
        </p:nvSpPr>
        <p:spPr>
          <a:xfrm rot="0">
            <a:off x="4832899" y="13369080"/>
            <a:ext cx="8622059" cy="3426619"/>
          </a:xfrm>
          <a:prstGeom prst="rect">
            <a:avLst/>
          </a:prstGeom>
        </p:spPr>
        <p:txBody>
          <a:bodyPr anchor="t" rtlCol="false" tIns="0" lIns="0" bIns="0" rIns="0">
            <a:spAutoFit/>
          </a:bodyPr>
          <a:lstStyle/>
          <a:p>
            <a:pPr algn="l">
              <a:lnSpc>
                <a:spcPts val="1874"/>
              </a:lnSpc>
            </a:pPr>
            <a:r>
              <a:rPr lang="en-US" sz="1124">
                <a:solidFill>
                  <a:srgbClr val="CAD6DE"/>
                </a:solidFill>
                <a:latin typeface="Consolas"/>
                <a:ea typeface="Consolas"/>
                <a:cs typeface="Consolas"/>
                <a:sym typeface="Consolas"/>
              </a:rPr>
              <a:t>{</a:t>
            </a:r>
          </a:p>
          <a:p>
            <a:pPr algn="l">
              <a:lnSpc>
                <a:spcPts val="1874"/>
              </a:lnSpc>
            </a:pPr>
            <a:r>
              <a:rPr lang="en-US" sz="1124">
                <a:solidFill>
                  <a:srgbClr val="CAD6DE"/>
                </a:solidFill>
                <a:latin typeface="Consolas"/>
                <a:ea typeface="Consolas"/>
                <a:cs typeface="Consolas"/>
                <a:sym typeface="Consolas"/>
              </a:rPr>
              <a:t>  "detections":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"bbox_xyxy": [150.2, 200.5, 300.8, 450.1],</a:t>
            </a:r>
          </a:p>
          <a:p>
            <a:pPr algn="l">
              <a:lnSpc>
                <a:spcPts val="1874"/>
              </a:lnSpc>
            </a:pPr>
            <a:r>
              <a:rPr lang="en-US" sz="1124">
                <a:solidFill>
                  <a:srgbClr val="CAD6DE"/>
                </a:solidFill>
                <a:latin typeface="Consolas"/>
                <a:ea typeface="Consolas"/>
                <a:cs typeface="Consolas"/>
                <a:sym typeface="Consolas"/>
              </a:rPr>
              <a:t>      "class_id": 0,</a:t>
            </a:r>
          </a:p>
          <a:p>
            <a:pPr algn="l">
              <a:lnSpc>
                <a:spcPts val="1874"/>
              </a:lnSpc>
            </a:pPr>
            <a:r>
              <a:rPr lang="en-US" sz="1124">
                <a:solidFill>
                  <a:srgbClr val="CAD6DE"/>
                </a:solidFill>
                <a:latin typeface="Consolas"/>
                <a:ea typeface="Consolas"/>
                <a:cs typeface="Consolas"/>
                <a:sym typeface="Consolas"/>
              </a:rPr>
              <a:t>      "class_name": "clear_bottle",</a:t>
            </a:r>
          </a:p>
          <a:p>
            <a:pPr algn="l">
              <a:lnSpc>
                <a:spcPts val="1874"/>
              </a:lnSpc>
            </a:pPr>
            <a:r>
              <a:rPr lang="en-US" sz="1124">
                <a:solidFill>
                  <a:srgbClr val="CAD6DE"/>
                </a:solidFill>
                <a:latin typeface="Consolas"/>
                <a:ea typeface="Consolas"/>
                <a:cs typeface="Consolas"/>
                <a:sym typeface="Consolas"/>
              </a:rPr>
              <a:t>      "confidence": 0.987,</a:t>
            </a:r>
          </a:p>
          <a:p>
            <a:pPr algn="l">
              <a:lnSpc>
                <a:spcPts val="1874"/>
              </a:lnSpc>
            </a:pPr>
            <a:r>
              <a:rPr lang="en-US" sz="1124">
                <a:solidFill>
                  <a:srgbClr val="CAD6DE"/>
                </a:solidFill>
                <a:latin typeface="Consolas"/>
                <a:ea typeface="Consolas"/>
                <a:cs typeface="Consolas"/>
                <a:sym typeface="Consolas"/>
              </a:rPr>
              <a:t>      "bottle_color": "clear",</a:t>
            </a:r>
          </a:p>
          <a:p>
            <a:pPr algn="l">
              <a:lnSpc>
                <a:spcPts val="1874"/>
              </a:lnSpc>
            </a:pPr>
            <a:r>
              <a:rPr lang="en-US" sz="1124">
                <a:solidFill>
                  <a:srgbClr val="CAD6DE"/>
                </a:solidFill>
                <a:latin typeface="Consolas"/>
                <a:ea typeface="Consolas"/>
                <a:cs typeface="Consolas"/>
                <a:sym typeface="Consolas"/>
              </a:rPr>
              <a:t>      "is_pet": true,</a:t>
            </a:r>
          </a:p>
          <a:p>
            <a:pPr algn="l">
              <a:lnSpc>
                <a:spcPts val="1874"/>
              </a:lnSpc>
            </a:pPr>
            <a:r>
              <a:rPr lang="en-US" sz="1124">
                <a:solidFill>
                  <a:srgbClr val="CAD6DE"/>
                </a:solidFill>
                <a:latin typeface="Consolas"/>
                <a:ea typeface="Consolas"/>
                <a:cs typeface="Consolas"/>
                <a:sym typeface="Consolas"/>
              </a:rPr>
              <a:t>      "estimated_length_cm": 25.5,</a:t>
            </a:r>
          </a:p>
          <a:p>
            <a:pPr algn="l">
              <a:lnSpc>
                <a:spcPts val="1874"/>
              </a:lnSpc>
            </a:pPr>
            <a:r>
              <a:rPr lang="en-US" sz="1124">
                <a:solidFill>
                  <a:srgbClr val="CAD6DE"/>
                </a:solidFill>
                <a:latin typeface="Consolas"/>
                <a:ea typeface="Consolas"/>
                <a:cs typeface="Consolas"/>
                <a:sym typeface="Consolas"/>
              </a:rPr>
              <a:t>      "estimated_weight_g": 32.1</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  ]</a:t>
            </a:r>
          </a:p>
          <a:p>
            <a:pPr algn="l">
              <a:lnSpc>
                <a:spcPts val="1874"/>
              </a:lnSpc>
            </a:pPr>
            <a:r>
              <a:rPr lang="en-US" sz="1124">
                <a:solidFill>
                  <a:srgbClr val="CAD6DE"/>
                </a:solidFill>
                <a:latin typeface="Consolas"/>
                <a:ea typeface="Consolas"/>
                <a:cs typeface="Consolas"/>
                <a:sym typeface="Consolas"/>
              </a:rPr>
              <a: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2301631" y="632069"/>
            <a:ext cx="2483491" cy="432044"/>
            <a:chOff x="0" y="0"/>
            <a:chExt cx="3311322" cy="576059"/>
          </a:xfrm>
        </p:grpSpPr>
        <p:sp>
          <p:nvSpPr>
            <p:cNvPr name="Freeform 7" id="7"/>
            <p:cNvSpPr/>
            <p:nvPr/>
          </p:nvSpPr>
          <p:spPr>
            <a:xfrm flipH="false" flipV="false" rot="0">
              <a:off x="0" y="0"/>
              <a:ext cx="3311398" cy="576072"/>
            </a:xfrm>
            <a:custGeom>
              <a:avLst/>
              <a:gdLst/>
              <a:ahLst/>
              <a:cxnLst/>
              <a:rect r="r" b="b" t="t" l="l"/>
              <a:pathLst>
                <a:path h="576072" w="3311398">
                  <a:moveTo>
                    <a:pt x="0" y="36830"/>
                  </a:moveTo>
                  <a:cubicBezTo>
                    <a:pt x="0" y="16510"/>
                    <a:pt x="16510" y="0"/>
                    <a:pt x="36830" y="0"/>
                  </a:cubicBezTo>
                  <a:lnTo>
                    <a:pt x="3274568" y="0"/>
                  </a:lnTo>
                  <a:cubicBezTo>
                    <a:pt x="3294888" y="0"/>
                    <a:pt x="3311398" y="16510"/>
                    <a:pt x="3311398" y="36830"/>
                  </a:cubicBezTo>
                  <a:lnTo>
                    <a:pt x="3311398" y="539242"/>
                  </a:lnTo>
                  <a:cubicBezTo>
                    <a:pt x="3311398" y="559562"/>
                    <a:pt x="3294888" y="576072"/>
                    <a:pt x="3274568" y="576072"/>
                  </a:cubicBezTo>
                  <a:lnTo>
                    <a:pt x="36830" y="576072"/>
                  </a:lnTo>
                  <a:cubicBezTo>
                    <a:pt x="16510" y="576072"/>
                    <a:pt x="0" y="559562"/>
                    <a:pt x="0" y="539242"/>
                  </a:cubicBezTo>
                  <a:close/>
                </a:path>
              </a:pathLst>
            </a:custGeom>
            <a:solidFill>
              <a:srgbClr val="054842"/>
            </a:solidFill>
            <a:ln w="12700">
              <a:solidFill>
                <a:srgbClr val="000000"/>
              </a:solidFill>
            </a:ln>
          </p:spPr>
        </p:sp>
      </p:grpSp>
      <p:sp>
        <p:nvSpPr>
          <p:cNvPr name="TextBox 8" id="8"/>
          <p:cNvSpPr txBox="true"/>
          <p:nvPr/>
        </p:nvSpPr>
        <p:spPr>
          <a:xfrm rot="0">
            <a:off x="2439438" y="634308"/>
            <a:ext cx="2207866" cy="360912"/>
          </a:xfrm>
          <a:prstGeom prst="rect">
            <a:avLst/>
          </a:prstGeom>
        </p:spPr>
        <p:txBody>
          <a:bodyPr anchor="t" rtlCol="false" tIns="0" lIns="0" bIns="0" rIns="0">
            <a:spAutoFit/>
          </a:bodyPr>
          <a:lstStyle/>
          <a:p>
            <a:pPr algn="l">
              <a:lnSpc>
                <a:spcPts val="2312"/>
              </a:lnSpc>
            </a:pPr>
            <a:r>
              <a:rPr lang="en-US" sz="1437">
                <a:solidFill>
                  <a:srgbClr val="CAD6DE"/>
                </a:solidFill>
                <a:latin typeface="Cabin"/>
                <a:ea typeface="Cabin"/>
                <a:cs typeface="Cabin"/>
                <a:sym typeface="Cabin"/>
              </a:rPr>
              <a:t>ARCHITECTURE OVERVIEW</a:t>
            </a:r>
          </a:p>
        </p:txBody>
      </p:sp>
      <p:sp>
        <p:nvSpPr>
          <p:cNvPr name="TextBox 9" id="9"/>
          <p:cNvSpPr txBox="true"/>
          <p:nvPr/>
        </p:nvSpPr>
        <p:spPr>
          <a:xfrm rot="0">
            <a:off x="2301631" y="1117844"/>
            <a:ext cx="11983345" cy="714080"/>
          </a:xfrm>
          <a:prstGeom prst="rect">
            <a:avLst/>
          </a:prstGeom>
        </p:spPr>
        <p:txBody>
          <a:bodyPr anchor="t" rtlCol="false" tIns="0" lIns="0" bIns="0" rIns="0">
            <a:spAutoFit/>
          </a:bodyPr>
          <a:lstStyle/>
          <a:p>
            <a:pPr algn="l">
              <a:lnSpc>
                <a:spcPts val="5312"/>
              </a:lnSpc>
            </a:pPr>
            <a:r>
              <a:rPr lang="en-US" sz="4250">
                <a:solidFill>
                  <a:srgbClr val="FFFFFF"/>
                </a:solidFill>
                <a:latin typeface="Arimo"/>
                <a:ea typeface="Arimo"/>
                <a:cs typeface="Arimo"/>
                <a:sym typeface="Arimo"/>
              </a:rPr>
              <a:t>ML Service: Overall Architecture Flow</a:t>
            </a:r>
          </a:p>
        </p:txBody>
      </p:sp>
      <p:sp>
        <p:nvSpPr>
          <p:cNvPr name="TextBox 10" id="10"/>
          <p:cNvSpPr txBox="true"/>
          <p:nvPr/>
        </p:nvSpPr>
        <p:spPr>
          <a:xfrm rot="0">
            <a:off x="2301631" y="2100415"/>
            <a:ext cx="13684596" cy="812006"/>
          </a:xfrm>
          <a:prstGeom prst="rect">
            <a:avLst/>
          </a:prstGeom>
        </p:spPr>
        <p:txBody>
          <a:bodyPr anchor="t" rtlCol="false" tIns="0" lIns="0" bIns="0" rIns="0">
            <a:spAutoFit/>
          </a:bodyPr>
          <a:lstStyle/>
          <a:p>
            <a:pPr algn="l">
              <a:lnSpc>
                <a:spcPts val="2874"/>
              </a:lnSpc>
            </a:pPr>
            <a:r>
              <a:rPr lang="en-US" sz="1750">
                <a:solidFill>
                  <a:srgbClr val="CAD6DE"/>
                </a:solidFill>
                <a:latin typeface="Cabin"/>
                <a:ea typeface="Cabin"/>
                <a:cs typeface="Cabin"/>
                <a:sym typeface="Cabin"/>
              </a:rPr>
              <a:t>The complete ML service architecture orchestrates the processing of uploaded images through a series of dedicated endpoints, culminating in a fully enriched JSON output with object detection, color classification, PET recyclability, and physical property estimations.</a:t>
            </a:r>
          </a:p>
        </p:txBody>
      </p:sp>
      <p:sp>
        <p:nvSpPr>
          <p:cNvPr name="Freeform 11" id="11" descr="preencoded.png"/>
          <p:cNvSpPr/>
          <p:nvPr/>
        </p:nvSpPr>
        <p:spPr>
          <a:xfrm flipH="false" flipV="false" rot="0">
            <a:off x="2358028" y="3170930"/>
            <a:ext cx="13571782" cy="5852522"/>
          </a:xfrm>
          <a:custGeom>
            <a:avLst/>
            <a:gdLst/>
            <a:ahLst/>
            <a:cxnLst/>
            <a:rect r="r" b="b" t="t" l="l"/>
            <a:pathLst>
              <a:path h="5852522" w="13571782">
                <a:moveTo>
                  <a:pt x="0" y="0"/>
                </a:moveTo>
                <a:lnTo>
                  <a:pt x="13571782" y="0"/>
                </a:lnTo>
                <a:lnTo>
                  <a:pt x="13571782" y="5852522"/>
                </a:lnTo>
                <a:lnTo>
                  <a:pt x="0" y="5852522"/>
                </a:lnTo>
                <a:lnTo>
                  <a:pt x="0" y="0"/>
                </a:lnTo>
                <a:close/>
              </a:path>
            </a:pathLst>
          </a:custGeom>
          <a:blipFill>
            <a:blip r:embed="rId5"/>
            <a:stretch>
              <a:fillRect l="-40" t="0" r="-40" b="0"/>
            </a:stretch>
          </a:blipFill>
        </p:spPr>
      </p:sp>
      <p:sp>
        <p:nvSpPr>
          <p:cNvPr name="TextBox 12" id="12"/>
          <p:cNvSpPr txBox="true"/>
          <p:nvPr/>
        </p:nvSpPr>
        <p:spPr>
          <a:xfrm rot="0">
            <a:off x="3271218" y="7905874"/>
            <a:ext cx="5830233" cy="381048"/>
          </a:xfrm>
          <a:prstGeom prst="rect">
            <a:avLst/>
          </a:prstGeom>
        </p:spPr>
        <p:txBody>
          <a:bodyPr anchor="t" rtlCol="false" tIns="0" lIns="0" bIns="0" rIns="0">
            <a:spAutoFit/>
          </a:bodyPr>
          <a:lstStyle/>
          <a:p>
            <a:pPr algn="l">
              <a:lnSpc>
                <a:spcPts val="1937"/>
              </a:lnSpc>
            </a:pPr>
            <a:r>
              <a:rPr lang="en-US" sz="1562">
                <a:solidFill>
                  <a:srgbClr val="FFFFFF"/>
                </a:solidFill>
                <a:latin typeface="Arimo"/>
                <a:ea typeface="Arimo"/>
                <a:cs typeface="Arimo"/>
                <a:sym typeface="Arimo"/>
              </a:rPr>
              <a:t>/colorpet (Rule-based Enrichment)</a:t>
            </a:r>
          </a:p>
        </p:txBody>
      </p:sp>
      <p:sp>
        <p:nvSpPr>
          <p:cNvPr name="TextBox 13" id="13"/>
          <p:cNvSpPr txBox="true"/>
          <p:nvPr/>
        </p:nvSpPr>
        <p:spPr>
          <a:xfrm rot="0">
            <a:off x="3271218" y="6551114"/>
            <a:ext cx="3846624" cy="381048"/>
          </a:xfrm>
          <a:prstGeom prst="rect">
            <a:avLst/>
          </a:prstGeom>
        </p:spPr>
        <p:txBody>
          <a:bodyPr anchor="t" rtlCol="false" tIns="0" lIns="0" bIns="0" rIns="0">
            <a:spAutoFit/>
          </a:bodyPr>
          <a:lstStyle/>
          <a:p>
            <a:pPr algn="l">
              <a:lnSpc>
                <a:spcPts val="1937"/>
              </a:lnSpc>
            </a:pPr>
            <a:r>
              <a:rPr lang="en-US" sz="1562">
                <a:solidFill>
                  <a:srgbClr val="FFFFFF"/>
                </a:solidFill>
                <a:latin typeface="Arimo"/>
                <a:ea typeface="Arimo"/>
                <a:cs typeface="Arimo"/>
                <a:sym typeface="Arimo"/>
              </a:rPr>
              <a:t>/infer (YOLO Inference)</a:t>
            </a:r>
          </a:p>
        </p:txBody>
      </p:sp>
      <p:sp>
        <p:nvSpPr>
          <p:cNvPr name="TextBox 14" id="14"/>
          <p:cNvSpPr txBox="true"/>
          <p:nvPr/>
        </p:nvSpPr>
        <p:spPr>
          <a:xfrm rot="0">
            <a:off x="3271218" y="5210032"/>
            <a:ext cx="3416627" cy="381048"/>
          </a:xfrm>
          <a:prstGeom prst="rect">
            <a:avLst/>
          </a:prstGeom>
        </p:spPr>
        <p:txBody>
          <a:bodyPr anchor="t" rtlCol="false" tIns="0" lIns="0" bIns="0" rIns="0">
            <a:spAutoFit/>
          </a:bodyPr>
          <a:lstStyle/>
          <a:p>
            <a:pPr algn="l">
              <a:lnSpc>
                <a:spcPts val="1937"/>
              </a:lnSpc>
            </a:pPr>
            <a:r>
              <a:rPr lang="en-US" sz="1562">
                <a:solidFill>
                  <a:srgbClr val="FFFFFF"/>
                </a:solidFill>
                <a:latin typeface="Arimo"/>
                <a:ea typeface="Arimo"/>
                <a:cs typeface="Arimo"/>
                <a:sym typeface="Arimo"/>
              </a:rPr>
              <a:t>FastAPI Application</a:t>
            </a:r>
          </a:p>
        </p:txBody>
      </p:sp>
      <p:sp>
        <p:nvSpPr>
          <p:cNvPr name="TextBox 15" id="15"/>
          <p:cNvSpPr txBox="true"/>
          <p:nvPr/>
        </p:nvSpPr>
        <p:spPr>
          <a:xfrm rot="0">
            <a:off x="3271218" y="3855272"/>
            <a:ext cx="2897686" cy="381048"/>
          </a:xfrm>
          <a:prstGeom prst="rect">
            <a:avLst/>
          </a:prstGeom>
        </p:spPr>
        <p:txBody>
          <a:bodyPr anchor="t" rtlCol="false" tIns="0" lIns="0" bIns="0" rIns="0">
            <a:spAutoFit/>
          </a:bodyPr>
          <a:lstStyle/>
          <a:p>
            <a:pPr algn="l">
              <a:lnSpc>
                <a:spcPts val="1937"/>
              </a:lnSpc>
            </a:pPr>
            <a:r>
              <a:rPr lang="en-US" sz="1562">
                <a:solidFill>
                  <a:srgbClr val="FFFFFF"/>
                </a:solidFill>
                <a:latin typeface="Arimo"/>
                <a:ea typeface="Arimo"/>
                <a:cs typeface="Arimo"/>
                <a:sym typeface="Arimo"/>
              </a:rPr>
              <a:t>Client</a:t>
            </a:r>
          </a:p>
        </p:txBody>
      </p:sp>
      <p:sp>
        <p:nvSpPr>
          <p:cNvPr name="TextBox 16" id="16"/>
          <p:cNvSpPr txBox="true"/>
          <p:nvPr/>
        </p:nvSpPr>
        <p:spPr>
          <a:xfrm rot="0">
            <a:off x="2301631" y="9205760"/>
            <a:ext cx="13684596" cy="453628"/>
          </a:xfrm>
          <a:prstGeom prst="rect">
            <a:avLst/>
          </a:prstGeom>
        </p:spPr>
        <p:txBody>
          <a:bodyPr anchor="t" rtlCol="false" tIns="0" lIns="0" bIns="0" rIns="0">
            <a:spAutoFit/>
          </a:bodyPr>
          <a:lstStyle/>
          <a:p>
            <a:pPr algn="l">
              <a:lnSpc>
                <a:spcPts val="2874"/>
              </a:lnSpc>
            </a:pPr>
            <a:r>
              <a:rPr lang="en-US" sz="1750">
                <a:solidFill>
                  <a:srgbClr val="CAD6DE"/>
                </a:solidFill>
                <a:latin typeface="Cabin"/>
                <a:ea typeface="Cabin"/>
                <a:cs typeface="Cabin"/>
                <a:sym typeface="Cabin"/>
              </a:rPr>
              <a:t>The FastAPI application is typically deployed using Uvicorn on 0.0.0.0:8000, making it accessible for client requests.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grpSp>
        <p:nvGrpSpPr>
          <p:cNvPr name="Group 6" id="6"/>
          <p:cNvGrpSpPr/>
          <p:nvPr/>
        </p:nvGrpSpPr>
        <p:grpSpPr>
          <a:xfrm rot="0">
            <a:off x="1259681" y="729253"/>
            <a:ext cx="2297459" cy="497681"/>
            <a:chOff x="0" y="0"/>
            <a:chExt cx="3063278" cy="663575"/>
          </a:xfrm>
        </p:grpSpPr>
        <p:sp>
          <p:nvSpPr>
            <p:cNvPr name="Freeform 7" id="7"/>
            <p:cNvSpPr/>
            <p:nvPr/>
          </p:nvSpPr>
          <p:spPr>
            <a:xfrm flipH="false" flipV="false" rot="0">
              <a:off x="0" y="0"/>
              <a:ext cx="3063367" cy="663575"/>
            </a:xfrm>
            <a:custGeom>
              <a:avLst/>
              <a:gdLst/>
              <a:ahLst/>
              <a:cxnLst/>
              <a:rect r="r" b="b" t="t" l="l"/>
              <a:pathLst>
                <a:path h="663575" w="3063367">
                  <a:moveTo>
                    <a:pt x="0" y="42418"/>
                  </a:moveTo>
                  <a:cubicBezTo>
                    <a:pt x="0" y="18923"/>
                    <a:pt x="18923" y="0"/>
                    <a:pt x="42418" y="0"/>
                  </a:cubicBezTo>
                  <a:lnTo>
                    <a:pt x="3020949" y="0"/>
                  </a:lnTo>
                  <a:cubicBezTo>
                    <a:pt x="3044317" y="0"/>
                    <a:pt x="3063367" y="18923"/>
                    <a:pt x="3063367" y="42418"/>
                  </a:cubicBezTo>
                  <a:lnTo>
                    <a:pt x="3063367" y="621157"/>
                  </a:lnTo>
                  <a:cubicBezTo>
                    <a:pt x="3063367" y="644525"/>
                    <a:pt x="3044444" y="663575"/>
                    <a:pt x="3020949" y="663575"/>
                  </a:cubicBezTo>
                  <a:lnTo>
                    <a:pt x="42418" y="663575"/>
                  </a:lnTo>
                  <a:cubicBezTo>
                    <a:pt x="18923" y="663575"/>
                    <a:pt x="0" y="644652"/>
                    <a:pt x="0" y="621157"/>
                  </a:cubicBezTo>
                  <a:close/>
                </a:path>
              </a:pathLst>
            </a:custGeom>
            <a:solidFill>
              <a:srgbClr val="054842"/>
            </a:solidFill>
            <a:ln w="12700">
              <a:solidFill>
                <a:srgbClr val="000000"/>
              </a:solidFill>
            </a:ln>
          </p:spPr>
        </p:sp>
      </p:grpSp>
      <p:sp>
        <p:nvSpPr>
          <p:cNvPr name="TextBox 8" id="8"/>
          <p:cNvSpPr txBox="true"/>
          <p:nvPr/>
        </p:nvSpPr>
        <p:spPr>
          <a:xfrm rot="0">
            <a:off x="1418482" y="741912"/>
            <a:ext cx="1979857" cy="405708"/>
          </a:xfrm>
          <a:prstGeom prst="rect">
            <a:avLst/>
          </a:prstGeom>
        </p:spPr>
        <p:txBody>
          <a:bodyPr anchor="t" rtlCol="false" tIns="0" lIns="0" bIns="0" rIns="0">
            <a:spAutoFit/>
          </a:bodyPr>
          <a:lstStyle/>
          <a:p>
            <a:pPr algn="l">
              <a:lnSpc>
                <a:spcPts val="2625"/>
              </a:lnSpc>
            </a:pPr>
            <a:r>
              <a:rPr lang="en-US" sz="1625">
                <a:solidFill>
                  <a:srgbClr val="CAD6DE"/>
                </a:solidFill>
                <a:latin typeface="Cabin"/>
                <a:ea typeface="Cabin"/>
                <a:cs typeface="Cabin"/>
                <a:sym typeface="Cabin"/>
              </a:rPr>
              <a:t>DETECTION SCHEMA</a:t>
            </a:r>
          </a:p>
        </p:txBody>
      </p:sp>
      <p:sp>
        <p:nvSpPr>
          <p:cNvPr name="TextBox 9" id="9"/>
          <p:cNvSpPr txBox="true"/>
          <p:nvPr/>
        </p:nvSpPr>
        <p:spPr>
          <a:xfrm rot="0">
            <a:off x="1259681" y="1294657"/>
            <a:ext cx="8443322" cy="661245"/>
          </a:xfrm>
          <a:prstGeom prst="rect">
            <a:avLst/>
          </a:prstGeom>
        </p:spPr>
        <p:txBody>
          <a:bodyPr anchor="t" rtlCol="false" tIns="0" lIns="0" bIns="0" rIns="0">
            <a:spAutoFit/>
          </a:bodyPr>
          <a:lstStyle/>
          <a:p>
            <a:pPr algn="l">
              <a:lnSpc>
                <a:spcPts val="4875"/>
              </a:lnSpc>
            </a:pPr>
            <a:r>
              <a:rPr lang="en-US" sz="3875">
                <a:solidFill>
                  <a:srgbClr val="FFFFFF"/>
                </a:solidFill>
                <a:latin typeface="Arimo"/>
                <a:ea typeface="Arimo"/>
                <a:cs typeface="Arimo"/>
                <a:sym typeface="Arimo"/>
              </a:rPr>
              <a:t>Merged Detection Response</a:t>
            </a:r>
          </a:p>
        </p:txBody>
      </p:sp>
      <p:sp>
        <p:nvSpPr>
          <p:cNvPr name="TextBox 10" id="10"/>
          <p:cNvSpPr txBox="true"/>
          <p:nvPr/>
        </p:nvSpPr>
        <p:spPr>
          <a:xfrm rot="0">
            <a:off x="1259681" y="2267398"/>
            <a:ext cx="15768638" cy="509587"/>
          </a:xfrm>
          <a:prstGeom prst="rect">
            <a:avLst/>
          </a:prstGeom>
        </p:spPr>
        <p:txBody>
          <a:bodyPr anchor="t" rtlCol="false" tIns="0" lIns="0" bIns="0" rIns="0">
            <a:spAutoFit/>
          </a:bodyPr>
          <a:lstStyle/>
          <a:p>
            <a:pPr algn="l">
              <a:lnSpc>
                <a:spcPts val="3312"/>
              </a:lnSpc>
            </a:pPr>
            <a:r>
              <a:rPr lang="en-US" sz="2062">
                <a:solidFill>
                  <a:srgbClr val="CAD6DE"/>
                </a:solidFill>
                <a:latin typeface="Cabin"/>
                <a:ea typeface="Cabin"/>
                <a:cs typeface="Cabin"/>
                <a:sym typeface="Cabin"/>
              </a:rPr>
              <a:t>Each bottle detection combines data from all three ML endpoints into a comprehensive result object:</a:t>
            </a:r>
          </a:p>
        </p:txBody>
      </p:sp>
      <p:grpSp>
        <p:nvGrpSpPr>
          <p:cNvPr name="Group 11" id="11"/>
          <p:cNvGrpSpPr/>
          <p:nvPr/>
        </p:nvGrpSpPr>
        <p:grpSpPr>
          <a:xfrm rot="0">
            <a:off x="1259681" y="3074937"/>
            <a:ext cx="15768638" cy="4635703"/>
            <a:chOff x="0" y="0"/>
            <a:chExt cx="21024850" cy="6180938"/>
          </a:xfrm>
        </p:grpSpPr>
        <p:sp>
          <p:nvSpPr>
            <p:cNvPr name="Freeform 12" id="12"/>
            <p:cNvSpPr/>
            <p:nvPr/>
          </p:nvSpPr>
          <p:spPr>
            <a:xfrm flipH="false" flipV="false" rot="0">
              <a:off x="0" y="0"/>
              <a:ext cx="21024850" cy="6180963"/>
            </a:xfrm>
            <a:custGeom>
              <a:avLst/>
              <a:gdLst/>
              <a:ahLst/>
              <a:cxnLst/>
              <a:rect r="r" b="b" t="t" l="l"/>
              <a:pathLst>
                <a:path h="6180963" w="21024850">
                  <a:moveTo>
                    <a:pt x="0" y="52959"/>
                  </a:moveTo>
                  <a:cubicBezTo>
                    <a:pt x="0" y="23749"/>
                    <a:pt x="23749" y="0"/>
                    <a:pt x="52959" y="0"/>
                  </a:cubicBezTo>
                  <a:lnTo>
                    <a:pt x="20971890" y="0"/>
                  </a:lnTo>
                  <a:cubicBezTo>
                    <a:pt x="21001101" y="0"/>
                    <a:pt x="21024850" y="23749"/>
                    <a:pt x="21024850" y="52959"/>
                  </a:cubicBezTo>
                  <a:lnTo>
                    <a:pt x="21024850" y="6128004"/>
                  </a:lnTo>
                  <a:cubicBezTo>
                    <a:pt x="21024850" y="6157214"/>
                    <a:pt x="21001101" y="6180963"/>
                    <a:pt x="20971890" y="6180963"/>
                  </a:cubicBezTo>
                  <a:lnTo>
                    <a:pt x="52959" y="6180963"/>
                  </a:lnTo>
                  <a:cubicBezTo>
                    <a:pt x="23749" y="6180963"/>
                    <a:pt x="0" y="6157214"/>
                    <a:pt x="0" y="6128004"/>
                  </a:cubicBezTo>
                  <a:close/>
                </a:path>
              </a:pathLst>
            </a:custGeom>
            <a:solidFill>
              <a:srgbClr val="1E3543"/>
            </a:solidFill>
            <a:ln w="12700">
              <a:solidFill>
                <a:srgbClr val="000000"/>
              </a:solidFill>
            </a:ln>
          </p:spPr>
        </p:sp>
      </p:grpSp>
      <p:grpSp>
        <p:nvGrpSpPr>
          <p:cNvPr name="Group 13" id="13"/>
          <p:cNvGrpSpPr/>
          <p:nvPr/>
        </p:nvGrpSpPr>
        <p:grpSpPr>
          <a:xfrm rot="0">
            <a:off x="1246584" y="3074937"/>
            <a:ext cx="15794831" cy="4635703"/>
            <a:chOff x="0" y="0"/>
            <a:chExt cx="21059775" cy="6180938"/>
          </a:xfrm>
        </p:grpSpPr>
        <p:sp>
          <p:nvSpPr>
            <p:cNvPr name="Freeform 14" id="14"/>
            <p:cNvSpPr/>
            <p:nvPr/>
          </p:nvSpPr>
          <p:spPr>
            <a:xfrm flipH="false" flipV="false" rot="0">
              <a:off x="0" y="0"/>
              <a:ext cx="21059775" cy="6180963"/>
            </a:xfrm>
            <a:custGeom>
              <a:avLst/>
              <a:gdLst/>
              <a:ahLst/>
              <a:cxnLst/>
              <a:rect r="r" b="b" t="t" l="l"/>
              <a:pathLst>
                <a:path h="6180963" w="21059775">
                  <a:moveTo>
                    <a:pt x="0" y="52959"/>
                  </a:moveTo>
                  <a:cubicBezTo>
                    <a:pt x="0" y="23749"/>
                    <a:pt x="23749" y="0"/>
                    <a:pt x="52959" y="0"/>
                  </a:cubicBezTo>
                  <a:lnTo>
                    <a:pt x="21006815" y="0"/>
                  </a:lnTo>
                  <a:cubicBezTo>
                    <a:pt x="21036026" y="0"/>
                    <a:pt x="21059775" y="23749"/>
                    <a:pt x="21059775" y="52959"/>
                  </a:cubicBezTo>
                  <a:lnTo>
                    <a:pt x="21059775" y="6128004"/>
                  </a:lnTo>
                  <a:cubicBezTo>
                    <a:pt x="21059775" y="6157214"/>
                    <a:pt x="21036026" y="6180963"/>
                    <a:pt x="21006815" y="6180963"/>
                  </a:cubicBezTo>
                  <a:lnTo>
                    <a:pt x="52959" y="6180963"/>
                  </a:lnTo>
                  <a:cubicBezTo>
                    <a:pt x="23749" y="6180963"/>
                    <a:pt x="0" y="6157214"/>
                    <a:pt x="0" y="6128004"/>
                  </a:cubicBezTo>
                  <a:close/>
                </a:path>
              </a:pathLst>
            </a:custGeom>
            <a:solidFill>
              <a:srgbClr val="1E3543"/>
            </a:solidFill>
            <a:ln w="12700">
              <a:solidFill>
                <a:srgbClr val="000000"/>
              </a:solidFill>
            </a:ln>
          </p:spPr>
        </p:sp>
      </p:grpSp>
      <p:sp>
        <p:nvSpPr>
          <p:cNvPr name="TextBox 15" id="15"/>
          <p:cNvSpPr txBox="true"/>
          <p:nvPr/>
        </p:nvSpPr>
        <p:spPr>
          <a:xfrm rot="0">
            <a:off x="1511351" y="3149651"/>
            <a:ext cx="15265298" cy="4362450"/>
          </a:xfrm>
          <a:prstGeom prst="rect">
            <a:avLst/>
          </a:prstGeom>
        </p:spPr>
        <p:txBody>
          <a:bodyPr anchor="t" rtlCol="false" tIns="0" lIns="0" bIns="0" rIns="0">
            <a:spAutoFit/>
          </a:bodyPr>
          <a:lstStyle/>
          <a:p>
            <a:pPr algn="l">
              <a:lnSpc>
                <a:spcPts val="3312"/>
              </a:lnSpc>
            </a:pPr>
            <a:r>
              <a:rPr lang="en-US" sz="2062">
                <a:solidFill>
                  <a:srgbClr val="CAD6DE"/>
                </a:solidFill>
                <a:latin typeface="Consolas"/>
                <a:ea typeface="Consolas"/>
                <a:cs typeface="Consolas"/>
                <a:sym typeface="Consolas"/>
              </a:rPr>
              <a:t>{</a:t>
            </a:r>
          </a:p>
          <a:p>
            <a:pPr algn="l">
              <a:lnSpc>
                <a:spcPts val="3312"/>
              </a:lnSpc>
            </a:pPr>
            <a:r>
              <a:rPr lang="en-US" sz="2062">
                <a:solidFill>
                  <a:srgbClr val="CAD6DE"/>
                </a:solidFill>
                <a:latin typeface="Consolas"/>
                <a:ea typeface="Consolas"/>
                <a:cs typeface="Consolas"/>
                <a:sym typeface="Consolas"/>
              </a:rPr>
              <a:t>  "bbox_xyxy": [615, 165, 917, 350],</a:t>
            </a:r>
          </a:p>
          <a:p>
            <a:pPr algn="l">
              <a:lnSpc>
                <a:spcPts val="3312"/>
              </a:lnSpc>
            </a:pPr>
            <a:r>
              <a:rPr lang="en-US" sz="2062">
                <a:solidFill>
                  <a:srgbClr val="CAD6DE"/>
                </a:solidFill>
                <a:latin typeface="Consolas"/>
                <a:ea typeface="Consolas"/>
                <a:cs typeface="Consolas"/>
                <a:sym typeface="Consolas"/>
              </a:rPr>
              <a:t>  "class_id": 2,</a:t>
            </a:r>
          </a:p>
          <a:p>
            <a:pPr algn="l">
              <a:lnSpc>
                <a:spcPts val="3312"/>
              </a:lnSpc>
            </a:pPr>
            <a:r>
              <a:rPr lang="en-US" sz="2062">
                <a:solidFill>
                  <a:srgbClr val="CAD6DE"/>
                </a:solidFill>
                <a:latin typeface="Consolas"/>
                <a:ea typeface="Consolas"/>
                <a:cs typeface="Consolas"/>
                <a:sym typeface="Consolas"/>
              </a:rPr>
              <a:t>  "class_name": "bottle-dark",</a:t>
            </a:r>
          </a:p>
          <a:p>
            <a:pPr algn="l">
              <a:lnSpc>
                <a:spcPts val="3312"/>
              </a:lnSpc>
            </a:pPr>
            <a:r>
              <a:rPr lang="en-US" sz="2062">
                <a:solidFill>
                  <a:srgbClr val="CAD6DE"/>
                </a:solidFill>
                <a:latin typeface="Consolas"/>
                <a:ea typeface="Consolas"/>
                <a:cs typeface="Consolas"/>
                <a:sym typeface="Consolas"/>
              </a:rPr>
              <a:t>  "confidence": 0.9861,</a:t>
            </a:r>
          </a:p>
          <a:p>
            <a:pPr algn="l">
              <a:lnSpc>
                <a:spcPts val="3312"/>
              </a:lnSpc>
            </a:pPr>
            <a:r>
              <a:rPr lang="en-US" sz="2062">
                <a:solidFill>
                  <a:srgbClr val="CAD6DE"/>
                </a:solidFill>
                <a:latin typeface="Consolas"/>
                <a:ea typeface="Consolas"/>
                <a:cs typeface="Consolas"/>
                <a:sym typeface="Consolas"/>
              </a:rPr>
              <a:t>  "color": "black",</a:t>
            </a:r>
          </a:p>
          <a:p>
            <a:pPr algn="l">
              <a:lnSpc>
                <a:spcPts val="3312"/>
              </a:lnSpc>
            </a:pPr>
            <a:r>
              <a:rPr lang="en-US" sz="2062">
                <a:solidFill>
                  <a:srgbClr val="CAD6DE"/>
                </a:solidFill>
                <a:latin typeface="Consolas"/>
                <a:ea typeface="Consolas"/>
                <a:cs typeface="Consolas"/>
                <a:sym typeface="Consolas"/>
              </a:rPr>
              <a:t>  "is_pet": true,</a:t>
            </a:r>
          </a:p>
          <a:p>
            <a:pPr algn="l">
              <a:lnSpc>
                <a:spcPts val="3312"/>
              </a:lnSpc>
            </a:pPr>
            <a:r>
              <a:rPr lang="en-US" sz="2062">
                <a:solidFill>
                  <a:srgbClr val="CAD6DE"/>
                </a:solidFill>
                <a:latin typeface="Consolas"/>
                <a:ea typeface="Consolas"/>
                <a:cs typeface="Consolas"/>
                <a:sym typeface="Consolas"/>
              </a:rPr>
              <a:t>  "estimated_length_cm": 25.76,</a:t>
            </a:r>
          </a:p>
          <a:p>
            <a:pPr algn="l">
              <a:lnSpc>
                <a:spcPts val="3312"/>
              </a:lnSpc>
            </a:pPr>
            <a:r>
              <a:rPr lang="en-US" sz="2062">
                <a:solidFill>
                  <a:srgbClr val="CAD6DE"/>
                </a:solidFill>
                <a:latin typeface="Consolas"/>
                <a:ea typeface="Consolas"/>
                <a:cs typeface="Consolas"/>
                <a:sym typeface="Consolas"/>
              </a:rPr>
              <a:t>  "estimated_weight_g": 16.75</a:t>
            </a:r>
          </a:p>
          <a:p>
            <a:pPr algn="l">
              <a:lnSpc>
                <a:spcPts val="3312"/>
              </a:lnSpc>
            </a:pPr>
            <a:r>
              <a:rPr lang="en-US" sz="2062">
                <a:solidFill>
                  <a:srgbClr val="CAD6DE"/>
                </a:solidFill>
                <a:latin typeface="Consolas"/>
                <a:ea typeface="Consolas"/>
                <a:cs typeface="Consolas"/>
                <a:sym typeface="Consolas"/>
              </a:rPr>
              <a:t>}</a:t>
            </a:r>
          </a:p>
        </p:txBody>
      </p:sp>
      <p:grpSp>
        <p:nvGrpSpPr>
          <p:cNvPr name="Group 16" id="16"/>
          <p:cNvGrpSpPr/>
          <p:nvPr/>
        </p:nvGrpSpPr>
        <p:grpSpPr>
          <a:xfrm rot="0">
            <a:off x="1259681" y="8008591"/>
            <a:ext cx="15768638" cy="1549156"/>
            <a:chOff x="0" y="0"/>
            <a:chExt cx="21024850" cy="2065541"/>
          </a:xfrm>
        </p:grpSpPr>
        <p:sp>
          <p:nvSpPr>
            <p:cNvPr name="Freeform 17" id="17"/>
            <p:cNvSpPr/>
            <p:nvPr/>
          </p:nvSpPr>
          <p:spPr>
            <a:xfrm flipH="false" flipV="false" rot="0">
              <a:off x="0" y="0"/>
              <a:ext cx="21024850" cy="2065528"/>
            </a:xfrm>
            <a:custGeom>
              <a:avLst/>
              <a:gdLst/>
              <a:ahLst/>
              <a:cxnLst/>
              <a:rect r="r" b="b" t="t" l="l"/>
              <a:pathLst>
                <a:path h="2065528" w="21024850">
                  <a:moveTo>
                    <a:pt x="0" y="52959"/>
                  </a:moveTo>
                  <a:cubicBezTo>
                    <a:pt x="0" y="23749"/>
                    <a:pt x="23749" y="0"/>
                    <a:pt x="52959" y="0"/>
                  </a:cubicBezTo>
                  <a:lnTo>
                    <a:pt x="20971890" y="0"/>
                  </a:lnTo>
                  <a:cubicBezTo>
                    <a:pt x="21001101" y="0"/>
                    <a:pt x="21024850" y="23749"/>
                    <a:pt x="21024850" y="52959"/>
                  </a:cubicBezTo>
                  <a:lnTo>
                    <a:pt x="21024850" y="2012569"/>
                  </a:lnTo>
                  <a:cubicBezTo>
                    <a:pt x="21024850" y="2041779"/>
                    <a:pt x="21001101" y="2065528"/>
                    <a:pt x="20971890" y="2065528"/>
                  </a:cubicBezTo>
                  <a:lnTo>
                    <a:pt x="52959" y="2065528"/>
                  </a:lnTo>
                  <a:cubicBezTo>
                    <a:pt x="23749" y="2065528"/>
                    <a:pt x="0" y="2041779"/>
                    <a:pt x="0" y="2012569"/>
                  </a:cubicBezTo>
                  <a:close/>
                </a:path>
              </a:pathLst>
            </a:custGeom>
            <a:solidFill>
              <a:srgbClr val="054842"/>
            </a:solidFill>
            <a:ln w="12700">
              <a:solidFill>
                <a:srgbClr val="000000"/>
              </a:solidFill>
            </a:ln>
          </p:spPr>
        </p:sp>
      </p:grpSp>
      <p:sp>
        <p:nvSpPr>
          <p:cNvPr name="Freeform 18" id="18" descr="preencoded.png"/>
          <p:cNvSpPr/>
          <p:nvPr/>
        </p:nvSpPr>
        <p:spPr>
          <a:xfrm flipH="false" flipV="false" rot="0">
            <a:off x="1524448" y="8412509"/>
            <a:ext cx="330994" cy="264766"/>
          </a:xfrm>
          <a:custGeom>
            <a:avLst/>
            <a:gdLst/>
            <a:ahLst/>
            <a:cxnLst/>
            <a:rect r="r" b="b" t="t" l="l"/>
            <a:pathLst>
              <a:path h="264766" w="330994">
                <a:moveTo>
                  <a:pt x="0" y="0"/>
                </a:moveTo>
                <a:lnTo>
                  <a:pt x="330993" y="0"/>
                </a:lnTo>
                <a:lnTo>
                  <a:pt x="330993" y="264766"/>
                </a:lnTo>
                <a:lnTo>
                  <a:pt x="0" y="264766"/>
                </a:lnTo>
                <a:lnTo>
                  <a:pt x="0" y="0"/>
                </a:lnTo>
                <a:close/>
              </a:path>
            </a:pathLst>
          </a:custGeom>
          <a:blipFill>
            <a:blip r:embed="rId5"/>
            <a:stretch>
              <a:fillRect l="0" t="-7" r="0" b="-3"/>
            </a:stretch>
          </a:blipFill>
        </p:spPr>
      </p:sp>
      <p:sp>
        <p:nvSpPr>
          <p:cNvPr name="TextBox 19" id="19"/>
          <p:cNvSpPr txBox="true"/>
          <p:nvPr/>
        </p:nvSpPr>
        <p:spPr>
          <a:xfrm rot="0">
            <a:off x="2120208" y="8253708"/>
            <a:ext cx="14643344" cy="933450"/>
          </a:xfrm>
          <a:prstGeom prst="rect">
            <a:avLst/>
          </a:prstGeom>
        </p:spPr>
        <p:txBody>
          <a:bodyPr anchor="t" rtlCol="false" tIns="0" lIns="0" bIns="0" rIns="0">
            <a:spAutoFit/>
          </a:bodyPr>
          <a:lstStyle/>
          <a:p>
            <a:pPr algn="l">
              <a:lnSpc>
                <a:spcPts val="3312"/>
              </a:lnSpc>
            </a:pPr>
            <a:r>
              <a:rPr lang="en-US" sz="2062">
                <a:solidFill>
                  <a:srgbClr val="FFFFFF"/>
                </a:solidFill>
                <a:latin typeface="Cabin"/>
                <a:ea typeface="Cabin"/>
                <a:cs typeface="Cabin"/>
                <a:sym typeface="Cabin"/>
              </a:rPr>
              <a:t>The API intelligently merges responses by matching bounding box coordinates, with fallback to index-based matching when bbox alignment fails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TextBox 6" id="6"/>
          <p:cNvSpPr txBox="true"/>
          <p:nvPr/>
        </p:nvSpPr>
        <p:spPr>
          <a:xfrm rot="0">
            <a:off x="1047159" y="1155059"/>
            <a:ext cx="10979496" cy="751732"/>
          </a:xfrm>
          <a:prstGeom prst="rect">
            <a:avLst/>
          </a:prstGeom>
        </p:spPr>
        <p:txBody>
          <a:bodyPr anchor="t" rtlCol="false" tIns="0" lIns="0" bIns="0" rIns="0">
            <a:spAutoFit/>
          </a:bodyPr>
          <a:lstStyle/>
          <a:p>
            <a:pPr algn="l">
              <a:lnSpc>
                <a:spcPts val="5500"/>
              </a:lnSpc>
            </a:pPr>
            <a:r>
              <a:rPr lang="en-US" sz="4375">
                <a:solidFill>
                  <a:srgbClr val="FFFFFF"/>
                </a:solidFill>
                <a:latin typeface="Arimo"/>
                <a:ea typeface="Arimo"/>
                <a:cs typeface="Arimo"/>
                <a:sym typeface="Arimo"/>
              </a:rPr>
              <a:t>Comprehensive Analytics Engine</a:t>
            </a:r>
          </a:p>
        </p:txBody>
      </p:sp>
      <p:sp>
        <p:nvSpPr>
          <p:cNvPr name="TextBox 7" id="7"/>
          <p:cNvSpPr txBox="true"/>
          <p:nvPr/>
        </p:nvSpPr>
        <p:spPr>
          <a:xfrm rot="0">
            <a:off x="1047159" y="2955874"/>
            <a:ext cx="3678879" cy="873023"/>
          </a:xfrm>
          <a:prstGeom prst="rect">
            <a:avLst/>
          </a:prstGeom>
        </p:spPr>
        <p:txBody>
          <a:bodyPr anchor="t" rtlCol="false" tIns="0" lIns="0" bIns="0" rIns="0">
            <a:spAutoFit/>
          </a:bodyPr>
          <a:lstStyle/>
          <a:p>
            <a:pPr algn="ctr">
              <a:lnSpc>
                <a:spcPts val="7750"/>
              </a:lnSpc>
            </a:pPr>
            <a:r>
              <a:rPr lang="en-US" sz="7750">
                <a:solidFill>
                  <a:srgbClr val="CAD6DE"/>
                </a:solidFill>
                <a:latin typeface="Arimo"/>
                <a:ea typeface="Arimo"/>
                <a:cs typeface="Arimo"/>
                <a:sym typeface="Arimo"/>
              </a:rPr>
              <a:t>5</a:t>
            </a:r>
          </a:p>
        </p:txBody>
      </p:sp>
      <p:sp>
        <p:nvSpPr>
          <p:cNvPr name="TextBox 8" id="8"/>
          <p:cNvSpPr txBox="true"/>
          <p:nvPr/>
        </p:nvSpPr>
        <p:spPr>
          <a:xfrm rot="0">
            <a:off x="1126484" y="4164654"/>
            <a:ext cx="3520230" cy="478041"/>
          </a:xfrm>
          <a:prstGeom prst="rect">
            <a:avLst/>
          </a:prstGeom>
        </p:spPr>
        <p:txBody>
          <a:bodyPr anchor="t" rtlCol="false" tIns="0" lIns="0" bIns="0" rIns="0">
            <a:spAutoFit/>
          </a:bodyPr>
          <a:lstStyle/>
          <a:p>
            <a:pPr algn="ctr">
              <a:lnSpc>
                <a:spcPts val="3437"/>
              </a:lnSpc>
            </a:pPr>
            <a:r>
              <a:rPr lang="en-US" sz="2750">
                <a:solidFill>
                  <a:srgbClr val="CAD6DE"/>
                </a:solidFill>
                <a:latin typeface="Arimo"/>
                <a:ea typeface="Arimo"/>
                <a:cs typeface="Arimo"/>
                <a:sym typeface="Arimo"/>
              </a:rPr>
              <a:t>Total Bottles</a:t>
            </a:r>
          </a:p>
        </p:txBody>
      </p:sp>
      <p:sp>
        <p:nvSpPr>
          <p:cNvPr name="TextBox 9" id="9"/>
          <p:cNvSpPr txBox="true"/>
          <p:nvPr/>
        </p:nvSpPr>
        <p:spPr>
          <a:xfrm rot="0">
            <a:off x="1047159" y="4846587"/>
            <a:ext cx="3678879" cy="574034"/>
          </a:xfrm>
          <a:prstGeom prst="rect">
            <a:avLst/>
          </a:prstGeom>
        </p:spPr>
        <p:txBody>
          <a:bodyPr anchor="t" rtlCol="false" tIns="0" lIns="0" bIns="0" rIns="0">
            <a:spAutoFit/>
          </a:bodyPr>
          <a:lstStyle/>
          <a:p>
            <a:pPr algn="ctr">
              <a:lnSpc>
                <a:spcPts val="3750"/>
              </a:lnSpc>
            </a:pPr>
            <a:r>
              <a:rPr lang="en-US" sz="2312">
                <a:solidFill>
                  <a:srgbClr val="CAD6DE"/>
                </a:solidFill>
                <a:latin typeface="Cabin"/>
                <a:ea typeface="Cabin"/>
                <a:cs typeface="Cabin"/>
                <a:sym typeface="Cabin"/>
              </a:rPr>
              <a:t>Detected in image</a:t>
            </a:r>
          </a:p>
        </p:txBody>
      </p:sp>
      <p:sp>
        <p:nvSpPr>
          <p:cNvPr name="TextBox 10" id="10"/>
          <p:cNvSpPr txBox="true"/>
          <p:nvPr/>
        </p:nvSpPr>
        <p:spPr>
          <a:xfrm rot="0">
            <a:off x="5100047" y="2955874"/>
            <a:ext cx="3679031" cy="873023"/>
          </a:xfrm>
          <a:prstGeom prst="rect">
            <a:avLst/>
          </a:prstGeom>
        </p:spPr>
        <p:txBody>
          <a:bodyPr anchor="t" rtlCol="false" tIns="0" lIns="0" bIns="0" rIns="0">
            <a:spAutoFit/>
          </a:bodyPr>
          <a:lstStyle/>
          <a:p>
            <a:pPr algn="ctr">
              <a:lnSpc>
                <a:spcPts val="7750"/>
              </a:lnSpc>
            </a:pPr>
            <a:r>
              <a:rPr lang="en-US" sz="7750">
                <a:solidFill>
                  <a:srgbClr val="CAD6DE"/>
                </a:solidFill>
                <a:latin typeface="Arimo"/>
                <a:ea typeface="Arimo"/>
                <a:cs typeface="Arimo"/>
                <a:sym typeface="Arimo"/>
              </a:rPr>
              <a:t>95.67%</a:t>
            </a:r>
          </a:p>
        </p:txBody>
      </p:sp>
      <p:sp>
        <p:nvSpPr>
          <p:cNvPr name="TextBox 11" id="11"/>
          <p:cNvSpPr txBox="true"/>
          <p:nvPr/>
        </p:nvSpPr>
        <p:spPr>
          <a:xfrm rot="0">
            <a:off x="5179371" y="4164654"/>
            <a:ext cx="3520230" cy="478041"/>
          </a:xfrm>
          <a:prstGeom prst="rect">
            <a:avLst/>
          </a:prstGeom>
        </p:spPr>
        <p:txBody>
          <a:bodyPr anchor="t" rtlCol="false" tIns="0" lIns="0" bIns="0" rIns="0">
            <a:spAutoFit/>
          </a:bodyPr>
          <a:lstStyle/>
          <a:p>
            <a:pPr algn="ctr">
              <a:lnSpc>
                <a:spcPts val="3437"/>
              </a:lnSpc>
            </a:pPr>
            <a:r>
              <a:rPr lang="en-US" sz="2750">
                <a:solidFill>
                  <a:srgbClr val="CAD6DE"/>
                </a:solidFill>
                <a:latin typeface="Arimo"/>
                <a:ea typeface="Arimo"/>
                <a:cs typeface="Arimo"/>
                <a:sym typeface="Arimo"/>
              </a:rPr>
              <a:t>Avg Confidence</a:t>
            </a:r>
          </a:p>
        </p:txBody>
      </p:sp>
      <p:sp>
        <p:nvSpPr>
          <p:cNvPr name="TextBox 12" id="12"/>
          <p:cNvSpPr txBox="true"/>
          <p:nvPr/>
        </p:nvSpPr>
        <p:spPr>
          <a:xfrm rot="0">
            <a:off x="5100047" y="4846587"/>
            <a:ext cx="3679031" cy="574034"/>
          </a:xfrm>
          <a:prstGeom prst="rect">
            <a:avLst/>
          </a:prstGeom>
        </p:spPr>
        <p:txBody>
          <a:bodyPr anchor="t" rtlCol="false" tIns="0" lIns="0" bIns="0" rIns="0">
            <a:spAutoFit/>
          </a:bodyPr>
          <a:lstStyle/>
          <a:p>
            <a:pPr algn="ctr">
              <a:lnSpc>
                <a:spcPts val="3750"/>
              </a:lnSpc>
            </a:pPr>
            <a:r>
              <a:rPr lang="en-US" sz="2312">
                <a:solidFill>
                  <a:srgbClr val="CAD6DE"/>
                </a:solidFill>
                <a:latin typeface="Cabin"/>
                <a:ea typeface="Cabin"/>
                <a:cs typeface="Cabin"/>
                <a:sym typeface="Cabin"/>
              </a:rPr>
              <a:t>Detection accuracy</a:t>
            </a:r>
          </a:p>
        </p:txBody>
      </p:sp>
      <p:sp>
        <p:nvSpPr>
          <p:cNvPr name="TextBox 13" id="13"/>
          <p:cNvSpPr txBox="true"/>
          <p:nvPr/>
        </p:nvSpPr>
        <p:spPr>
          <a:xfrm rot="0">
            <a:off x="1047159" y="6282928"/>
            <a:ext cx="3678879" cy="873023"/>
          </a:xfrm>
          <a:prstGeom prst="rect">
            <a:avLst/>
          </a:prstGeom>
        </p:spPr>
        <p:txBody>
          <a:bodyPr anchor="t" rtlCol="false" tIns="0" lIns="0" bIns="0" rIns="0">
            <a:spAutoFit/>
          </a:bodyPr>
          <a:lstStyle/>
          <a:p>
            <a:pPr algn="ctr">
              <a:lnSpc>
                <a:spcPts val="7750"/>
              </a:lnSpc>
            </a:pPr>
            <a:r>
              <a:rPr lang="en-US" sz="7750">
                <a:solidFill>
                  <a:srgbClr val="CAD6DE"/>
                </a:solidFill>
                <a:latin typeface="Arimo"/>
                <a:ea typeface="Arimo"/>
                <a:cs typeface="Arimo"/>
                <a:sym typeface="Arimo"/>
              </a:rPr>
              <a:t>79.2g</a:t>
            </a:r>
          </a:p>
        </p:txBody>
      </p:sp>
      <p:sp>
        <p:nvSpPr>
          <p:cNvPr name="TextBox 14" id="14"/>
          <p:cNvSpPr txBox="true"/>
          <p:nvPr/>
        </p:nvSpPr>
        <p:spPr>
          <a:xfrm rot="0">
            <a:off x="1126484" y="7491708"/>
            <a:ext cx="3520230" cy="478041"/>
          </a:xfrm>
          <a:prstGeom prst="rect">
            <a:avLst/>
          </a:prstGeom>
        </p:spPr>
        <p:txBody>
          <a:bodyPr anchor="t" rtlCol="false" tIns="0" lIns="0" bIns="0" rIns="0">
            <a:spAutoFit/>
          </a:bodyPr>
          <a:lstStyle/>
          <a:p>
            <a:pPr algn="ctr">
              <a:lnSpc>
                <a:spcPts val="3437"/>
              </a:lnSpc>
            </a:pPr>
            <a:r>
              <a:rPr lang="en-US" sz="2750">
                <a:solidFill>
                  <a:srgbClr val="CAD6DE"/>
                </a:solidFill>
                <a:latin typeface="Arimo"/>
                <a:ea typeface="Arimo"/>
                <a:cs typeface="Arimo"/>
                <a:sym typeface="Arimo"/>
              </a:rPr>
              <a:t>Total Weight</a:t>
            </a:r>
          </a:p>
        </p:txBody>
      </p:sp>
      <p:sp>
        <p:nvSpPr>
          <p:cNvPr name="TextBox 15" id="15"/>
          <p:cNvSpPr txBox="true"/>
          <p:nvPr/>
        </p:nvSpPr>
        <p:spPr>
          <a:xfrm rot="0">
            <a:off x="1047159" y="8173641"/>
            <a:ext cx="3678879" cy="574034"/>
          </a:xfrm>
          <a:prstGeom prst="rect">
            <a:avLst/>
          </a:prstGeom>
        </p:spPr>
        <p:txBody>
          <a:bodyPr anchor="t" rtlCol="false" tIns="0" lIns="0" bIns="0" rIns="0">
            <a:spAutoFit/>
          </a:bodyPr>
          <a:lstStyle/>
          <a:p>
            <a:pPr algn="ctr">
              <a:lnSpc>
                <a:spcPts val="3750"/>
              </a:lnSpc>
            </a:pPr>
            <a:r>
              <a:rPr lang="en-US" sz="2312">
                <a:solidFill>
                  <a:srgbClr val="CAD6DE"/>
                </a:solidFill>
                <a:latin typeface="Cabin"/>
                <a:ea typeface="Cabin"/>
                <a:cs typeface="Cabin"/>
                <a:sym typeface="Cabin"/>
              </a:rPr>
              <a:t>Combined estimate</a:t>
            </a:r>
          </a:p>
        </p:txBody>
      </p:sp>
      <p:sp>
        <p:nvSpPr>
          <p:cNvPr name="TextBox 16" id="16"/>
          <p:cNvSpPr txBox="true"/>
          <p:nvPr/>
        </p:nvSpPr>
        <p:spPr>
          <a:xfrm rot="0">
            <a:off x="5100047" y="6282928"/>
            <a:ext cx="3679031" cy="873023"/>
          </a:xfrm>
          <a:prstGeom prst="rect">
            <a:avLst/>
          </a:prstGeom>
        </p:spPr>
        <p:txBody>
          <a:bodyPr anchor="t" rtlCol="false" tIns="0" lIns="0" bIns="0" rIns="0">
            <a:spAutoFit/>
          </a:bodyPr>
          <a:lstStyle/>
          <a:p>
            <a:pPr algn="ctr">
              <a:lnSpc>
                <a:spcPts val="7750"/>
              </a:lnSpc>
            </a:pPr>
            <a:r>
              <a:rPr lang="en-US" sz="7750">
                <a:solidFill>
                  <a:srgbClr val="CAD6DE"/>
                </a:solidFill>
                <a:latin typeface="Arimo"/>
                <a:ea typeface="Arimo"/>
                <a:cs typeface="Arimo"/>
                <a:sym typeface="Arimo"/>
              </a:rPr>
              <a:t>24.3cm</a:t>
            </a:r>
          </a:p>
        </p:txBody>
      </p:sp>
      <p:sp>
        <p:nvSpPr>
          <p:cNvPr name="TextBox 17" id="17"/>
          <p:cNvSpPr txBox="true"/>
          <p:nvPr/>
        </p:nvSpPr>
        <p:spPr>
          <a:xfrm rot="0">
            <a:off x="5179371" y="7491708"/>
            <a:ext cx="3520230" cy="478041"/>
          </a:xfrm>
          <a:prstGeom prst="rect">
            <a:avLst/>
          </a:prstGeom>
        </p:spPr>
        <p:txBody>
          <a:bodyPr anchor="t" rtlCol="false" tIns="0" lIns="0" bIns="0" rIns="0">
            <a:spAutoFit/>
          </a:bodyPr>
          <a:lstStyle/>
          <a:p>
            <a:pPr algn="ctr">
              <a:lnSpc>
                <a:spcPts val="3437"/>
              </a:lnSpc>
            </a:pPr>
            <a:r>
              <a:rPr lang="en-US" sz="2750">
                <a:solidFill>
                  <a:srgbClr val="CAD6DE"/>
                </a:solidFill>
                <a:latin typeface="Arimo"/>
                <a:ea typeface="Arimo"/>
                <a:cs typeface="Arimo"/>
                <a:sym typeface="Arimo"/>
              </a:rPr>
              <a:t>Avg Length</a:t>
            </a:r>
          </a:p>
        </p:txBody>
      </p:sp>
      <p:sp>
        <p:nvSpPr>
          <p:cNvPr name="TextBox 18" id="18"/>
          <p:cNvSpPr txBox="true"/>
          <p:nvPr/>
        </p:nvSpPr>
        <p:spPr>
          <a:xfrm rot="0">
            <a:off x="5100047" y="8173641"/>
            <a:ext cx="3679031" cy="574034"/>
          </a:xfrm>
          <a:prstGeom prst="rect">
            <a:avLst/>
          </a:prstGeom>
        </p:spPr>
        <p:txBody>
          <a:bodyPr anchor="t" rtlCol="false" tIns="0" lIns="0" bIns="0" rIns="0">
            <a:spAutoFit/>
          </a:bodyPr>
          <a:lstStyle/>
          <a:p>
            <a:pPr algn="ctr">
              <a:lnSpc>
                <a:spcPts val="3750"/>
              </a:lnSpc>
            </a:pPr>
            <a:r>
              <a:rPr lang="en-US" sz="2312">
                <a:solidFill>
                  <a:srgbClr val="CAD6DE"/>
                </a:solidFill>
                <a:latin typeface="Cabin"/>
                <a:ea typeface="Cabin"/>
                <a:cs typeface="Cabin"/>
                <a:sym typeface="Cabin"/>
              </a:rPr>
              <a:t>Mean bottle size</a:t>
            </a:r>
          </a:p>
        </p:txBody>
      </p:sp>
      <p:sp>
        <p:nvSpPr>
          <p:cNvPr name="TextBox 19" id="19"/>
          <p:cNvSpPr txBox="true"/>
          <p:nvPr/>
        </p:nvSpPr>
        <p:spPr>
          <a:xfrm rot="0">
            <a:off x="9518447" y="2616546"/>
            <a:ext cx="4538958" cy="478041"/>
          </a:xfrm>
          <a:prstGeom prst="rect">
            <a:avLst/>
          </a:prstGeom>
        </p:spPr>
        <p:txBody>
          <a:bodyPr anchor="t" rtlCol="false" tIns="0" lIns="0" bIns="0" rIns="0">
            <a:spAutoFit/>
          </a:bodyPr>
          <a:lstStyle/>
          <a:p>
            <a:pPr algn="l">
              <a:lnSpc>
                <a:spcPts val="3437"/>
              </a:lnSpc>
            </a:pPr>
            <a:r>
              <a:rPr lang="en-US" sz="2750">
                <a:solidFill>
                  <a:srgbClr val="FFFFFF"/>
                </a:solidFill>
                <a:latin typeface="Arimo"/>
                <a:ea typeface="Arimo"/>
                <a:cs typeface="Arimo"/>
                <a:sym typeface="Arimo"/>
              </a:rPr>
              <a:t>Distribution Analytics</a:t>
            </a:r>
          </a:p>
        </p:txBody>
      </p:sp>
      <p:sp>
        <p:nvSpPr>
          <p:cNvPr name="TextBox 20" id="20"/>
          <p:cNvSpPr txBox="true"/>
          <p:nvPr/>
        </p:nvSpPr>
        <p:spPr>
          <a:xfrm rot="0">
            <a:off x="9518447" y="3298479"/>
            <a:ext cx="7731919" cy="105280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Class distribution tracking (bottle-dark, bottle-transp-full, etc.)</a:t>
            </a:r>
          </a:p>
        </p:txBody>
      </p:sp>
      <p:sp>
        <p:nvSpPr>
          <p:cNvPr name="TextBox 21" id="21"/>
          <p:cNvSpPr txBox="true"/>
          <p:nvPr/>
        </p:nvSpPr>
        <p:spPr>
          <a:xfrm rot="0">
            <a:off x="9518447" y="4360659"/>
            <a:ext cx="7731919"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Color distribution analysis across all detections</a:t>
            </a:r>
          </a:p>
        </p:txBody>
      </p:sp>
      <p:sp>
        <p:nvSpPr>
          <p:cNvPr name="TextBox 22" id="22"/>
          <p:cNvSpPr txBox="true"/>
          <p:nvPr/>
        </p:nvSpPr>
        <p:spPr>
          <a:xfrm rot="0">
            <a:off x="9518447" y="4944066"/>
            <a:ext cx="7731919" cy="574034"/>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PET vs non-PET material classification counts</a:t>
            </a:r>
          </a:p>
        </p:txBody>
      </p:sp>
      <p:sp>
        <p:nvSpPr>
          <p:cNvPr name="TextBox 23" id="23"/>
          <p:cNvSpPr txBox="true"/>
          <p:nvPr/>
        </p:nvSpPr>
        <p:spPr>
          <a:xfrm rot="0">
            <a:off x="9518447" y="5527472"/>
            <a:ext cx="7731919" cy="1052808"/>
          </a:xfrm>
          <a:prstGeom prst="rect">
            <a:avLst/>
          </a:prstGeom>
        </p:spPr>
        <p:txBody>
          <a:bodyPr anchor="t" rtlCol="false" tIns="0" lIns="0" bIns="0" rIns="0">
            <a:spAutoFit/>
          </a:bodyPr>
          <a:lstStyle/>
          <a:p>
            <a:pPr algn="l" marL="348754" indent="-174377" lvl="1">
              <a:lnSpc>
                <a:spcPts val="3750"/>
              </a:lnSpc>
              <a:buFont typeface="Arial"/>
              <a:buChar char="•"/>
            </a:pPr>
            <a:r>
              <a:rPr lang="en-US" sz="2312">
                <a:solidFill>
                  <a:srgbClr val="CAD6DE"/>
                </a:solidFill>
                <a:latin typeface="Cabin"/>
                <a:ea typeface="Cabin"/>
                <a:cs typeface="Cabin"/>
                <a:sym typeface="Cabin"/>
              </a:rPr>
              <a:t>Statistical aggregations for confidence, weight, and dimensions</a:t>
            </a:r>
          </a:p>
        </p:txBody>
      </p:sp>
      <p:sp>
        <p:nvSpPr>
          <p:cNvPr name="TextBox 24" id="24"/>
          <p:cNvSpPr txBox="true"/>
          <p:nvPr/>
        </p:nvSpPr>
        <p:spPr>
          <a:xfrm rot="0">
            <a:off x="9518447" y="6754263"/>
            <a:ext cx="7731919" cy="1062333"/>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All analytics computed server-side in analyticsService.js for optimal performance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TextBox 6" id="6"/>
          <p:cNvSpPr txBox="true"/>
          <p:nvPr/>
        </p:nvSpPr>
        <p:spPr>
          <a:xfrm rot="0">
            <a:off x="1374277" y="875262"/>
            <a:ext cx="12472692" cy="661835"/>
          </a:xfrm>
          <a:prstGeom prst="rect">
            <a:avLst/>
          </a:prstGeom>
        </p:spPr>
        <p:txBody>
          <a:bodyPr anchor="t" rtlCol="false" tIns="0" lIns="0" bIns="0" rIns="0">
            <a:spAutoFit/>
          </a:bodyPr>
          <a:lstStyle/>
          <a:p>
            <a:pPr algn="l">
              <a:lnSpc>
                <a:spcPts val="4812"/>
              </a:lnSpc>
            </a:pPr>
            <a:r>
              <a:rPr lang="en-US" sz="3812">
                <a:solidFill>
                  <a:srgbClr val="FFFFFF"/>
                </a:solidFill>
                <a:latin typeface="Arimo"/>
                <a:ea typeface="Arimo"/>
                <a:cs typeface="Arimo"/>
                <a:sym typeface="Arimo"/>
              </a:rPr>
              <a:t>Frontend: Interactive Analytics Dashboard</a:t>
            </a:r>
          </a:p>
        </p:txBody>
      </p:sp>
      <p:grpSp>
        <p:nvGrpSpPr>
          <p:cNvPr name="Group 7" id="7"/>
          <p:cNvGrpSpPr/>
          <p:nvPr/>
        </p:nvGrpSpPr>
        <p:grpSpPr>
          <a:xfrm rot="0">
            <a:off x="1359989" y="1914230"/>
            <a:ext cx="15567870" cy="1594695"/>
            <a:chOff x="0" y="0"/>
            <a:chExt cx="20757159" cy="2126259"/>
          </a:xfrm>
        </p:grpSpPr>
        <p:sp>
          <p:nvSpPr>
            <p:cNvPr name="Freeform 8" id="8"/>
            <p:cNvSpPr/>
            <p:nvPr/>
          </p:nvSpPr>
          <p:spPr>
            <a:xfrm flipH="false" flipV="false" rot="0">
              <a:off x="19050" y="19050"/>
              <a:ext cx="20719035" cy="2088134"/>
            </a:xfrm>
            <a:custGeom>
              <a:avLst/>
              <a:gdLst/>
              <a:ahLst/>
              <a:cxnLst/>
              <a:rect r="r" b="b" t="t" l="l"/>
              <a:pathLst>
                <a:path h="2088134" w="20719035">
                  <a:moveTo>
                    <a:pt x="0" y="52197"/>
                  </a:moveTo>
                  <a:cubicBezTo>
                    <a:pt x="0" y="23368"/>
                    <a:pt x="23749" y="0"/>
                    <a:pt x="53086" y="0"/>
                  </a:cubicBezTo>
                  <a:lnTo>
                    <a:pt x="20665948" y="0"/>
                  </a:lnTo>
                  <a:cubicBezTo>
                    <a:pt x="20695286" y="0"/>
                    <a:pt x="20719035" y="23368"/>
                    <a:pt x="20719035" y="52197"/>
                  </a:cubicBezTo>
                  <a:lnTo>
                    <a:pt x="20719035" y="2035937"/>
                  </a:lnTo>
                  <a:cubicBezTo>
                    <a:pt x="20719035" y="2064766"/>
                    <a:pt x="20695286" y="2088134"/>
                    <a:pt x="20665948" y="2088134"/>
                  </a:cubicBezTo>
                  <a:lnTo>
                    <a:pt x="53086" y="2088134"/>
                  </a:lnTo>
                  <a:cubicBezTo>
                    <a:pt x="23749" y="2088134"/>
                    <a:pt x="0" y="2064766"/>
                    <a:pt x="0" y="2035937"/>
                  </a:cubicBezTo>
                  <a:close/>
                </a:path>
              </a:pathLst>
            </a:custGeom>
            <a:solidFill>
              <a:srgbClr val="112836"/>
            </a:solidFill>
            <a:ln w="12700">
              <a:solidFill>
                <a:srgbClr val="000000"/>
              </a:solidFill>
            </a:ln>
          </p:spPr>
        </p:sp>
        <p:sp>
          <p:nvSpPr>
            <p:cNvPr name="Freeform 9" id="9"/>
            <p:cNvSpPr/>
            <p:nvPr/>
          </p:nvSpPr>
          <p:spPr>
            <a:xfrm flipH="false" flipV="false" rot="0">
              <a:off x="0" y="0"/>
              <a:ext cx="20757135" cy="2126234"/>
            </a:xfrm>
            <a:custGeom>
              <a:avLst/>
              <a:gdLst/>
              <a:ahLst/>
              <a:cxnLst/>
              <a:rect r="r" b="b" t="t" l="l"/>
              <a:pathLst>
                <a:path h="2126234" w="20757135">
                  <a:moveTo>
                    <a:pt x="0" y="71247"/>
                  </a:moveTo>
                  <a:cubicBezTo>
                    <a:pt x="0" y="31623"/>
                    <a:pt x="32639" y="0"/>
                    <a:pt x="72136" y="0"/>
                  </a:cubicBezTo>
                  <a:lnTo>
                    <a:pt x="20684998" y="0"/>
                  </a:lnTo>
                  <a:lnTo>
                    <a:pt x="20684998" y="19050"/>
                  </a:lnTo>
                  <a:lnTo>
                    <a:pt x="20684998" y="0"/>
                  </a:lnTo>
                  <a:cubicBezTo>
                    <a:pt x="20724495" y="0"/>
                    <a:pt x="20757135" y="31623"/>
                    <a:pt x="20757135" y="71247"/>
                  </a:cubicBezTo>
                  <a:lnTo>
                    <a:pt x="20738085" y="71247"/>
                  </a:lnTo>
                  <a:lnTo>
                    <a:pt x="20757135" y="71247"/>
                  </a:lnTo>
                  <a:lnTo>
                    <a:pt x="20757135" y="2054987"/>
                  </a:lnTo>
                  <a:lnTo>
                    <a:pt x="20738085" y="2054987"/>
                  </a:lnTo>
                  <a:lnTo>
                    <a:pt x="20757135" y="2054987"/>
                  </a:lnTo>
                  <a:cubicBezTo>
                    <a:pt x="20757135" y="2094611"/>
                    <a:pt x="20724495" y="2126234"/>
                    <a:pt x="20684998" y="2126234"/>
                  </a:cubicBezTo>
                  <a:lnTo>
                    <a:pt x="20684998" y="2107184"/>
                  </a:lnTo>
                  <a:lnTo>
                    <a:pt x="20684998" y="2126234"/>
                  </a:lnTo>
                  <a:lnTo>
                    <a:pt x="72136" y="2126234"/>
                  </a:lnTo>
                  <a:lnTo>
                    <a:pt x="72136" y="2107184"/>
                  </a:lnTo>
                  <a:lnTo>
                    <a:pt x="72136" y="2126234"/>
                  </a:lnTo>
                  <a:cubicBezTo>
                    <a:pt x="32639" y="2126234"/>
                    <a:pt x="0" y="2094611"/>
                    <a:pt x="0" y="2054987"/>
                  </a:cubicBezTo>
                  <a:lnTo>
                    <a:pt x="0" y="71247"/>
                  </a:lnTo>
                  <a:lnTo>
                    <a:pt x="19050" y="71247"/>
                  </a:lnTo>
                  <a:lnTo>
                    <a:pt x="0" y="71247"/>
                  </a:lnTo>
                  <a:moveTo>
                    <a:pt x="38100" y="71247"/>
                  </a:moveTo>
                  <a:lnTo>
                    <a:pt x="38100" y="2054987"/>
                  </a:lnTo>
                  <a:lnTo>
                    <a:pt x="19050" y="2054987"/>
                  </a:lnTo>
                  <a:lnTo>
                    <a:pt x="38100" y="2054987"/>
                  </a:lnTo>
                  <a:cubicBezTo>
                    <a:pt x="38100" y="2073021"/>
                    <a:pt x="53086" y="2088134"/>
                    <a:pt x="72136" y="2088134"/>
                  </a:cubicBezTo>
                  <a:lnTo>
                    <a:pt x="20684998" y="2088134"/>
                  </a:lnTo>
                  <a:cubicBezTo>
                    <a:pt x="20704048" y="2088134"/>
                    <a:pt x="20719035" y="2073021"/>
                    <a:pt x="20719035" y="2054987"/>
                  </a:cubicBezTo>
                  <a:lnTo>
                    <a:pt x="20719035" y="71247"/>
                  </a:lnTo>
                  <a:cubicBezTo>
                    <a:pt x="20719035" y="53213"/>
                    <a:pt x="20704048" y="38100"/>
                    <a:pt x="20684998" y="38100"/>
                  </a:cubicBezTo>
                  <a:lnTo>
                    <a:pt x="72136" y="38100"/>
                  </a:lnTo>
                  <a:lnTo>
                    <a:pt x="72136" y="19050"/>
                  </a:lnTo>
                  <a:lnTo>
                    <a:pt x="72136" y="38100"/>
                  </a:lnTo>
                  <a:cubicBezTo>
                    <a:pt x="53086" y="38100"/>
                    <a:pt x="38100" y="53213"/>
                    <a:pt x="38100" y="71247"/>
                  </a:cubicBezTo>
                  <a:close/>
                </a:path>
              </a:pathLst>
            </a:custGeom>
            <a:solidFill>
              <a:srgbClr val="49606E"/>
            </a:solidFill>
            <a:ln w="12700">
              <a:solidFill>
                <a:srgbClr val="000000"/>
              </a:solidFill>
            </a:ln>
          </p:spPr>
        </p:sp>
      </p:grpSp>
      <p:grpSp>
        <p:nvGrpSpPr>
          <p:cNvPr name="Group 10" id="10"/>
          <p:cNvGrpSpPr/>
          <p:nvPr/>
        </p:nvGrpSpPr>
        <p:grpSpPr>
          <a:xfrm rot="0">
            <a:off x="1402852" y="1957092"/>
            <a:ext cx="1044026" cy="1508970"/>
            <a:chOff x="0" y="0"/>
            <a:chExt cx="1392034" cy="2011959"/>
          </a:xfrm>
        </p:grpSpPr>
        <p:sp>
          <p:nvSpPr>
            <p:cNvPr name="Freeform 11" id="11"/>
            <p:cNvSpPr/>
            <p:nvPr/>
          </p:nvSpPr>
          <p:spPr>
            <a:xfrm flipH="false" flipV="false" rot="0">
              <a:off x="0" y="0"/>
              <a:ext cx="1392047" cy="2011934"/>
            </a:xfrm>
            <a:custGeom>
              <a:avLst/>
              <a:gdLst/>
              <a:ahLst/>
              <a:cxnLst/>
              <a:rect r="r" b="b" t="t" l="l"/>
              <a:pathLst>
                <a:path h="2011934" w="1392047">
                  <a:moveTo>
                    <a:pt x="0" y="6477"/>
                  </a:moveTo>
                  <a:cubicBezTo>
                    <a:pt x="0" y="2921"/>
                    <a:pt x="2921" y="0"/>
                    <a:pt x="6477" y="0"/>
                  </a:cubicBezTo>
                  <a:lnTo>
                    <a:pt x="1385570" y="0"/>
                  </a:lnTo>
                  <a:cubicBezTo>
                    <a:pt x="1389126" y="0"/>
                    <a:pt x="1392047" y="2921"/>
                    <a:pt x="1392047" y="6477"/>
                  </a:cubicBezTo>
                  <a:lnTo>
                    <a:pt x="1392047" y="2005457"/>
                  </a:lnTo>
                  <a:cubicBezTo>
                    <a:pt x="1392047" y="2009013"/>
                    <a:pt x="1389126" y="2011934"/>
                    <a:pt x="1385570" y="2011934"/>
                  </a:cubicBezTo>
                  <a:lnTo>
                    <a:pt x="6477" y="2011934"/>
                  </a:lnTo>
                  <a:cubicBezTo>
                    <a:pt x="2921" y="2011934"/>
                    <a:pt x="0" y="2009013"/>
                    <a:pt x="0" y="2005457"/>
                  </a:cubicBezTo>
                  <a:close/>
                </a:path>
              </a:pathLst>
            </a:custGeom>
            <a:solidFill>
              <a:srgbClr val="304755"/>
            </a:solidFill>
            <a:ln w="12700">
              <a:solidFill>
                <a:srgbClr val="000000"/>
              </a:solidFill>
            </a:ln>
          </p:spPr>
        </p:sp>
      </p:grpSp>
      <p:sp>
        <p:nvSpPr>
          <p:cNvPr name="Freeform 12" id="12" descr="preencoded.png"/>
          <p:cNvSpPr/>
          <p:nvPr/>
        </p:nvSpPr>
        <p:spPr>
          <a:xfrm flipH="false" flipV="false" rot="0">
            <a:off x="1729083" y="2515791"/>
            <a:ext cx="391420" cy="391420"/>
          </a:xfrm>
          <a:custGeom>
            <a:avLst/>
            <a:gdLst/>
            <a:ahLst/>
            <a:cxnLst/>
            <a:rect r="r" b="b" t="t" l="l"/>
            <a:pathLst>
              <a:path h="391420" w="391420">
                <a:moveTo>
                  <a:pt x="0" y="0"/>
                </a:moveTo>
                <a:lnTo>
                  <a:pt x="391420" y="0"/>
                </a:lnTo>
                <a:lnTo>
                  <a:pt x="391420" y="391420"/>
                </a:lnTo>
                <a:lnTo>
                  <a:pt x="0" y="3914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2707777" y="2189407"/>
            <a:ext cx="3078366" cy="412252"/>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Upload Interface</a:t>
            </a:r>
          </a:p>
        </p:txBody>
      </p:sp>
      <p:sp>
        <p:nvSpPr>
          <p:cNvPr name="TextBox 14" id="14"/>
          <p:cNvSpPr txBox="true"/>
          <p:nvPr/>
        </p:nvSpPr>
        <p:spPr>
          <a:xfrm rot="0">
            <a:off x="2707777" y="2672505"/>
            <a:ext cx="13916320" cy="503339"/>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Intuitive drag-and-drop or click-to-browse experience with real-time upload progress and validation feedback</a:t>
            </a:r>
          </a:p>
        </p:txBody>
      </p:sp>
      <p:grpSp>
        <p:nvGrpSpPr>
          <p:cNvPr name="Group 15" id="15"/>
          <p:cNvGrpSpPr/>
          <p:nvPr/>
        </p:nvGrpSpPr>
        <p:grpSpPr>
          <a:xfrm rot="0">
            <a:off x="1359989" y="3741239"/>
            <a:ext cx="15567870" cy="1982991"/>
            <a:chOff x="0" y="0"/>
            <a:chExt cx="20757159" cy="2643988"/>
          </a:xfrm>
        </p:grpSpPr>
        <p:sp>
          <p:nvSpPr>
            <p:cNvPr name="Freeform 16" id="16"/>
            <p:cNvSpPr/>
            <p:nvPr/>
          </p:nvSpPr>
          <p:spPr>
            <a:xfrm flipH="false" flipV="false" rot="0">
              <a:off x="19050" y="19050"/>
              <a:ext cx="20719033" cy="2605913"/>
            </a:xfrm>
            <a:custGeom>
              <a:avLst/>
              <a:gdLst/>
              <a:ahLst/>
              <a:cxnLst/>
              <a:rect r="r" b="b" t="t" l="l"/>
              <a:pathLst>
                <a:path h="2605913" w="20719033">
                  <a:moveTo>
                    <a:pt x="0" y="52197"/>
                  </a:moveTo>
                  <a:cubicBezTo>
                    <a:pt x="0" y="23368"/>
                    <a:pt x="23622" y="0"/>
                    <a:pt x="52832" y="0"/>
                  </a:cubicBezTo>
                  <a:lnTo>
                    <a:pt x="20666202" y="0"/>
                  </a:lnTo>
                  <a:cubicBezTo>
                    <a:pt x="20695411" y="0"/>
                    <a:pt x="20719033" y="23368"/>
                    <a:pt x="20719033" y="52197"/>
                  </a:cubicBezTo>
                  <a:lnTo>
                    <a:pt x="20719033" y="2553716"/>
                  </a:lnTo>
                  <a:cubicBezTo>
                    <a:pt x="20719033" y="2582545"/>
                    <a:pt x="20695411" y="2605913"/>
                    <a:pt x="20666202" y="2605913"/>
                  </a:cubicBezTo>
                  <a:lnTo>
                    <a:pt x="52832" y="2605913"/>
                  </a:lnTo>
                  <a:cubicBezTo>
                    <a:pt x="23622" y="2605913"/>
                    <a:pt x="0" y="2582545"/>
                    <a:pt x="0" y="2553716"/>
                  </a:cubicBezTo>
                  <a:close/>
                </a:path>
              </a:pathLst>
            </a:custGeom>
            <a:solidFill>
              <a:srgbClr val="112836"/>
            </a:solidFill>
            <a:ln w="12700">
              <a:solidFill>
                <a:srgbClr val="000000"/>
              </a:solidFill>
            </a:ln>
          </p:spPr>
        </p:sp>
        <p:sp>
          <p:nvSpPr>
            <p:cNvPr name="Freeform 17" id="17"/>
            <p:cNvSpPr/>
            <p:nvPr/>
          </p:nvSpPr>
          <p:spPr>
            <a:xfrm flipH="false" flipV="false" rot="0">
              <a:off x="0" y="0"/>
              <a:ext cx="20757133" cy="2644013"/>
            </a:xfrm>
            <a:custGeom>
              <a:avLst/>
              <a:gdLst/>
              <a:ahLst/>
              <a:cxnLst/>
              <a:rect r="r" b="b" t="t" l="l"/>
              <a:pathLst>
                <a:path h="2644013" w="20757133">
                  <a:moveTo>
                    <a:pt x="0" y="71247"/>
                  </a:moveTo>
                  <a:cubicBezTo>
                    <a:pt x="0" y="31623"/>
                    <a:pt x="32385" y="0"/>
                    <a:pt x="71882" y="0"/>
                  </a:cubicBezTo>
                  <a:lnTo>
                    <a:pt x="20685252" y="0"/>
                  </a:lnTo>
                  <a:lnTo>
                    <a:pt x="20685252" y="19050"/>
                  </a:lnTo>
                  <a:lnTo>
                    <a:pt x="20685252" y="0"/>
                  </a:lnTo>
                  <a:cubicBezTo>
                    <a:pt x="20724749" y="0"/>
                    <a:pt x="20757133" y="31623"/>
                    <a:pt x="20757133" y="71247"/>
                  </a:cubicBezTo>
                  <a:lnTo>
                    <a:pt x="20738083" y="71247"/>
                  </a:lnTo>
                  <a:lnTo>
                    <a:pt x="20757133" y="71247"/>
                  </a:lnTo>
                  <a:lnTo>
                    <a:pt x="20757133" y="2572766"/>
                  </a:lnTo>
                  <a:lnTo>
                    <a:pt x="20738083" y="2572766"/>
                  </a:lnTo>
                  <a:lnTo>
                    <a:pt x="20757133" y="2572766"/>
                  </a:lnTo>
                  <a:cubicBezTo>
                    <a:pt x="20757133" y="2612390"/>
                    <a:pt x="20724749" y="2644013"/>
                    <a:pt x="20685252" y="2644013"/>
                  </a:cubicBezTo>
                  <a:lnTo>
                    <a:pt x="20685252" y="2624963"/>
                  </a:lnTo>
                  <a:lnTo>
                    <a:pt x="20685252" y="2644013"/>
                  </a:lnTo>
                  <a:lnTo>
                    <a:pt x="71882" y="2644013"/>
                  </a:lnTo>
                  <a:lnTo>
                    <a:pt x="71882" y="2624963"/>
                  </a:lnTo>
                  <a:lnTo>
                    <a:pt x="71882" y="2644013"/>
                  </a:lnTo>
                  <a:cubicBezTo>
                    <a:pt x="32385" y="2644013"/>
                    <a:pt x="0" y="2612390"/>
                    <a:pt x="0" y="2572766"/>
                  </a:cubicBezTo>
                  <a:lnTo>
                    <a:pt x="0" y="71247"/>
                  </a:lnTo>
                  <a:lnTo>
                    <a:pt x="19050" y="71247"/>
                  </a:lnTo>
                  <a:lnTo>
                    <a:pt x="0" y="71247"/>
                  </a:lnTo>
                  <a:moveTo>
                    <a:pt x="38100" y="71247"/>
                  </a:moveTo>
                  <a:lnTo>
                    <a:pt x="38100" y="2572766"/>
                  </a:lnTo>
                  <a:lnTo>
                    <a:pt x="19050" y="2572766"/>
                  </a:lnTo>
                  <a:lnTo>
                    <a:pt x="38100" y="2572766"/>
                  </a:lnTo>
                  <a:cubicBezTo>
                    <a:pt x="38100" y="2590800"/>
                    <a:pt x="52959" y="2605913"/>
                    <a:pt x="71882" y="2605913"/>
                  </a:cubicBezTo>
                  <a:lnTo>
                    <a:pt x="20685252" y="2605913"/>
                  </a:lnTo>
                  <a:cubicBezTo>
                    <a:pt x="20704175" y="2605913"/>
                    <a:pt x="20719033" y="2590800"/>
                    <a:pt x="20719033" y="2572766"/>
                  </a:cubicBezTo>
                  <a:lnTo>
                    <a:pt x="20719033" y="71247"/>
                  </a:lnTo>
                  <a:cubicBezTo>
                    <a:pt x="20719033" y="53213"/>
                    <a:pt x="20704175" y="38100"/>
                    <a:pt x="20685252" y="38100"/>
                  </a:cubicBezTo>
                  <a:lnTo>
                    <a:pt x="71882" y="38100"/>
                  </a:lnTo>
                  <a:lnTo>
                    <a:pt x="71882" y="19050"/>
                  </a:lnTo>
                  <a:lnTo>
                    <a:pt x="71882" y="38100"/>
                  </a:lnTo>
                  <a:cubicBezTo>
                    <a:pt x="52959" y="38100"/>
                    <a:pt x="38100" y="53213"/>
                    <a:pt x="38100" y="71247"/>
                  </a:cubicBezTo>
                  <a:close/>
                </a:path>
              </a:pathLst>
            </a:custGeom>
            <a:solidFill>
              <a:srgbClr val="49606E"/>
            </a:solidFill>
            <a:ln w="12700">
              <a:solidFill>
                <a:srgbClr val="000000"/>
              </a:solidFill>
            </a:ln>
          </p:spPr>
        </p:sp>
      </p:grpSp>
      <p:grpSp>
        <p:nvGrpSpPr>
          <p:cNvPr name="Group 18" id="18"/>
          <p:cNvGrpSpPr/>
          <p:nvPr/>
        </p:nvGrpSpPr>
        <p:grpSpPr>
          <a:xfrm rot="0">
            <a:off x="1402852" y="3784102"/>
            <a:ext cx="1044026" cy="1897266"/>
            <a:chOff x="0" y="0"/>
            <a:chExt cx="1392034" cy="2529688"/>
          </a:xfrm>
        </p:grpSpPr>
        <p:sp>
          <p:nvSpPr>
            <p:cNvPr name="Freeform 19" id="19"/>
            <p:cNvSpPr/>
            <p:nvPr/>
          </p:nvSpPr>
          <p:spPr>
            <a:xfrm flipH="false" flipV="false" rot="0">
              <a:off x="0" y="0"/>
              <a:ext cx="1392047" cy="2529713"/>
            </a:xfrm>
            <a:custGeom>
              <a:avLst/>
              <a:gdLst/>
              <a:ahLst/>
              <a:cxnLst/>
              <a:rect r="r" b="b" t="t" l="l"/>
              <a:pathLst>
                <a:path h="2529713" w="1392047">
                  <a:moveTo>
                    <a:pt x="0" y="6477"/>
                  </a:moveTo>
                  <a:cubicBezTo>
                    <a:pt x="0" y="2921"/>
                    <a:pt x="2921" y="0"/>
                    <a:pt x="6477" y="0"/>
                  </a:cubicBezTo>
                  <a:lnTo>
                    <a:pt x="1385570" y="0"/>
                  </a:lnTo>
                  <a:cubicBezTo>
                    <a:pt x="1389126" y="0"/>
                    <a:pt x="1392047" y="2921"/>
                    <a:pt x="1392047" y="6477"/>
                  </a:cubicBezTo>
                  <a:lnTo>
                    <a:pt x="1392047" y="2523236"/>
                  </a:lnTo>
                  <a:cubicBezTo>
                    <a:pt x="1392047" y="2526792"/>
                    <a:pt x="1389126" y="2529713"/>
                    <a:pt x="1385570" y="2529713"/>
                  </a:cubicBezTo>
                  <a:lnTo>
                    <a:pt x="6477" y="2529713"/>
                  </a:lnTo>
                  <a:cubicBezTo>
                    <a:pt x="2921" y="2529713"/>
                    <a:pt x="0" y="2526792"/>
                    <a:pt x="0" y="2523236"/>
                  </a:cubicBezTo>
                  <a:close/>
                </a:path>
              </a:pathLst>
            </a:custGeom>
            <a:solidFill>
              <a:srgbClr val="304755"/>
            </a:solidFill>
            <a:ln w="12700">
              <a:solidFill>
                <a:srgbClr val="000000"/>
              </a:solidFill>
            </a:ln>
          </p:spPr>
        </p:sp>
      </p:grpSp>
      <p:sp>
        <p:nvSpPr>
          <p:cNvPr name="Freeform 20" id="20" descr="preencoded.png"/>
          <p:cNvSpPr/>
          <p:nvPr/>
        </p:nvSpPr>
        <p:spPr>
          <a:xfrm flipH="false" flipV="false" rot="0">
            <a:off x="1729083" y="4537024"/>
            <a:ext cx="391420" cy="391420"/>
          </a:xfrm>
          <a:custGeom>
            <a:avLst/>
            <a:gdLst/>
            <a:ahLst/>
            <a:cxnLst/>
            <a:rect r="r" b="b" t="t" l="l"/>
            <a:pathLst>
              <a:path h="391420" w="391420">
                <a:moveTo>
                  <a:pt x="0" y="0"/>
                </a:moveTo>
                <a:lnTo>
                  <a:pt x="391420" y="0"/>
                </a:lnTo>
                <a:lnTo>
                  <a:pt x="391420" y="391421"/>
                </a:lnTo>
                <a:lnTo>
                  <a:pt x="0" y="391421"/>
                </a:lnTo>
                <a:lnTo>
                  <a:pt x="0" y="0"/>
                </a:lnTo>
                <a:close/>
              </a:path>
            </a:pathLst>
          </a:custGeom>
          <a:blipFill>
            <a:blip r:embed="rId7">
              <a:extLst>
                <a:ext uri="{96DAC541-7B7A-43D3-8B79-37D633B846F1}">
                  <asvg:svgBlip xmlns:asvg="http://schemas.microsoft.com/office/drawing/2016/SVG/main" r:embed="rId8"/>
                </a:ext>
              </a:extLst>
            </a:blip>
            <a:stretch>
              <a:fillRect l="-16666" t="0" r="-16666" b="0"/>
            </a:stretch>
          </a:blipFill>
        </p:spPr>
      </p:sp>
      <p:sp>
        <p:nvSpPr>
          <p:cNvPr name="TextBox 21" id="21"/>
          <p:cNvSpPr txBox="true"/>
          <p:nvPr/>
        </p:nvSpPr>
        <p:spPr>
          <a:xfrm rot="0">
            <a:off x="2707777" y="4016426"/>
            <a:ext cx="3070917" cy="412252"/>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Detection Table</a:t>
            </a:r>
          </a:p>
        </p:txBody>
      </p:sp>
      <p:sp>
        <p:nvSpPr>
          <p:cNvPr name="TextBox 22" id="22"/>
          <p:cNvSpPr txBox="true"/>
          <p:nvPr/>
        </p:nvSpPr>
        <p:spPr>
          <a:xfrm rot="0">
            <a:off x="2707777" y="4499524"/>
            <a:ext cx="13916320" cy="920953"/>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Comprehensive table displaying bottle type, color, PET status, confidence scores, and physical measurements for each detection</a:t>
            </a:r>
          </a:p>
        </p:txBody>
      </p:sp>
      <p:grpSp>
        <p:nvGrpSpPr>
          <p:cNvPr name="Group 23" id="23"/>
          <p:cNvGrpSpPr/>
          <p:nvPr/>
        </p:nvGrpSpPr>
        <p:grpSpPr>
          <a:xfrm rot="0">
            <a:off x="1359989" y="5956544"/>
            <a:ext cx="15567870" cy="1594695"/>
            <a:chOff x="0" y="0"/>
            <a:chExt cx="20757159" cy="2126259"/>
          </a:xfrm>
        </p:grpSpPr>
        <p:sp>
          <p:nvSpPr>
            <p:cNvPr name="Freeform 24" id="24"/>
            <p:cNvSpPr/>
            <p:nvPr/>
          </p:nvSpPr>
          <p:spPr>
            <a:xfrm flipH="false" flipV="false" rot="0">
              <a:off x="19050" y="19050"/>
              <a:ext cx="20719035" cy="2088134"/>
            </a:xfrm>
            <a:custGeom>
              <a:avLst/>
              <a:gdLst/>
              <a:ahLst/>
              <a:cxnLst/>
              <a:rect r="r" b="b" t="t" l="l"/>
              <a:pathLst>
                <a:path h="2088134" w="20719035">
                  <a:moveTo>
                    <a:pt x="0" y="52197"/>
                  </a:moveTo>
                  <a:cubicBezTo>
                    <a:pt x="0" y="23368"/>
                    <a:pt x="23749" y="0"/>
                    <a:pt x="53086" y="0"/>
                  </a:cubicBezTo>
                  <a:lnTo>
                    <a:pt x="20665948" y="0"/>
                  </a:lnTo>
                  <a:cubicBezTo>
                    <a:pt x="20695286" y="0"/>
                    <a:pt x="20719035" y="23368"/>
                    <a:pt x="20719035" y="52197"/>
                  </a:cubicBezTo>
                  <a:lnTo>
                    <a:pt x="20719035" y="2035937"/>
                  </a:lnTo>
                  <a:cubicBezTo>
                    <a:pt x="20719035" y="2064766"/>
                    <a:pt x="20695286" y="2088134"/>
                    <a:pt x="20665948" y="2088134"/>
                  </a:cubicBezTo>
                  <a:lnTo>
                    <a:pt x="53086" y="2088134"/>
                  </a:lnTo>
                  <a:cubicBezTo>
                    <a:pt x="23749" y="2088134"/>
                    <a:pt x="0" y="2064766"/>
                    <a:pt x="0" y="2035937"/>
                  </a:cubicBezTo>
                  <a:close/>
                </a:path>
              </a:pathLst>
            </a:custGeom>
            <a:solidFill>
              <a:srgbClr val="112836"/>
            </a:solidFill>
            <a:ln w="12700">
              <a:solidFill>
                <a:srgbClr val="000000"/>
              </a:solidFill>
            </a:ln>
          </p:spPr>
        </p:sp>
        <p:sp>
          <p:nvSpPr>
            <p:cNvPr name="Freeform 25" id="25"/>
            <p:cNvSpPr/>
            <p:nvPr/>
          </p:nvSpPr>
          <p:spPr>
            <a:xfrm flipH="false" flipV="false" rot="0">
              <a:off x="0" y="0"/>
              <a:ext cx="20757135" cy="2126234"/>
            </a:xfrm>
            <a:custGeom>
              <a:avLst/>
              <a:gdLst/>
              <a:ahLst/>
              <a:cxnLst/>
              <a:rect r="r" b="b" t="t" l="l"/>
              <a:pathLst>
                <a:path h="2126234" w="20757135">
                  <a:moveTo>
                    <a:pt x="0" y="71247"/>
                  </a:moveTo>
                  <a:cubicBezTo>
                    <a:pt x="0" y="31623"/>
                    <a:pt x="32639" y="0"/>
                    <a:pt x="72136" y="0"/>
                  </a:cubicBezTo>
                  <a:lnTo>
                    <a:pt x="20684998" y="0"/>
                  </a:lnTo>
                  <a:lnTo>
                    <a:pt x="20684998" y="19050"/>
                  </a:lnTo>
                  <a:lnTo>
                    <a:pt x="20684998" y="0"/>
                  </a:lnTo>
                  <a:cubicBezTo>
                    <a:pt x="20724495" y="0"/>
                    <a:pt x="20757135" y="31623"/>
                    <a:pt x="20757135" y="71247"/>
                  </a:cubicBezTo>
                  <a:lnTo>
                    <a:pt x="20738085" y="71247"/>
                  </a:lnTo>
                  <a:lnTo>
                    <a:pt x="20757135" y="71247"/>
                  </a:lnTo>
                  <a:lnTo>
                    <a:pt x="20757135" y="2054987"/>
                  </a:lnTo>
                  <a:lnTo>
                    <a:pt x="20738085" y="2054987"/>
                  </a:lnTo>
                  <a:lnTo>
                    <a:pt x="20757135" y="2054987"/>
                  </a:lnTo>
                  <a:cubicBezTo>
                    <a:pt x="20757135" y="2094611"/>
                    <a:pt x="20724495" y="2126234"/>
                    <a:pt x="20684998" y="2126234"/>
                  </a:cubicBezTo>
                  <a:lnTo>
                    <a:pt x="20684998" y="2107184"/>
                  </a:lnTo>
                  <a:lnTo>
                    <a:pt x="20684998" y="2126234"/>
                  </a:lnTo>
                  <a:lnTo>
                    <a:pt x="72136" y="2126234"/>
                  </a:lnTo>
                  <a:lnTo>
                    <a:pt x="72136" y="2107184"/>
                  </a:lnTo>
                  <a:lnTo>
                    <a:pt x="72136" y="2126234"/>
                  </a:lnTo>
                  <a:cubicBezTo>
                    <a:pt x="32639" y="2126234"/>
                    <a:pt x="0" y="2094611"/>
                    <a:pt x="0" y="2054987"/>
                  </a:cubicBezTo>
                  <a:lnTo>
                    <a:pt x="0" y="71247"/>
                  </a:lnTo>
                  <a:lnTo>
                    <a:pt x="19050" y="71247"/>
                  </a:lnTo>
                  <a:lnTo>
                    <a:pt x="0" y="71247"/>
                  </a:lnTo>
                  <a:moveTo>
                    <a:pt x="38100" y="71247"/>
                  </a:moveTo>
                  <a:lnTo>
                    <a:pt x="38100" y="2054987"/>
                  </a:lnTo>
                  <a:lnTo>
                    <a:pt x="19050" y="2054987"/>
                  </a:lnTo>
                  <a:lnTo>
                    <a:pt x="38100" y="2054987"/>
                  </a:lnTo>
                  <a:cubicBezTo>
                    <a:pt x="38100" y="2073021"/>
                    <a:pt x="53086" y="2088134"/>
                    <a:pt x="72136" y="2088134"/>
                  </a:cubicBezTo>
                  <a:lnTo>
                    <a:pt x="20684998" y="2088134"/>
                  </a:lnTo>
                  <a:cubicBezTo>
                    <a:pt x="20704048" y="2088134"/>
                    <a:pt x="20719035" y="2073021"/>
                    <a:pt x="20719035" y="2054987"/>
                  </a:cubicBezTo>
                  <a:lnTo>
                    <a:pt x="20719035" y="71247"/>
                  </a:lnTo>
                  <a:cubicBezTo>
                    <a:pt x="20719035" y="53213"/>
                    <a:pt x="20704048" y="38100"/>
                    <a:pt x="20684998" y="38100"/>
                  </a:cubicBezTo>
                  <a:lnTo>
                    <a:pt x="72136" y="38100"/>
                  </a:lnTo>
                  <a:lnTo>
                    <a:pt x="72136" y="19050"/>
                  </a:lnTo>
                  <a:lnTo>
                    <a:pt x="72136" y="38100"/>
                  </a:lnTo>
                  <a:cubicBezTo>
                    <a:pt x="53086" y="38100"/>
                    <a:pt x="38100" y="53213"/>
                    <a:pt x="38100" y="71247"/>
                  </a:cubicBezTo>
                  <a:close/>
                </a:path>
              </a:pathLst>
            </a:custGeom>
            <a:solidFill>
              <a:srgbClr val="49606E"/>
            </a:solidFill>
            <a:ln w="12700">
              <a:solidFill>
                <a:srgbClr val="000000"/>
              </a:solidFill>
            </a:ln>
          </p:spPr>
        </p:sp>
      </p:grpSp>
      <p:grpSp>
        <p:nvGrpSpPr>
          <p:cNvPr name="Group 26" id="26"/>
          <p:cNvGrpSpPr/>
          <p:nvPr/>
        </p:nvGrpSpPr>
        <p:grpSpPr>
          <a:xfrm rot="0">
            <a:off x="1402852" y="5999407"/>
            <a:ext cx="1044026" cy="1508970"/>
            <a:chOff x="0" y="0"/>
            <a:chExt cx="1392034" cy="2011959"/>
          </a:xfrm>
        </p:grpSpPr>
        <p:sp>
          <p:nvSpPr>
            <p:cNvPr name="Freeform 27" id="27"/>
            <p:cNvSpPr/>
            <p:nvPr/>
          </p:nvSpPr>
          <p:spPr>
            <a:xfrm flipH="false" flipV="false" rot="0">
              <a:off x="0" y="0"/>
              <a:ext cx="1392047" cy="2011934"/>
            </a:xfrm>
            <a:custGeom>
              <a:avLst/>
              <a:gdLst/>
              <a:ahLst/>
              <a:cxnLst/>
              <a:rect r="r" b="b" t="t" l="l"/>
              <a:pathLst>
                <a:path h="2011934" w="1392047">
                  <a:moveTo>
                    <a:pt x="0" y="6477"/>
                  </a:moveTo>
                  <a:cubicBezTo>
                    <a:pt x="0" y="2921"/>
                    <a:pt x="2921" y="0"/>
                    <a:pt x="6477" y="0"/>
                  </a:cubicBezTo>
                  <a:lnTo>
                    <a:pt x="1385570" y="0"/>
                  </a:lnTo>
                  <a:cubicBezTo>
                    <a:pt x="1389126" y="0"/>
                    <a:pt x="1392047" y="2921"/>
                    <a:pt x="1392047" y="6477"/>
                  </a:cubicBezTo>
                  <a:lnTo>
                    <a:pt x="1392047" y="2005457"/>
                  </a:lnTo>
                  <a:cubicBezTo>
                    <a:pt x="1392047" y="2009013"/>
                    <a:pt x="1389126" y="2011934"/>
                    <a:pt x="1385570" y="2011934"/>
                  </a:cubicBezTo>
                  <a:lnTo>
                    <a:pt x="6477" y="2011934"/>
                  </a:lnTo>
                  <a:cubicBezTo>
                    <a:pt x="2921" y="2011934"/>
                    <a:pt x="0" y="2009013"/>
                    <a:pt x="0" y="2005457"/>
                  </a:cubicBezTo>
                  <a:close/>
                </a:path>
              </a:pathLst>
            </a:custGeom>
            <a:solidFill>
              <a:srgbClr val="304755"/>
            </a:solidFill>
            <a:ln w="12700">
              <a:solidFill>
                <a:srgbClr val="000000"/>
              </a:solidFill>
            </a:ln>
          </p:spPr>
        </p:sp>
      </p:grpSp>
      <p:sp>
        <p:nvSpPr>
          <p:cNvPr name="Freeform 28" id="28" descr="preencoded.png"/>
          <p:cNvSpPr/>
          <p:nvPr/>
        </p:nvSpPr>
        <p:spPr>
          <a:xfrm flipH="false" flipV="false" rot="0">
            <a:off x="1729083" y="6558115"/>
            <a:ext cx="391420" cy="391420"/>
          </a:xfrm>
          <a:custGeom>
            <a:avLst/>
            <a:gdLst/>
            <a:ahLst/>
            <a:cxnLst/>
            <a:rect r="r" b="b" t="t" l="l"/>
            <a:pathLst>
              <a:path h="391420" w="391420">
                <a:moveTo>
                  <a:pt x="0" y="0"/>
                </a:moveTo>
                <a:lnTo>
                  <a:pt x="391420" y="0"/>
                </a:lnTo>
                <a:lnTo>
                  <a:pt x="391420" y="391420"/>
                </a:lnTo>
                <a:lnTo>
                  <a:pt x="0" y="391420"/>
                </a:lnTo>
                <a:lnTo>
                  <a:pt x="0" y="0"/>
                </a:lnTo>
                <a:close/>
              </a:path>
            </a:pathLst>
          </a:custGeom>
          <a:blipFill>
            <a:blip r:embed="rId9">
              <a:extLst>
                <a:ext uri="{96DAC541-7B7A-43D3-8B79-37D633B846F1}">
                  <asvg:svgBlip xmlns:asvg="http://schemas.microsoft.com/office/drawing/2016/SVG/main" r:embed="rId10"/>
                </a:ext>
              </a:extLst>
            </a:blip>
            <a:stretch>
              <a:fillRect l="-4762" t="0" r="-4759" b="0"/>
            </a:stretch>
          </a:blipFill>
        </p:spPr>
      </p:sp>
      <p:sp>
        <p:nvSpPr>
          <p:cNvPr name="TextBox 29" id="29"/>
          <p:cNvSpPr txBox="true"/>
          <p:nvPr/>
        </p:nvSpPr>
        <p:spPr>
          <a:xfrm rot="0">
            <a:off x="2707777" y="6231731"/>
            <a:ext cx="3070917" cy="412252"/>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Visual Overlay</a:t>
            </a:r>
          </a:p>
        </p:txBody>
      </p:sp>
      <p:sp>
        <p:nvSpPr>
          <p:cNvPr name="TextBox 30" id="30"/>
          <p:cNvSpPr txBox="true"/>
          <p:nvPr/>
        </p:nvSpPr>
        <p:spPr>
          <a:xfrm rot="0">
            <a:off x="2707777" y="6714830"/>
            <a:ext cx="13916320" cy="503339"/>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Interactive image viewer with bounding box overlays, color-coded classifications, and hover-to-inspect functionality</a:t>
            </a:r>
          </a:p>
        </p:txBody>
      </p:sp>
      <p:grpSp>
        <p:nvGrpSpPr>
          <p:cNvPr name="Group 31" id="31"/>
          <p:cNvGrpSpPr/>
          <p:nvPr/>
        </p:nvGrpSpPr>
        <p:grpSpPr>
          <a:xfrm rot="0">
            <a:off x="1359989" y="7783563"/>
            <a:ext cx="15567870" cy="1594695"/>
            <a:chOff x="0" y="0"/>
            <a:chExt cx="20757159" cy="2126259"/>
          </a:xfrm>
        </p:grpSpPr>
        <p:sp>
          <p:nvSpPr>
            <p:cNvPr name="Freeform 32" id="32"/>
            <p:cNvSpPr/>
            <p:nvPr/>
          </p:nvSpPr>
          <p:spPr>
            <a:xfrm flipH="false" flipV="false" rot="0">
              <a:off x="19050" y="19050"/>
              <a:ext cx="20719035" cy="2088134"/>
            </a:xfrm>
            <a:custGeom>
              <a:avLst/>
              <a:gdLst/>
              <a:ahLst/>
              <a:cxnLst/>
              <a:rect r="r" b="b" t="t" l="l"/>
              <a:pathLst>
                <a:path h="2088134" w="20719035">
                  <a:moveTo>
                    <a:pt x="0" y="52197"/>
                  </a:moveTo>
                  <a:cubicBezTo>
                    <a:pt x="0" y="23368"/>
                    <a:pt x="23749" y="0"/>
                    <a:pt x="53086" y="0"/>
                  </a:cubicBezTo>
                  <a:lnTo>
                    <a:pt x="20665948" y="0"/>
                  </a:lnTo>
                  <a:cubicBezTo>
                    <a:pt x="20695286" y="0"/>
                    <a:pt x="20719035" y="23368"/>
                    <a:pt x="20719035" y="52197"/>
                  </a:cubicBezTo>
                  <a:lnTo>
                    <a:pt x="20719035" y="2035937"/>
                  </a:lnTo>
                  <a:cubicBezTo>
                    <a:pt x="20719035" y="2064766"/>
                    <a:pt x="20695286" y="2088134"/>
                    <a:pt x="20665948" y="2088134"/>
                  </a:cubicBezTo>
                  <a:lnTo>
                    <a:pt x="53086" y="2088134"/>
                  </a:lnTo>
                  <a:cubicBezTo>
                    <a:pt x="23749" y="2088134"/>
                    <a:pt x="0" y="2064766"/>
                    <a:pt x="0" y="2035937"/>
                  </a:cubicBezTo>
                  <a:close/>
                </a:path>
              </a:pathLst>
            </a:custGeom>
            <a:solidFill>
              <a:srgbClr val="112836"/>
            </a:solidFill>
            <a:ln w="12700">
              <a:solidFill>
                <a:srgbClr val="000000"/>
              </a:solidFill>
            </a:ln>
          </p:spPr>
        </p:sp>
        <p:sp>
          <p:nvSpPr>
            <p:cNvPr name="Freeform 33" id="33"/>
            <p:cNvSpPr/>
            <p:nvPr/>
          </p:nvSpPr>
          <p:spPr>
            <a:xfrm flipH="false" flipV="false" rot="0">
              <a:off x="0" y="0"/>
              <a:ext cx="20757135" cy="2126234"/>
            </a:xfrm>
            <a:custGeom>
              <a:avLst/>
              <a:gdLst/>
              <a:ahLst/>
              <a:cxnLst/>
              <a:rect r="r" b="b" t="t" l="l"/>
              <a:pathLst>
                <a:path h="2126234" w="20757135">
                  <a:moveTo>
                    <a:pt x="0" y="71247"/>
                  </a:moveTo>
                  <a:cubicBezTo>
                    <a:pt x="0" y="31623"/>
                    <a:pt x="32639" y="0"/>
                    <a:pt x="72136" y="0"/>
                  </a:cubicBezTo>
                  <a:lnTo>
                    <a:pt x="20684998" y="0"/>
                  </a:lnTo>
                  <a:lnTo>
                    <a:pt x="20684998" y="19050"/>
                  </a:lnTo>
                  <a:lnTo>
                    <a:pt x="20684998" y="0"/>
                  </a:lnTo>
                  <a:cubicBezTo>
                    <a:pt x="20724495" y="0"/>
                    <a:pt x="20757135" y="31623"/>
                    <a:pt x="20757135" y="71247"/>
                  </a:cubicBezTo>
                  <a:lnTo>
                    <a:pt x="20738085" y="71247"/>
                  </a:lnTo>
                  <a:lnTo>
                    <a:pt x="20757135" y="71247"/>
                  </a:lnTo>
                  <a:lnTo>
                    <a:pt x="20757135" y="2054987"/>
                  </a:lnTo>
                  <a:lnTo>
                    <a:pt x="20738085" y="2054987"/>
                  </a:lnTo>
                  <a:lnTo>
                    <a:pt x="20757135" y="2054987"/>
                  </a:lnTo>
                  <a:cubicBezTo>
                    <a:pt x="20757135" y="2094611"/>
                    <a:pt x="20724495" y="2126234"/>
                    <a:pt x="20684998" y="2126234"/>
                  </a:cubicBezTo>
                  <a:lnTo>
                    <a:pt x="20684998" y="2107184"/>
                  </a:lnTo>
                  <a:lnTo>
                    <a:pt x="20684998" y="2126234"/>
                  </a:lnTo>
                  <a:lnTo>
                    <a:pt x="72136" y="2126234"/>
                  </a:lnTo>
                  <a:lnTo>
                    <a:pt x="72136" y="2107184"/>
                  </a:lnTo>
                  <a:lnTo>
                    <a:pt x="72136" y="2126234"/>
                  </a:lnTo>
                  <a:cubicBezTo>
                    <a:pt x="32639" y="2126234"/>
                    <a:pt x="0" y="2094611"/>
                    <a:pt x="0" y="2054987"/>
                  </a:cubicBezTo>
                  <a:lnTo>
                    <a:pt x="0" y="71247"/>
                  </a:lnTo>
                  <a:lnTo>
                    <a:pt x="19050" y="71247"/>
                  </a:lnTo>
                  <a:lnTo>
                    <a:pt x="0" y="71247"/>
                  </a:lnTo>
                  <a:moveTo>
                    <a:pt x="38100" y="71247"/>
                  </a:moveTo>
                  <a:lnTo>
                    <a:pt x="38100" y="2054987"/>
                  </a:lnTo>
                  <a:lnTo>
                    <a:pt x="19050" y="2054987"/>
                  </a:lnTo>
                  <a:lnTo>
                    <a:pt x="38100" y="2054987"/>
                  </a:lnTo>
                  <a:cubicBezTo>
                    <a:pt x="38100" y="2073021"/>
                    <a:pt x="53086" y="2088134"/>
                    <a:pt x="72136" y="2088134"/>
                  </a:cubicBezTo>
                  <a:lnTo>
                    <a:pt x="20684998" y="2088134"/>
                  </a:lnTo>
                  <a:cubicBezTo>
                    <a:pt x="20704048" y="2088134"/>
                    <a:pt x="20719035" y="2073021"/>
                    <a:pt x="20719035" y="2054987"/>
                  </a:cubicBezTo>
                  <a:lnTo>
                    <a:pt x="20719035" y="71247"/>
                  </a:lnTo>
                  <a:cubicBezTo>
                    <a:pt x="20719035" y="53213"/>
                    <a:pt x="20704048" y="38100"/>
                    <a:pt x="20684998" y="38100"/>
                  </a:cubicBezTo>
                  <a:lnTo>
                    <a:pt x="72136" y="38100"/>
                  </a:lnTo>
                  <a:lnTo>
                    <a:pt x="72136" y="19050"/>
                  </a:lnTo>
                  <a:lnTo>
                    <a:pt x="72136" y="38100"/>
                  </a:lnTo>
                  <a:cubicBezTo>
                    <a:pt x="53086" y="38100"/>
                    <a:pt x="38100" y="53213"/>
                    <a:pt x="38100" y="71247"/>
                  </a:cubicBezTo>
                  <a:close/>
                </a:path>
              </a:pathLst>
            </a:custGeom>
            <a:solidFill>
              <a:srgbClr val="49606E"/>
            </a:solidFill>
            <a:ln w="12700">
              <a:solidFill>
                <a:srgbClr val="000000"/>
              </a:solidFill>
            </a:ln>
          </p:spPr>
        </p:sp>
      </p:grpSp>
      <p:grpSp>
        <p:nvGrpSpPr>
          <p:cNvPr name="Group 34" id="34"/>
          <p:cNvGrpSpPr/>
          <p:nvPr/>
        </p:nvGrpSpPr>
        <p:grpSpPr>
          <a:xfrm rot="0">
            <a:off x="1402852" y="7826426"/>
            <a:ext cx="1044026" cy="1508970"/>
            <a:chOff x="0" y="0"/>
            <a:chExt cx="1392034" cy="2011959"/>
          </a:xfrm>
        </p:grpSpPr>
        <p:sp>
          <p:nvSpPr>
            <p:cNvPr name="Freeform 35" id="35"/>
            <p:cNvSpPr/>
            <p:nvPr/>
          </p:nvSpPr>
          <p:spPr>
            <a:xfrm flipH="false" flipV="false" rot="0">
              <a:off x="0" y="0"/>
              <a:ext cx="1392047" cy="2011934"/>
            </a:xfrm>
            <a:custGeom>
              <a:avLst/>
              <a:gdLst/>
              <a:ahLst/>
              <a:cxnLst/>
              <a:rect r="r" b="b" t="t" l="l"/>
              <a:pathLst>
                <a:path h="2011934" w="1392047">
                  <a:moveTo>
                    <a:pt x="0" y="6477"/>
                  </a:moveTo>
                  <a:cubicBezTo>
                    <a:pt x="0" y="2921"/>
                    <a:pt x="2921" y="0"/>
                    <a:pt x="6477" y="0"/>
                  </a:cubicBezTo>
                  <a:lnTo>
                    <a:pt x="1385570" y="0"/>
                  </a:lnTo>
                  <a:cubicBezTo>
                    <a:pt x="1389126" y="0"/>
                    <a:pt x="1392047" y="2921"/>
                    <a:pt x="1392047" y="6477"/>
                  </a:cubicBezTo>
                  <a:lnTo>
                    <a:pt x="1392047" y="2005457"/>
                  </a:lnTo>
                  <a:cubicBezTo>
                    <a:pt x="1392047" y="2009013"/>
                    <a:pt x="1389126" y="2011934"/>
                    <a:pt x="1385570" y="2011934"/>
                  </a:cubicBezTo>
                  <a:lnTo>
                    <a:pt x="6477" y="2011934"/>
                  </a:lnTo>
                  <a:cubicBezTo>
                    <a:pt x="2921" y="2011934"/>
                    <a:pt x="0" y="2009013"/>
                    <a:pt x="0" y="2005457"/>
                  </a:cubicBezTo>
                  <a:close/>
                </a:path>
              </a:pathLst>
            </a:custGeom>
            <a:solidFill>
              <a:srgbClr val="304755"/>
            </a:solidFill>
            <a:ln w="12700">
              <a:solidFill>
                <a:srgbClr val="000000"/>
              </a:solidFill>
            </a:ln>
          </p:spPr>
        </p:sp>
      </p:grpSp>
      <p:sp>
        <p:nvSpPr>
          <p:cNvPr name="Freeform 36" id="36" descr="preencoded.png"/>
          <p:cNvSpPr/>
          <p:nvPr/>
        </p:nvSpPr>
        <p:spPr>
          <a:xfrm flipH="false" flipV="false" rot="0">
            <a:off x="1729083" y="8385124"/>
            <a:ext cx="391420" cy="391420"/>
          </a:xfrm>
          <a:custGeom>
            <a:avLst/>
            <a:gdLst/>
            <a:ahLst/>
            <a:cxnLst/>
            <a:rect r="r" b="b" t="t" l="l"/>
            <a:pathLst>
              <a:path h="391420" w="391420">
                <a:moveTo>
                  <a:pt x="0" y="0"/>
                </a:moveTo>
                <a:lnTo>
                  <a:pt x="391420" y="0"/>
                </a:lnTo>
                <a:lnTo>
                  <a:pt x="391420" y="391421"/>
                </a:lnTo>
                <a:lnTo>
                  <a:pt x="0" y="391421"/>
                </a:lnTo>
                <a:lnTo>
                  <a:pt x="0" y="0"/>
                </a:lnTo>
                <a:close/>
              </a:path>
            </a:pathLst>
          </a:custGeom>
          <a:blipFill>
            <a:blip r:embed="rId11">
              <a:extLst>
                <a:ext uri="{96DAC541-7B7A-43D3-8B79-37D633B846F1}">
                  <asvg:svgBlip xmlns:asvg="http://schemas.microsoft.com/office/drawing/2016/SVG/main" r:embed="rId12"/>
                </a:ext>
              </a:extLst>
            </a:blip>
            <a:stretch>
              <a:fillRect l="-4762" t="0" r="-4759" b="0"/>
            </a:stretch>
          </a:blipFill>
        </p:spPr>
      </p:sp>
      <p:sp>
        <p:nvSpPr>
          <p:cNvPr name="TextBox 37" id="37"/>
          <p:cNvSpPr txBox="true"/>
          <p:nvPr/>
        </p:nvSpPr>
        <p:spPr>
          <a:xfrm rot="0">
            <a:off x="2707777" y="8058741"/>
            <a:ext cx="3070917" cy="412252"/>
          </a:xfrm>
          <a:prstGeom prst="rect">
            <a:avLst/>
          </a:prstGeom>
        </p:spPr>
        <p:txBody>
          <a:bodyPr anchor="t" rtlCol="false" tIns="0" lIns="0" bIns="0" rIns="0">
            <a:spAutoFit/>
          </a:bodyPr>
          <a:lstStyle/>
          <a:p>
            <a:pPr algn="l">
              <a:lnSpc>
                <a:spcPts val="3000"/>
              </a:lnSpc>
            </a:pPr>
            <a:r>
              <a:rPr lang="en-US" sz="2375">
                <a:solidFill>
                  <a:srgbClr val="CAD6DE"/>
                </a:solidFill>
                <a:latin typeface="Arimo"/>
                <a:ea typeface="Arimo"/>
                <a:cs typeface="Arimo"/>
                <a:sym typeface="Arimo"/>
              </a:rPr>
              <a:t>Analytics Cards</a:t>
            </a:r>
          </a:p>
        </p:txBody>
      </p:sp>
      <p:sp>
        <p:nvSpPr>
          <p:cNvPr name="TextBox 38" id="38"/>
          <p:cNvSpPr txBox="true"/>
          <p:nvPr/>
        </p:nvSpPr>
        <p:spPr>
          <a:xfrm rot="0">
            <a:off x="2707777" y="8541839"/>
            <a:ext cx="13916320" cy="503339"/>
          </a:xfrm>
          <a:prstGeom prst="rect">
            <a:avLst/>
          </a:prstGeom>
        </p:spPr>
        <p:txBody>
          <a:bodyPr anchor="t" rtlCol="false" tIns="0" lIns="0" bIns="0" rIns="0">
            <a:spAutoFit/>
          </a:bodyPr>
          <a:lstStyle/>
          <a:p>
            <a:pPr algn="l">
              <a:lnSpc>
                <a:spcPts val="3250"/>
              </a:lnSpc>
            </a:pPr>
            <a:r>
              <a:rPr lang="en-US" sz="2000">
                <a:solidFill>
                  <a:srgbClr val="CAD6DE"/>
                </a:solidFill>
                <a:latin typeface="Cabin"/>
                <a:ea typeface="Cabin"/>
                <a:cs typeface="Cabin"/>
                <a:sym typeface="Cabin"/>
              </a:rPr>
              <a:t>Real-time summary statistics including totals, distributions, confidence metrics, and weight/length aggregations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TextBox 6" id="6"/>
          <p:cNvSpPr txBox="true"/>
          <p:nvPr/>
        </p:nvSpPr>
        <p:spPr>
          <a:xfrm rot="0">
            <a:off x="1047159" y="937622"/>
            <a:ext cx="1969884" cy="458991"/>
          </a:xfrm>
          <a:prstGeom prst="rect">
            <a:avLst/>
          </a:prstGeom>
        </p:spPr>
        <p:txBody>
          <a:bodyPr anchor="t" rtlCol="false" tIns="0" lIns="0" bIns="0" rIns="0">
            <a:spAutoFit/>
          </a:bodyPr>
          <a:lstStyle/>
          <a:p>
            <a:pPr algn="l">
              <a:lnSpc>
                <a:spcPts val="3000"/>
              </a:lnSpc>
            </a:pPr>
            <a:r>
              <a:rPr lang="en-US" sz="1874">
                <a:solidFill>
                  <a:srgbClr val="0A988B"/>
                </a:solidFill>
                <a:latin typeface="Cabin"/>
                <a:ea typeface="Cabin"/>
                <a:cs typeface="Cabin"/>
                <a:sym typeface="Cabin"/>
              </a:rPr>
              <a:t>GETTING STARTED</a:t>
            </a:r>
          </a:p>
        </p:txBody>
      </p:sp>
      <p:sp>
        <p:nvSpPr>
          <p:cNvPr name="TextBox 7" id="7"/>
          <p:cNvSpPr txBox="true"/>
          <p:nvPr/>
        </p:nvSpPr>
        <p:spPr>
          <a:xfrm rot="0">
            <a:off x="1047159" y="1558376"/>
            <a:ext cx="6141396" cy="751732"/>
          </a:xfrm>
          <a:prstGeom prst="rect">
            <a:avLst/>
          </a:prstGeom>
        </p:spPr>
        <p:txBody>
          <a:bodyPr anchor="t" rtlCol="false" tIns="0" lIns="0" bIns="0" rIns="0">
            <a:spAutoFit/>
          </a:bodyPr>
          <a:lstStyle/>
          <a:p>
            <a:pPr algn="l">
              <a:lnSpc>
                <a:spcPts val="5500"/>
              </a:lnSpc>
            </a:pPr>
            <a:r>
              <a:rPr lang="en-US" sz="4375">
                <a:solidFill>
                  <a:srgbClr val="FFFFFF"/>
                </a:solidFill>
                <a:latin typeface="Arimo"/>
                <a:ea typeface="Arimo"/>
                <a:cs typeface="Arimo"/>
                <a:sym typeface="Arimo"/>
              </a:rPr>
              <a:t>Quick Setup Guide</a:t>
            </a:r>
          </a:p>
        </p:txBody>
      </p:sp>
      <p:grpSp>
        <p:nvGrpSpPr>
          <p:cNvPr name="Group 8" id="8"/>
          <p:cNvGrpSpPr/>
          <p:nvPr/>
        </p:nvGrpSpPr>
        <p:grpSpPr>
          <a:xfrm rot="0">
            <a:off x="1495873" y="3955552"/>
            <a:ext cx="4749556" cy="299142"/>
            <a:chOff x="0" y="0"/>
            <a:chExt cx="6332741" cy="398856"/>
          </a:xfrm>
        </p:grpSpPr>
        <p:sp>
          <p:nvSpPr>
            <p:cNvPr name="Freeform 9" id="9"/>
            <p:cNvSpPr/>
            <p:nvPr/>
          </p:nvSpPr>
          <p:spPr>
            <a:xfrm flipH="false" flipV="false" rot="0">
              <a:off x="0" y="0"/>
              <a:ext cx="6332728" cy="398780"/>
            </a:xfrm>
            <a:custGeom>
              <a:avLst/>
              <a:gdLst/>
              <a:ahLst/>
              <a:cxnLst/>
              <a:rect r="r" b="b" t="t" l="l"/>
              <a:pathLst>
                <a:path h="398780" w="6332728">
                  <a:moveTo>
                    <a:pt x="0" y="59817"/>
                  </a:moveTo>
                  <a:cubicBezTo>
                    <a:pt x="0" y="26797"/>
                    <a:pt x="26797" y="0"/>
                    <a:pt x="59817" y="0"/>
                  </a:cubicBezTo>
                  <a:lnTo>
                    <a:pt x="6272911" y="0"/>
                  </a:lnTo>
                  <a:cubicBezTo>
                    <a:pt x="6305931" y="0"/>
                    <a:pt x="6332728" y="26797"/>
                    <a:pt x="6332728" y="59817"/>
                  </a:cubicBezTo>
                  <a:lnTo>
                    <a:pt x="6332728" y="338963"/>
                  </a:lnTo>
                  <a:cubicBezTo>
                    <a:pt x="6332728" y="371983"/>
                    <a:pt x="6305931" y="398780"/>
                    <a:pt x="6272911" y="398780"/>
                  </a:cubicBezTo>
                  <a:lnTo>
                    <a:pt x="59817" y="398780"/>
                  </a:lnTo>
                  <a:cubicBezTo>
                    <a:pt x="26797" y="398907"/>
                    <a:pt x="0" y="372110"/>
                    <a:pt x="0" y="338963"/>
                  </a:cubicBezTo>
                  <a:close/>
                </a:path>
              </a:pathLst>
            </a:custGeom>
            <a:solidFill>
              <a:srgbClr val="304755"/>
            </a:solidFill>
            <a:ln w="12700">
              <a:solidFill>
                <a:srgbClr val="000000"/>
              </a:solidFill>
            </a:ln>
          </p:spPr>
        </p:sp>
      </p:grpSp>
      <p:grpSp>
        <p:nvGrpSpPr>
          <p:cNvPr name="Group 10" id="10"/>
          <p:cNvGrpSpPr/>
          <p:nvPr/>
        </p:nvGrpSpPr>
        <p:grpSpPr>
          <a:xfrm rot="0">
            <a:off x="1047159" y="3656333"/>
            <a:ext cx="897579" cy="897579"/>
            <a:chOff x="0" y="0"/>
            <a:chExt cx="1196772" cy="1196772"/>
          </a:xfrm>
        </p:grpSpPr>
        <p:sp>
          <p:nvSpPr>
            <p:cNvPr name="Freeform 11" id="11"/>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304755"/>
            </a:solidFill>
            <a:ln w="12700">
              <a:solidFill>
                <a:srgbClr val="000000"/>
              </a:solidFill>
            </a:ln>
          </p:spPr>
        </p:sp>
      </p:grpSp>
      <p:sp>
        <p:nvSpPr>
          <p:cNvPr name="Freeform 12" id="12" descr="preencoded.png"/>
          <p:cNvSpPr/>
          <p:nvPr/>
        </p:nvSpPr>
        <p:spPr>
          <a:xfrm flipH="false" flipV="false" rot="0">
            <a:off x="1271588" y="3880771"/>
            <a:ext cx="448713" cy="448713"/>
          </a:xfrm>
          <a:custGeom>
            <a:avLst/>
            <a:gdLst/>
            <a:ahLst/>
            <a:cxnLst/>
            <a:rect r="r" b="b" t="t" l="l"/>
            <a:pathLst>
              <a:path h="448713" w="448713">
                <a:moveTo>
                  <a:pt x="0" y="0"/>
                </a:moveTo>
                <a:lnTo>
                  <a:pt x="448713" y="0"/>
                </a:lnTo>
                <a:lnTo>
                  <a:pt x="448713" y="448713"/>
                </a:lnTo>
                <a:lnTo>
                  <a:pt x="0" y="448713"/>
                </a:lnTo>
                <a:lnTo>
                  <a:pt x="0" y="0"/>
                </a:lnTo>
                <a:close/>
              </a:path>
            </a:pathLst>
          </a:custGeom>
          <a:blipFill>
            <a:blip r:embed="rId5">
              <a:extLst>
                <a:ext uri="{96DAC541-7B7A-43D3-8B79-37D633B846F1}">
                  <asvg:svgBlip xmlns:asvg="http://schemas.microsoft.com/office/drawing/2016/SVG/main" r:embed="rId6"/>
                </a:ext>
              </a:extLst>
            </a:blip>
            <a:stretch>
              <a:fillRect l="-3124" t="0" r="-3126" b="0"/>
            </a:stretch>
          </a:blipFill>
        </p:spPr>
      </p:sp>
      <p:sp>
        <p:nvSpPr>
          <p:cNvPr name="TextBox 13" id="13"/>
          <p:cNvSpPr txBox="true"/>
          <p:nvPr/>
        </p:nvSpPr>
        <p:spPr>
          <a:xfrm rot="0">
            <a:off x="1346302" y="4815040"/>
            <a:ext cx="3969696"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Launch ML Service</a:t>
            </a:r>
          </a:p>
        </p:txBody>
      </p:sp>
      <p:sp>
        <p:nvSpPr>
          <p:cNvPr name="TextBox 14" id="14"/>
          <p:cNvSpPr txBox="true"/>
          <p:nvPr/>
        </p:nvSpPr>
        <p:spPr>
          <a:xfrm rot="0">
            <a:off x="1346302" y="5329685"/>
            <a:ext cx="4600127" cy="1598266"/>
          </a:xfrm>
          <a:prstGeom prst="rect">
            <a:avLst/>
          </a:prstGeom>
        </p:spPr>
        <p:txBody>
          <a:bodyPr anchor="t" rtlCol="false" tIns="0" lIns="0" bIns="0" rIns="0">
            <a:spAutoFit/>
          </a:bodyPr>
          <a:lstStyle/>
          <a:p>
            <a:pPr algn="l">
              <a:lnSpc>
                <a:spcPts val="3750"/>
              </a:lnSpc>
            </a:pPr>
            <a:r>
              <a:rPr lang="en-US" sz="2312">
                <a:solidFill>
                  <a:srgbClr val="CAD6DE"/>
                </a:solidFill>
                <a:latin typeface="Consolas"/>
                <a:ea typeface="Consolas"/>
                <a:cs typeface="Consolas"/>
                <a:sym typeface="Consolas"/>
              </a:rPr>
              <a:t>Start FastAPI server with YOLOv8: uvicorn main:app --host 0.0.0.0 --port 8000</a:t>
            </a:r>
          </a:p>
        </p:txBody>
      </p:sp>
      <p:grpSp>
        <p:nvGrpSpPr>
          <p:cNvPr name="Group 15" id="15"/>
          <p:cNvGrpSpPr/>
          <p:nvPr/>
        </p:nvGrpSpPr>
        <p:grpSpPr>
          <a:xfrm rot="0">
            <a:off x="6993436" y="3506686"/>
            <a:ext cx="4749556" cy="299142"/>
            <a:chOff x="0" y="0"/>
            <a:chExt cx="6332741" cy="398856"/>
          </a:xfrm>
        </p:grpSpPr>
        <p:sp>
          <p:nvSpPr>
            <p:cNvPr name="Freeform 16" id="16"/>
            <p:cNvSpPr/>
            <p:nvPr/>
          </p:nvSpPr>
          <p:spPr>
            <a:xfrm flipH="false" flipV="false" rot="0">
              <a:off x="0" y="0"/>
              <a:ext cx="6332728" cy="398780"/>
            </a:xfrm>
            <a:custGeom>
              <a:avLst/>
              <a:gdLst/>
              <a:ahLst/>
              <a:cxnLst/>
              <a:rect r="r" b="b" t="t" l="l"/>
              <a:pathLst>
                <a:path h="398780" w="6332728">
                  <a:moveTo>
                    <a:pt x="0" y="59817"/>
                  </a:moveTo>
                  <a:cubicBezTo>
                    <a:pt x="0" y="26797"/>
                    <a:pt x="26797" y="0"/>
                    <a:pt x="59817" y="0"/>
                  </a:cubicBezTo>
                  <a:lnTo>
                    <a:pt x="6272911" y="0"/>
                  </a:lnTo>
                  <a:cubicBezTo>
                    <a:pt x="6305931" y="0"/>
                    <a:pt x="6332728" y="26797"/>
                    <a:pt x="6332728" y="59817"/>
                  </a:cubicBezTo>
                  <a:lnTo>
                    <a:pt x="6332728" y="338963"/>
                  </a:lnTo>
                  <a:cubicBezTo>
                    <a:pt x="6332728" y="371983"/>
                    <a:pt x="6305931" y="398780"/>
                    <a:pt x="6272911" y="398780"/>
                  </a:cubicBezTo>
                  <a:lnTo>
                    <a:pt x="59817" y="398780"/>
                  </a:lnTo>
                  <a:cubicBezTo>
                    <a:pt x="26797" y="398907"/>
                    <a:pt x="0" y="372110"/>
                    <a:pt x="0" y="338963"/>
                  </a:cubicBezTo>
                  <a:close/>
                </a:path>
              </a:pathLst>
            </a:custGeom>
            <a:solidFill>
              <a:srgbClr val="304755"/>
            </a:solidFill>
            <a:ln w="12700">
              <a:solidFill>
                <a:srgbClr val="000000"/>
              </a:solidFill>
            </a:ln>
          </p:spPr>
        </p:sp>
      </p:grpSp>
      <p:grpSp>
        <p:nvGrpSpPr>
          <p:cNvPr name="Group 17" id="17"/>
          <p:cNvGrpSpPr/>
          <p:nvPr/>
        </p:nvGrpSpPr>
        <p:grpSpPr>
          <a:xfrm rot="0">
            <a:off x="6544713" y="3207468"/>
            <a:ext cx="897579" cy="897579"/>
            <a:chOff x="0" y="0"/>
            <a:chExt cx="1196772" cy="1196772"/>
          </a:xfrm>
        </p:grpSpPr>
        <p:sp>
          <p:nvSpPr>
            <p:cNvPr name="Freeform 18" id="18"/>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304755"/>
            </a:solidFill>
            <a:ln w="12700">
              <a:solidFill>
                <a:srgbClr val="000000"/>
              </a:solidFill>
            </a:ln>
          </p:spPr>
        </p:sp>
      </p:grpSp>
      <p:sp>
        <p:nvSpPr>
          <p:cNvPr name="Freeform 19" id="19" descr="preencoded.png"/>
          <p:cNvSpPr/>
          <p:nvPr/>
        </p:nvSpPr>
        <p:spPr>
          <a:xfrm flipH="false" flipV="false" rot="0">
            <a:off x="6769151" y="3431905"/>
            <a:ext cx="448713" cy="448713"/>
          </a:xfrm>
          <a:custGeom>
            <a:avLst/>
            <a:gdLst/>
            <a:ahLst/>
            <a:cxnLst/>
            <a:rect r="r" b="b" t="t" l="l"/>
            <a:pathLst>
              <a:path h="448713" w="448713">
                <a:moveTo>
                  <a:pt x="0" y="0"/>
                </a:moveTo>
                <a:lnTo>
                  <a:pt x="448713" y="0"/>
                </a:lnTo>
                <a:lnTo>
                  <a:pt x="448713" y="448713"/>
                </a:lnTo>
                <a:lnTo>
                  <a:pt x="0" y="448713"/>
                </a:lnTo>
                <a:lnTo>
                  <a:pt x="0" y="0"/>
                </a:lnTo>
                <a:close/>
              </a:path>
            </a:pathLst>
          </a:custGeom>
          <a:blipFill>
            <a:blip r:embed="rId7">
              <a:extLst>
                <a:ext uri="{96DAC541-7B7A-43D3-8B79-37D633B846F1}">
                  <asvg:svgBlip xmlns:asvg="http://schemas.microsoft.com/office/drawing/2016/SVG/main" r:embed="rId8"/>
                </a:ext>
              </a:extLst>
            </a:blip>
            <a:stretch>
              <a:fillRect l="0" t="-1042" r="0" b="-1042"/>
            </a:stretch>
          </a:blipFill>
        </p:spPr>
      </p:sp>
      <p:sp>
        <p:nvSpPr>
          <p:cNvPr name="TextBox 20" id="20"/>
          <p:cNvSpPr txBox="true"/>
          <p:nvPr/>
        </p:nvSpPr>
        <p:spPr>
          <a:xfrm rot="0">
            <a:off x="6843865" y="4366174"/>
            <a:ext cx="4513659"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Configure API Service</a:t>
            </a:r>
          </a:p>
        </p:txBody>
      </p:sp>
      <p:sp>
        <p:nvSpPr>
          <p:cNvPr name="TextBox 21" id="21"/>
          <p:cNvSpPr txBox="true"/>
          <p:nvPr/>
        </p:nvSpPr>
        <p:spPr>
          <a:xfrm rot="0">
            <a:off x="6843865" y="4880820"/>
            <a:ext cx="4600127" cy="2096091"/>
          </a:xfrm>
          <a:prstGeom prst="rect">
            <a:avLst/>
          </a:prstGeom>
        </p:spPr>
        <p:txBody>
          <a:bodyPr anchor="t" rtlCol="false" tIns="0" lIns="0" bIns="0" rIns="0">
            <a:spAutoFit/>
          </a:bodyPr>
          <a:lstStyle/>
          <a:p>
            <a:pPr algn="l">
              <a:lnSpc>
                <a:spcPts val="3750"/>
              </a:lnSpc>
            </a:pPr>
            <a:r>
              <a:rPr lang="en-US" sz="2312">
                <a:solidFill>
                  <a:srgbClr val="CAD6DE"/>
                </a:solidFill>
                <a:latin typeface="Consolas"/>
                <a:ea typeface="Consolas"/>
                <a:cs typeface="Consolas"/>
                <a:sym typeface="Consolas"/>
              </a:rPr>
              <a:t>Copy .env.example, set ML_SERVICE_URL=http://localhost:8000, then run npm install &amp;&amp; npm run dev</a:t>
            </a:r>
          </a:p>
        </p:txBody>
      </p:sp>
      <p:grpSp>
        <p:nvGrpSpPr>
          <p:cNvPr name="Group 22" id="22"/>
          <p:cNvGrpSpPr/>
          <p:nvPr/>
        </p:nvGrpSpPr>
        <p:grpSpPr>
          <a:xfrm rot="0">
            <a:off x="12490999" y="3057973"/>
            <a:ext cx="4749698" cy="299142"/>
            <a:chOff x="0" y="0"/>
            <a:chExt cx="6332931" cy="398856"/>
          </a:xfrm>
        </p:grpSpPr>
        <p:sp>
          <p:nvSpPr>
            <p:cNvPr name="Freeform 23" id="23"/>
            <p:cNvSpPr/>
            <p:nvPr/>
          </p:nvSpPr>
          <p:spPr>
            <a:xfrm flipH="false" flipV="false" rot="0">
              <a:off x="0" y="0"/>
              <a:ext cx="6332855" cy="398780"/>
            </a:xfrm>
            <a:custGeom>
              <a:avLst/>
              <a:gdLst/>
              <a:ahLst/>
              <a:cxnLst/>
              <a:rect r="r" b="b" t="t" l="l"/>
              <a:pathLst>
                <a:path h="398780" w="6332855">
                  <a:moveTo>
                    <a:pt x="0" y="59817"/>
                  </a:moveTo>
                  <a:cubicBezTo>
                    <a:pt x="0" y="26797"/>
                    <a:pt x="26797" y="0"/>
                    <a:pt x="59817" y="0"/>
                  </a:cubicBezTo>
                  <a:lnTo>
                    <a:pt x="6273038" y="0"/>
                  </a:lnTo>
                  <a:cubicBezTo>
                    <a:pt x="6306058" y="0"/>
                    <a:pt x="6332855" y="26797"/>
                    <a:pt x="6332855" y="59817"/>
                  </a:cubicBezTo>
                  <a:lnTo>
                    <a:pt x="6332855" y="338963"/>
                  </a:lnTo>
                  <a:cubicBezTo>
                    <a:pt x="6332855" y="371983"/>
                    <a:pt x="6306058" y="398780"/>
                    <a:pt x="6273038" y="398780"/>
                  </a:cubicBezTo>
                  <a:lnTo>
                    <a:pt x="59817" y="398780"/>
                  </a:lnTo>
                  <a:cubicBezTo>
                    <a:pt x="26797" y="398907"/>
                    <a:pt x="0" y="372110"/>
                    <a:pt x="0" y="338963"/>
                  </a:cubicBezTo>
                  <a:close/>
                </a:path>
              </a:pathLst>
            </a:custGeom>
            <a:solidFill>
              <a:srgbClr val="304755"/>
            </a:solidFill>
            <a:ln w="12700">
              <a:solidFill>
                <a:srgbClr val="000000"/>
              </a:solidFill>
            </a:ln>
          </p:spPr>
        </p:sp>
      </p:grpSp>
      <p:grpSp>
        <p:nvGrpSpPr>
          <p:cNvPr name="Group 24" id="24"/>
          <p:cNvGrpSpPr/>
          <p:nvPr/>
        </p:nvGrpSpPr>
        <p:grpSpPr>
          <a:xfrm rot="0">
            <a:off x="12042277" y="2758754"/>
            <a:ext cx="897579" cy="897579"/>
            <a:chOff x="0" y="0"/>
            <a:chExt cx="1196772" cy="1196772"/>
          </a:xfrm>
        </p:grpSpPr>
        <p:sp>
          <p:nvSpPr>
            <p:cNvPr name="Freeform 25" id="25"/>
            <p:cNvSpPr/>
            <p:nvPr/>
          </p:nvSpPr>
          <p:spPr>
            <a:xfrm flipH="false" flipV="false" rot="0">
              <a:off x="0" y="0"/>
              <a:ext cx="1196721" cy="1196721"/>
            </a:xfrm>
            <a:custGeom>
              <a:avLst/>
              <a:gdLst/>
              <a:ahLst/>
              <a:cxnLst/>
              <a:rect r="r" b="b" t="t" l="l"/>
              <a:pathLst>
                <a:path h="1196721" w="1196721">
                  <a:moveTo>
                    <a:pt x="0" y="598424"/>
                  </a:moveTo>
                  <a:cubicBezTo>
                    <a:pt x="0" y="267970"/>
                    <a:pt x="267970" y="0"/>
                    <a:pt x="598424" y="0"/>
                  </a:cubicBezTo>
                  <a:cubicBezTo>
                    <a:pt x="928878" y="0"/>
                    <a:pt x="1196721" y="267970"/>
                    <a:pt x="1196721" y="598424"/>
                  </a:cubicBezTo>
                  <a:cubicBezTo>
                    <a:pt x="1196721" y="928878"/>
                    <a:pt x="928878" y="1196721"/>
                    <a:pt x="598424" y="1196721"/>
                  </a:cubicBezTo>
                  <a:cubicBezTo>
                    <a:pt x="267970" y="1196721"/>
                    <a:pt x="0" y="928878"/>
                    <a:pt x="0" y="598424"/>
                  </a:cubicBezTo>
                  <a:close/>
                </a:path>
              </a:pathLst>
            </a:custGeom>
            <a:solidFill>
              <a:srgbClr val="304755"/>
            </a:solidFill>
            <a:ln w="12700">
              <a:solidFill>
                <a:srgbClr val="000000"/>
              </a:solidFill>
            </a:ln>
          </p:spPr>
        </p:sp>
      </p:grpSp>
      <p:sp>
        <p:nvSpPr>
          <p:cNvPr name="Freeform 26" id="26" descr="preencoded.png"/>
          <p:cNvSpPr/>
          <p:nvPr/>
        </p:nvSpPr>
        <p:spPr>
          <a:xfrm flipH="false" flipV="false" rot="0">
            <a:off x="12266714" y="2983182"/>
            <a:ext cx="448713" cy="448713"/>
          </a:xfrm>
          <a:custGeom>
            <a:avLst/>
            <a:gdLst/>
            <a:ahLst/>
            <a:cxnLst/>
            <a:rect r="r" b="b" t="t" l="l"/>
            <a:pathLst>
              <a:path h="448713" w="448713">
                <a:moveTo>
                  <a:pt x="0" y="0"/>
                </a:moveTo>
                <a:lnTo>
                  <a:pt x="448713" y="0"/>
                </a:lnTo>
                <a:lnTo>
                  <a:pt x="448713" y="448714"/>
                </a:lnTo>
                <a:lnTo>
                  <a:pt x="0" y="448714"/>
                </a:lnTo>
                <a:lnTo>
                  <a:pt x="0" y="0"/>
                </a:lnTo>
                <a:close/>
              </a:path>
            </a:pathLst>
          </a:custGeom>
          <a:blipFill>
            <a:blip r:embed="rId9">
              <a:extLst>
                <a:ext uri="{96DAC541-7B7A-43D3-8B79-37D633B846F1}">
                  <asvg:svgBlip xmlns:asvg="http://schemas.microsoft.com/office/drawing/2016/SVG/main" r:embed="rId10"/>
                </a:ext>
              </a:extLst>
            </a:blip>
            <a:stretch>
              <a:fillRect l="-4166" t="0" r="-4166" b="0"/>
            </a:stretch>
          </a:blipFill>
        </p:spPr>
      </p:sp>
      <p:sp>
        <p:nvSpPr>
          <p:cNvPr name="TextBox 27" id="27"/>
          <p:cNvSpPr txBox="true"/>
          <p:nvPr/>
        </p:nvSpPr>
        <p:spPr>
          <a:xfrm rot="0">
            <a:off x="12341428" y="3917452"/>
            <a:ext cx="3520230" cy="478041"/>
          </a:xfrm>
          <a:prstGeom prst="rect">
            <a:avLst/>
          </a:prstGeom>
        </p:spPr>
        <p:txBody>
          <a:bodyPr anchor="t" rtlCol="false" tIns="0" lIns="0" bIns="0" rIns="0">
            <a:spAutoFit/>
          </a:bodyPr>
          <a:lstStyle/>
          <a:p>
            <a:pPr algn="l">
              <a:lnSpc>
                <a:spcPts val="3437"/>
              </a:lnSpc>
            </a:pPr>
            <a:r>
              <a:rPr lang="en-US" sz="2750">
                <a:solidFill>
                  <a:srgbClr val="CAD6DE"/>
                </a:solidFill>
                <a:latin typeface="Arimo"/>
                <a:ea typeface="Arimo"/>
                <a:cs typeface="Arimo"/>
                <a:sym typeface="Arimo"/>
              </a:rPr>
              <a:t>Start Frontend</a:t>
            </a:r>
          </a:p>
        </p:txBody>
      </p:sp>
      <p:sp>
        <p:nvSpPr>
          <p:cNvPr name="TextBox 28" id="28"/>
          <p:cNvSpPr txBox="true"/>
          <p:nvPr/>
        </p:nvSpPr>
        <p:spPr>
          <a:xfrm rot="0">
            <a:off x="12341428" y="4479722"/>
            <a:ext cx="4600280" cy="1550641"/>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Navigate to frontend directory, install dependencies with npm install, launch with npm run dev</a:t>
            </a:r>
          </a:p>
        </p:txBody>
      </p:sp>
      <p:grpSp>
        <p:nvGrpSpPr>
          <p:cNvPr name="Group 29" id="29"/>
          <p:cNvGrpSpPr/>
          <p:nvPr/>
        </p:nvGrpSpPr>
        <p:grpSpPr>
          <a:xfrm rot="0">
            <a:off x="1047159" y="7612561"/>
            <a:ext cx="16193691" cy="1750219"/>
            <a:chOff x="0" y="0"/>
            <a:chExt cx="21591588" cy="2333625"/>
          </a:xfrm>
        </p:grpSpPr>
        <p:sp>
          <p:nvSpPr>
            <p:cNvPr name="Freeform 30" id="30"/>
            <p:cNvSpPr/>
            <p:nvPr/>
          </p:nvSpPr>
          <p:spPr>
            <a:xfrm flipH="false" flipV="false" rot="0">
              <a:off x="0" y="0"/>
              <a:ext cx="21591524" cy="2333625"/>
            </a:xfrm>
            <a:custGeom>
              <a:avLst/>
              <a:gdLst/>
              <a:ahLst/>
              <a:cxnLst/>
              <a:rect r="r" b="b" t="t" l="l"/>
              <a:pathLst>
                <a:path h="2333625" w="21591524">
                  <a:moveTo>
                    <a:pt x="0" y="59817"/>
                  </a:moveTo>
                  <a:cubicBezTo>
                    <a:pt x="0" y="26797"/>
                    <a:pt x="26797" y="0"/>
                    <a:pt x="59817" y="0"/>
                  </a:cubicBezTo>
                  <a:lnTo>
                    <a:pt x="21531706" y="0"/>
                  </a:lnTo>
                  <a:cubicBezTo>
                    <a:pt x="21564727" y="0"/>
                    <a:pt x="21591524" y="26797"/>
                    <a:pt x="21591524" y="59817"/>
                  </a:cubicBezTo>
                  <a:lnTo>
                    <a:pt x="21591524" y="2273808"/>
                  </a:lnTo>
                  <a:cubicBezTo>
                    <a:pt x="21591524" y="2306828"/>
                    <a:pt x="21564727" y="2333625"/>
                    <a:pt x="21531706" y="2333625"/>
                  </a:cubicBezTo>
                  <a:lnTo>
                    <a:pt x="59817" y="2333625"/>
                  </a:lnTo>
                  <a:cubicBezTo>
                    <a:pt x="26797" y="2333625"/>
                    <a:pt x="0" y="2306828"/>
                    <a:pt x="0" y="2273808"/>
                  </a:cubicBezTo>
                  <a:close/>
                </a:path>
              </a:pathLst>
            </a:custGeom>
            <a:solidFill>
              <a:srgbClr val="054842"/>
            </a:solidFill>
            <a:ln w="12700">
              <a:solidFill>
                <a:srgbClr val="000000"/>
              </a:solidFill>
            </a:ln>
          </p:spPr>
        </p:sp>
      </p:grpSp>
      <p:sp>
        <p:nvSpPr>
          <p:cNvPr name="Freeform 31" id="31" descr="preencoded.png"/>
          <p:cNvSpPr/>
          <p:nvPr/>
        </p:nvSpPr>
        <p:spPr>
          <a:xfrm flipH="false" flipV="false" rot="0">
            <a:off x="1346302" y="8067523"/>
            <a:ext cx="374009" cy="299142"/>
          </a:xfrm>
          <a:custGeom>
            <a:avLst/>
            <a:gdLst/>
            <a:ahLst/>
            <a:cxnLst/>
            <a:rect r="r" b="b" t="t" l="l"/>
            <a:pathLst>
              <a:path h="299142" w="374009">
                <a:moveTo>
                  <a:pt x="0" y="0"/>
                </a:moveTo>
                <a:lnTo>
                  <a:pt x="374008" y="0"/>
                </a:lnTo>
                <a:lnTo>
                  <a:pt x="374008" y="299142"/>
                </a:lnTo>
                <a:lnTo>
                  <a:pt x="0" y="299142"/>
                </a:lnTo>
                <a:lnTo>
                  <a:pt x="0" y="0"/>
                </a:lnTo>
                <a:close/>
              </a:path>
            </a:pathLst>
          </a:custGeom>
          <a:blipFill>
            <a:blip r:embed="rId11"/>
            <a:stretch>
              <a:fillRect l="-313" t="0" r="-310" b="0"/>
            </a:stretch>
          </a:blipFill>
        </p:spPr>
      </p:sp>
      <p:sp>
        <p:nvSpPr>
          <p:cNvPr name="TextBox 32" id="32"/>
          <p:cNvSpPr txBox="true"/>
          <p:nvPr/>
        </p:nvSpPr>
        <p:spPr>
          <a:xfrm rot="0">
            <a:off x="2019452" y="7891167"/>
            <a:ext cx="14922256" cy="1052808"/>
          </a:xfrm>
          <a:prstGeom prst="rect">
            <a:avLst/>
          </a:prstGeom>
        </p:spPr>
        <p:txBody>
          <a:bodyPr anchor="t" rtlCol="false" tIns="0" lIns="0" bIns="0" rIns="0">
            <a:spAutoFit/>
          </a:bodyPr>
          <a:lstStyle/>
          <a:p>
            <a:pPr algn="l">
              <a:lnSpc>
                <a:spcPts val="3750"/>
              </a:lnSpc>
            </a:pPr>
            <a:r>
              <a:rPr lang="en-US" sz="2312" b="true">
                <a:solidFill>
                  <a:srgbClr val="FFFFFF"/>
                </a:solidFill>
                <a:latin typeface="Cabin Bold"/>
                <a:ea typeface="Cabin Bold"/>
                <a:cs typeface="Cabin Bold"/>
                <a:sym typeface="Cabin Bold"/>
              </a:rPr>
              <a:t>Prerequisites:</a:t>
            </a:r>
            <a:r>
              <a:rPr lang="en-US" sz="2312">
                <a:solidFill>
                  <a:srgbClr val="FFFFFF"/>
                </a:solidFill>
                <a:latin typeface="Cabin"/>
                <a:ea typeface="Cabin"/>
                <a:cs typeface="Cabin"/>
                <a:sym typeface="Cabin"/>
              </a:rPr>
              <a:t> Node.js 18+, Python 3.10+. API service runs on port 3000, ML service on port 8000 by default. Ensure all environment variables are properly configured before starting services.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preencoded.png">
            <a:hlinkClick r:id="rId3" tooltip="https://gamma.app/?utm_source=made-with-gamma"/>
          </p:cNvPr>
          <p:cNvSpPr/>
          <p:nvPr/>
        </p:nvSpPr>
        <p:spPr>
          <a:xfrm flipH="false" flipV="false" rot="0">
            <a:off x="16049015" y="9686925"/>
            <a:ext cx="2153260" cy="514350"/>
          </a:xfrm>
          <a:custGeom>
            <a:avLst/>
            <a:gdLst/>
            <a:ahLst/>
            <a:cxnLst/>
            <a:rect r="r" b="b" t="t" l="l"/>
            <a:pathLst>
              <a:path h="514350" w="2153260">
                <a:moveTo>
                  <a:pt x="0" y="0"/>
                </a:moveTo>
                <a:lnTo>
                  <a:pt x="2153260" y="0"/>
                </a:lnTo>
                <a:lnTo>
                  <a:pt x="2153260" y="514350"/>
                </a:lnTo>
                <a:lnTo>
                  <a:pt x="0" y="514350"/>
                </a:lnTo>
                <a:lnTo>
                  <a:pt x="0" y="0"/>
                </a:lnTo>
                <a:close/>
              </a:path>
            </a:pathLst>
          </a:custGeom>
          <a:blipFill>
            <a:blip r:embed="rId2"/>
            <a:stretch>
              <a:fillRect l="0" t="0" r="0" b="0"/>
            </a:stretch>
          </a:blipFill>
        </p:spPr>
      </p:sp>
      <p:sp>
        <p:nvSpPr>
          <p:cNvPr name="Freeform 3" id="3" descr="preencoded.png"/>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4"/>
            <a:stretch>
              <a:fillRect l="0" t="0" r="0" b="0"/>
            </a:stretch>
          </a:blipFill>
        </p:spPr>
      </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112836"/>
            </a:solidFill>
            <a:ln w="12700">
              <a:solidFill>
                <a:srgbClr val="000000"/>
              </a:solidFill>
            </a:ln>
          </p:spPr>
        </p:sp>
      </p:grpSp>
      <p:sp>
        <p:nvSpPr>
          <p:cNvPr name="TextBox 6" id="6"/>
          <p:cNvSpPr txBox="true"/>
          <p:nvPr/>
        </p:nvSpPr>
        <p:spPr>
          <a:xfrm rot="0">
            <a:off x="1047159" y="3386880"/>
            <a:ext cx="9466364" cy="751732"/>
          </a:xfrm>
          <a:prstGeom prst="rect">
            <a:avLst/>
          </a:prstGeom>
        </p:spPr>
        <p:txBody>
          <a:bodyPr anchor="t" rtlCol="false" tIns="0" lIns="0" bIns="0" rIns="0">
            <a:spAutoFit/>
          </a:bodyPr>
          <a:lstStyle/>
          <a:p>
            <a:pPr algn="l">
              <a:lnSpc>
                <a:spcPts val="5500"/>
              </a:lnSpc>
            </a:pPr>
            <a:r>
              <a:rPr lang="en-US" sz="4375">
                <a:solidFill>
                  <a:srgbClr val="FFFFFF"/>
                </a:solidFill>
                <a:latin typeface="Arimo"/>
                <a:ea typeface="Arimo"/>
                <a:cs typeface="Arimo"/>
                <a:sym typeface="Arimo"/>
              </a:rPr>
              <a:t>Project Impact &amp; Next Steps</a:t>
            </a:r>
          </a:p>
        </p:txBody>
      </p:sp>
      <p:sp>
        <p:nvSpPr>
          <p:cNvPr name="TextBox 7" id="7"/>
          <p:cNvSpPr txBox="true"/>
          <p:nvPr/>
        </p:nvSpPr>
        <p:spPr>
          <a:xfrm rot="0">
            <a:off x="3595097" y="4848377"/>
            <a:ext cx="3520230" cy="478041"/>
          </a:xfrm>
          <a:prstGeom prst="rect">
            <a:avLst/>
          </a:prstGeom>
        </p:spPr>
        <p:txBody>
          <a:bodyPr anchor="t" rtlCol="false" tIns="0" lIns="0" bIns="0" rIns="0">
            <a:spAutoFit/>
          </a:bodyPr>
          <a:lstStyle/>
          <a:p>
            <a:pPr algn="l">
              <a:lnSpc>
                <a:spcPts val="3437"/>
              </a:lnSpc>
            </a:pPr>
            <a:r>
              <a:rPr lang="en-US" sz="2750">
                <a:solidFill>
                  <a:srgbClr val="FFFFFF"/>
                </a:solidFill>
                <a:latin typeface="Arimo"/>
                <a:ea typeface="Arimo"/>
                <a:cs typeface="Arimo"/>
                <a:sym typeface="Arimo"/>
              </a:rPr>
              <a:t>What We Built</a:t>
            </a:r>
          </a:p>
        </p:txBody>
      </p:sp>
      <p:sp>
        <p:nvSpPr>
          <p:cNvPr name="TextBox 8" id="8"/>
          <p:cNvSpPr txBox="true"/>
          <p:nvPr/>
        </p:nvSpPr>
        <p:spPr>
          <a:xfrm rot="0">
            <a:off x="3595097" y="5530301"/>
            <a:ext cx="13655126" cy="1052808"/>
          </a:xfrm>
          <a:prstGeom prst="rect">
            <a:avLst/>
          </a:prstGeom>
        </p:spPr>
        <p:txBody>
          <a:bodyPr anchor="t" rtlCol="false" tIns="0" lIns="0" bIns="0" rIns="0">
            <a:spAutoFit/>
          </a:bodyPr>
          <a:lstStyle/>
          <a:p>
            <a:pPr algn="l">
              <a:lnSpc>
                <a:spcPts val="3750"/>
              </a:lnSpc>
            </a:pPr>
            <a:r>
              <a:rPr lang="en-US" sz="2312">
                <a:solidFill>
                  <a:srgbClr val="CAD6DE"/>
                </a:solidFill>
                <a:latin typeface="Cabin"/>
                <a:ea typeface="Cabin"/>
                <a:cs typeface="Cabin"/>
                <a:sym typeface="Cabin"/>
              </a:rPr>
              <a:t>A production-ready system demonstrating modern full-stack architecture with AI/ML integration, processing images through three specialized microservices to deliver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DAG_Xh0_j_o</dc:identifier>
  <dcterms:modified xsi:type="dcterms:W3CDTF">2011-08-01T06:04:30Z</dcterms:modified>
  <cp:revision>1</cp:revision>
</cp:coreProperties>
</file>